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4"/>
  </p:sldMasterIdLst>
  <p:notesMasterIdLst>
    <p:notesMasterId r:id="rId45"/>
  </p:notesMasterIdLst>
  <p:handoutMasterIdLst>
    <p:handoutMasterId r:id="rId46"/>
  </p:handoutMasterIdLst>
  <p:sldIdLst>
    <p:sldId id="256" r:id="rId5"/>
    <p:sldId id="257" r:id="rId6"/>
    <p:sldId id="327" r:id="rId7"/>
    <p:sldId id="334" r:id="rId8"/>
    <p:sldId id="333" r:id="rId9"/>
    <p:sldId id="328" r:id="rId10"/>
    <p:sldId id="329" r:id="rId11"/>
    <p:sldId id="330" r:id="rId12"/>
    <p:sldId id="331" r:id="rId13"/>
    <p:sldId id="332" r:id="rId14"/>
    <p:sldId id="280" r:id="rId15"/>
    <p:sldId id="313" r:id="rId16"/>
    <p:sldId id="289" r:id="rId17"/>
    <p:sldId id="281" r:id="rId18"/>
    <p:sldId id="282" r:id="rId19"/>
    <p:sldId id="286" r:id="rId20"/>
    <p:sldId id="287" r:id="rId21"/>
    <p:sldId id="283" r:id="rId22"/>
    <p:sldId id="284" r:id="rId23"/>
    <p:sldId id="285" r:id="rId24"/>
    <p:sldId id="270" r:id="rId25"/>
    <p:sldId id="345" r:id="rId26"/>
    <p:sldId id="275" r:id="rId27"/>
    <p:sldId id="342" r:id="rId28"/>
    <p:sldId id="336" r:id="rId29"/>
    <p:sldId id="338" r:id="rId30"/>
    <p:sldId id="337" r:id="rId31"/>
    <p:sldId id="343" r:id="rId32"/>
    <p:sldId id="272" r:id="rId33"/>
    <p:sldId id="273" r:id="rId34"/>
    <p:sldId id="276" r:id="rId35"/>
    <p:sldId id="326" r:id="rId36"/>
    <p:sldId id="335" r:id="rId37"/>
    <p:sldId id="312" r:id="rId38"/>
    <p:sldId id="344" r:id="rId39"/>
    <p:sldId id="277" r:id="rId40"/>
    <p:sldId id="341" r:id="rId41"/>
    <p:sldId id="339" r:id="rId42"/>
    <p:sldId id="340" r:id="rId43"/>
    <p:sldId id="258" r:id="rId4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6138571-664C-4D21-94AF-9601BA7B8CFF}">
          <p14:sldIdLst>
            <p14:sldId id="256"/>
            <p14:sldId id="257"/>
            <p14:sldId id="327"/>
            <p14:sldId id="334"/>
            <p14:sldId id="333"/>
            <p14:sldId id="328"/>
            <p14:sldId id="329"/>
            <p14:sldId id="330"/>
            <p14:sldId id="331"/>
            <p14:sldId id="332"/>
            <p14:sldId id="280"/>
            <p14:sldId id="313"/>
            <p14:sldId id="289"/>
            <p14:sldId id="281"/>
            <p14:sldId id="282"/>
            <p14:sldId id="286"/>
            <p14:sldId id="287"/>
            <p14:sldId id="283"/>
            <p14:sldId id="284"/>
            <p14:sldId id="285"/>
            <p14:sldId id="270"/>
            <p14:sldId id="345"/>
            <p14:sldId id="275"/>
            <p14:sldId id="342"/>
            <p14:sldId id="336"/>
            <p14:sldId id="338"/>
            <p14:sldId id="337"/>
            <p14:sldId id="343"/>
            <p14:sldId id="272"/>
            <p14:sldId id="273"/>
            <p14:sldId id="276"/>
            <p14:sldId id="326"/>
            <p14:sldId id="335"/>
            <p14:sldId id="312"/>
            <p14:sldId id="344"/>
            <p14:sldId id="277"/>
            <p14:sldId id="341"/>
            <p14:sldId id="339"/>
            <p14:sldId id="340"/>
            <p14:sldId id="258"/>
          </p14:sldIdLst>
        </p14:section>
        <p14:section name="Additional Information" id="{8EADF896-4E20-4999-9B36-8DE6D01A8B2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31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7" autoAdjust="0"/>
    <p:restoredTop sz="93707" autoAdjust="0"/>
  </p:normalViewPr>
  <p:slideViewPr>
    <p:cSldViewPr snapToGrid="0">
      <p:cViewPr varScale="1">
        <p:scale>
          <a:sx n="62" d="100"/>
          <a:sy n="62" d="100"/>
        </p:scale>
        <p:origin x="908" y="36"/>
      </p:cViewPr>
      <p:guideLst>
        <p:guide orient="horz" pos="368"/>
        <p:guide pos="31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32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4523C-93D7-4A0A-BEC4-439D34CEA7AB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83A95-F53E-43F4-AFE2-F0A15597D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633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B0F79-B699-4208-89E2-0831E76A0867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5F891-54F7-42E3-8809-510150EA1D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98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9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31619" cy="8544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31619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33963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570"/>
            <a:ext cx="12185650" cy="6850859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36C54C-19CB-D1F1-0330-D6A8486F30E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2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642" y="1245600"/>
            <a:ext cx="10957361" cy="4932000"/>
          </a:xfrm>
        </p:spPr>
        <p:txBody>
          <a:bodyPr/>
          <a:lstStyle>
            <a:lvl1pPr marL="360000" indent="-360000">
              <a:buFont typeface="Wingdings" panose="05000000000000000000" pitchFamily="2" charset="2"/>
              <a:buChar char="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3"/>
            <a:r>
              <a:rPr lang="en-US" altLang="zh-TW" dirty="0"/>
              <a:t>Fourth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4"/>
            <a:r>
              <a:rPr lang="en-US" altLang="zh-TW" dirty="0"/>
              <a:t>Fifth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558E8124-8DB7-4956-9C91-68FF36F1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738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642" y="1593173"/>
            <a:ext cx="10957361" cy="4583790"/>
          </a:xfrm>
        </p:spPr>
        <p:txBody>
          <a:bodyPr/>
          <a:lstStyle>
            <a:lvl1pPr marL="360000" indent="-360000">
              <a:buFont typeface="Wingdings" panose="05000000000000000000" pitchFamily="2" charset="2"/>
              <a:buChar char="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3"/>
            <a:r>
              <a:rPr lang="en-US" altLang="zh-TW" dirty="0"/>
              <a:t>Fourth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4"/>
            <a:r>
              <a:rPr lang="en-US" altLang="zh-TW" dirty="0"/>
              <a:t>Fifth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9BA48E2-E83D-4D3A-A2D6-CE5BD1D01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185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Pag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9BA48E2-E83D-4D3A-A2D6-CE5BD1D01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958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01BE97-9A49-4992-9869-0324A3B22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879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il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664E3AD4-0485-4634-A217-22377C19C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81053" y="474785"/>
            <a:ext cx="363244" cy="668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281053" y="474785"/>
            <a:ext cx="363244" cy="668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17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398"/>
            <a:ext cx="12185649" cy="685720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58252" cy="854476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58252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24438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89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5650" cy="685720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58252" cy="854476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58252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24438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sp>
        <p:nvSpPr>
          <p:cNvPr id="12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16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666"/>
            <a:ext cx="12189631" cy="6856667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642" y="1245600"/>
            <a:ext cx="10957361" cy="49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3"/>
            <a:r>
              <a:rPr lang="en-US" altLang="zh-TW" dirty="0"/>
              <a:t>Fourth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4"/>
            <a:r>
              <a:rPr lang="en-US" altLang="zh-TW" dirty="0"/>
              <a:t>Fifth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0E5BEEE7-7DE1-4B64-90D6-23048016A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6012" y="6479326"/>
            <a:ext cx="2114648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TW" sz="700" b="0" dirty="0">
                <a:solidFill>
                  <a:schemeClr val="bg1"/>
                </a:solidFill>
              </a:rPr>
              <a:t>Copyright © 2026 Nuvoton Technology Corporation</a:t>
            </a:r>
            <a:endParaRPr lang="zh-TW" altLang="en-US" sz="7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41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Secur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3722BE-0F73-47FB-8E53-DED44C41822C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3" b="-93"/>
          <a:stretch/>
        </p:blipFill>
        <p:spPr>
          <a:xfrm>
            <a:off x="-2" y="0"/>
            <a:ext cx="12192001" cy="68580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67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I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3722BE-0F73-47FB-8E53-DED44C4182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0436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H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3722BE-0F73-47FB-8E53-DED44C4182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7981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Smart 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9350" y="0"/>
            <a:ext cx="7232650" cy="68580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066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4248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836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NuDeveloper Ecosystem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028716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NuDeveloper Ecosystem_B2_Section Divider slide_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907992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Developer Ecosystem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569DCAAA-3AB4-CA71-C3A4-C91D9791C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0109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Developer Ecosystem_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BA6B7701-0EC5-68F8-C155-9B65FE5C0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334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Developer Ecosystem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8103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5600"/>
            <a:ext cx="5328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245600"/>
            <a:ext cx="5328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BDE449A8-E4DC-4634-A199-6CF6A11D9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3019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593173"/>
            <a:ext cx="5328000" cy="45837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593172"/>
            <a:ext cx="5328000" cy="45837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B40520E4-0138-48EE-9AB4-E240298B8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3836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7642" y="1773718"/>
            <a:ext cx="5328000" cy="440324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773718"/>
            <a:ext cx="5328000" cy="440324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8DAF06-C3FA-44B7-89ED-D0B60B9764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7643" y="1234574"/>
            <a:ext cx="5328000" cy="514903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5FD14B-590A-4C0E-A141-086044AF96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7001" y="1234574"/>
            <a:ext cx="5328002" cy="514903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2BC82B3-96AB-467F-8272-268924870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3744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+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5600"/>
            <a:ext cx="5328000" cy="244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245600"/>
            <a:ext cx="5328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674D9F5-6ABB-419C-B3B1-B082E83A751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7642" y="3729600"/>
            <a:ext cx="5328000" cy="244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D4448000-C536-47E5-9FDD-DA874EDB6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7229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Narrow &amp;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5600"/>
            <a:ext cx="3760942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14369" y="1245600"/>
            <a:ext cx="7040634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2CAAF8C9-1115-4841-A234-2EA2CBC22BA8}"/>
              </a:ext>
            </a:extLst>
          </p:cNvPr>
          <p:cNvCxnSpPr/>
          <p:nvPr/>
        </p:nvCxnSpPr>
        <p:spPr>
          <a:xfrm>
            <a:off x="4436477" y="1245600"/>
            <a:ext cx="0" cy="4932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AD952F02-657D-4DB1-87AE-2B5CD1B63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26002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Wide &amp;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7642" y="1245600"/>
            <a:ext cx="7090943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7912" y="1245600"/>
            <a:ext cx="3637091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2CAAF8C9-1115-4841-A234-2EA2CBC22BA8}"/>
              </a:ext>
            </a:extLst>
          </p:cNvPr>
          <p:cNvCxnSpPr/>
          <p:nvPr/>
        </p:nvCxnSpPr>
        <p:spPr>
          <a:xfrm>
            <a:off x="7803249" y="1245600"/>
            <a:ext cx="0" cy="4932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97156610-B3A9-45EE-821E-E28613A76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8720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32F9ACB-66D7-4C30-A2E2-7C359B455C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7642" y="1245600"/>
            <a:ext cx="3420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B05D73E3-7AD3-4D7F-ADEC-F4CD4CC2C6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59578" y="1245600"/>
            <a:ext cx="3420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9" name="內容版面配置區 6">
            <a:extLst>
              <a:ext uri="{FF2B5EF4-FFF2-40B4-BE49-F238E27FC236}">
                <a16:creationId xmlns:a16="http://schemas.microsoft.com/office/drawing/2014/main" id="{F7B33BF8-2CD3-4C85-9760-4E5A3805C17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35003" y="1245600"/>
            <a:ext cx="3420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B0A62C31-8AFB-4D59-8233-972D505A1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3169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6290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246290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674D9F5-6ABB-419C-B3B1-B082E83A751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7642" y="3806921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707BD5B9-91F2-421E-A8E9-C6444AD5786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27003" y="3806921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22C62981-E64C-448C-80D5-29C05DCF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3080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32F9ACB-66D7-4C30-A2E2-7C359B455C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7642" y="1244933"/>
            <a:ext cx="2520000" cy="493202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</p:txBody>
      </p:sp>
      <p:sp>
        <p:nvSpPr>
          <p:cNvPr id="9" name="內容版面配置區 6">
            <a:extLst>
              <a:ext uri="{FF2B5EF4-FFF2-40B4-BE49-F238E27FC236}">
                <a16:creationId xmlns:a16="http://schemas.microsoft.com/office/drawing/2014/main" id="{F7B33BF8-2CD3-4C85-9760-4E5A3805C17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22550" y="1244907"/>
            <a:ext cx="2520000" cy="49313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2FA7D46A-803C-446B-AA11-836050D8F1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0096" y="1244907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0" name="圖片版面配置區 3">
            <a:extLst>
              <a:ext uri="{FF2B5EF4-FFF2-40B4-BE49-F238E27FC236}">
                <a16:creationId xmlns:a16="http://schemas.microsoft.com/office/drawing/2014/main" id="{CC42CAF4-103D-42E8-8CF6-B19EF1F88EB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10096" y="3734026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1" name="圖片版面配置區 3">
            <a:extLst>
              <a:ext uri="{FF2B5EF4-FFF2-40B4-BE49-F238E27FC236}">
                <a16:creationId xmlns:a16="http://schemas.microsoft.com/office/drawing/2014/main" id="{95406CC7-8CFF-4327-9DC7-19E3B2055FA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35003" y="1244907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2" name="圖片版面配置區 3">
            <a:extLst>
              <a:ext uri="{FF2B5EF4-FFF2-40B4-BE49-F238E27FC236}">
                <a16:creationId xmlns:a16="http://schemas.microsoft.com/office/drawing/2014/main" id="{03E3BC20-3791-49AA-845A-DDA6EF605E2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35003" y="3734026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8AAAA608-9EEC-48F2-9E8B-EC3AA6B58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5816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0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5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429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429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9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31619" cy="8544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31619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33963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570"/>
            <a:ext cx="12185650" cy="6850859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4882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Pag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9BA48E2-E83D-4D3A-A2D6-CE5BD1D01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966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1714"/>
            <a:ext cx="12188952" cy="6856286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D2440D-877F-44FA-AED5-6390A0F0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511142"/>
            <a:ext cx="10957361" cy="5149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4678F6-E637-40A5-AAC9-63D16BE7A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642" y="1245600"/>
            <a:ext cx="10957361" cy="493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  <a:p>
            <a:pPr lvl="3"/>
            <a:r>
              <a:rPr lang="en-US" altLang="zh-TW" dirty="0"/>
              <a:t>Fourth Level</a:t>
            </a:r>
            <a:endParaRPr lang="zh-TW" altLang="en-US" dirty="0"/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5BEEE7-7DE1-4B64-90D6-23048016A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28681" y="6419241"/>
            <a:ext cx="4310924" cy="3154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50" dirty="0"/>
              <a:t>NuDeveloper Ecosystem</a:t>
            </a:r>
            <a:r>
              <a:rPr lang="zh-TW" altLang="en-US" sz="1450" dirty="0"/>
              <a:t> </a:t>
            </a:r>
            <a:r>
              <a:rPr lang="en-US" altLang="zh-TW" sz="1450" dirty="0"/>
              <a:t>–</a:t>
            </a:r>
            <a:r>
              <a:rPr lang="zh-TW" altLang="en-US" sz="1450" dirty="0"/>
              <a:t> </a:t>
            </a:r>
            <a:r>
              <a:rPr lang="en-US" altLang="zh-TW" sz="1450" dirty="0"/>
              <a:t>Make</a:t>
            </a:r>
            <a:r>
              <a:rPr lang="zh-TW" altLang="en-US" sz="1450" dirty="0"/>
              <a:t> </a:t>
            </a:r>
            <a:r>
              <a:rPr lang="en-US" altLang="zh-TW" sz="1450" dirty="0"/>
              <a:t>engineers’ jobs easier.</a:t>
            </a:r>
            <a:endParaRPr lang="zh-TW" altLang="en-US" sz="1450" dirty="0"/>
          </a:p>
        </p:txBody>
      </p:sp>
      <p:sp>
        <p:nvSpPr>
          <p:cNvPr id="4" name="TextBox 3"/>
          <p:cNvSpPr txBox="1"/>
          <p:nvPr/>
        </p:nvSpPr>
        <p:spPr>
          <a:xfrm>
            <a:off x="496012" y="6479326"/>
            <a:ext cx="2114648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TW" sz="700" b="0" dirty="0"/>
              <a:t>Copyright © 2026 Nuvoton Technology Corporation</a:t>
            </a:r>
            <a:endParaRPr lang="zh-TW" altLang="en-US" sz="700" b="0" dirty="0"/>
          </a:p>
        </p:txBody>
      </p:sp>
    </p:spTree>
    <p:extLst>
      <p:ext uri="{BB962C8B-B14F-4D97-AF65-F5344CB8AC3E}">
        <p14:creationId xmlns:p14="http://schemas.microsoft.com/office/powerpoint/2010/main" val="188473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35" r:id="rId20"/>
    <p:sldLayoutId id="2147483836" r:id="rId21"/>
    <p:sldLayoutId id="2147483837" r:id="rId22"/>
    <p:sldLayoutId id="2147483838" r:id="rId23"/>
    <p:sldLayoutId id="2147483839" r:id="rId24"/>
    <p:sldLayoutId id="2147483840" r:id="rId25"/>
    <p:sldLayoutId id="2147483841" r:id="rId26"/>
    <p:sldLayoutId id="2147483842" r:id="rId27"/>
    <p:sldLayoutId id="2147483843" r:id="rId28"/>
    <p:sldLayoutId id="2147483844" r:id="rId29"/>
    <p:sldLayoutId id="2147483845" r:id="rId30"/>
    <p:sldLayoutId id="2147483846" r:id="rId31"/>
    <p:sldLayoutId id="2147483847" r:id="rId32"/>
    <p:sldLayoutId id="2147483782" r:id="rId33"/>
    <p:sldLayoutId id="2147483814" r:id="rId3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sz="2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新細明體" panose="02020500000000000000" pitchFamily="18" charset="-120"/>
        <a:buChar char="。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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44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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‒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.nuvoton.com/en/mcu-nudeveloper-ecosystem/bsp-example-code/14742" TargetMode="External"/><Relationship Id="rId2" Type="http://schemas.openxmlformats.org/officeDocument/2006/relationships/hyperlink" Target="https://github.com/OpenNuvoton/M55M1BSP/tree/master/SampleCode/MachineLearning/KeywordSpot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m-Examples/ML-zoo/tree/master/models/keyword_spotting/ds_cnn_medium/model_package_tf/model_archive/TFLite/tflite_int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Nuvoton/Nuvoton_Tools/blob/master/Documents/VSCode_ZephyrIDE.md" TargetMode="External"/><Relationship Id="rId2" Type="http://schemas.openxmlformats.org/officeDocument/2006/relationships/hyperlink" Target="https://docs.zephyrproject.org/latest/develop/getting_started/index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M55M1 NPU Keyword Spotting Inference on Zephyr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14905" y="3429000"/>
            <a:ext cx="6631619" cy="854476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514350" y="4572000"/>
            <a:ext cx="3506788" cy="443883"/>
          </a:xfrm>
        </p:spPr>
        <p:txBody>
          <a:bodyPr/>
          <a:lstStyle/>
          <a:p>
            <a:r>
              <a:rPr lang="en-US" altLang="zh-TW" dirty="0"/>
              <a:t>Chun-Chieh Li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1"/>
          </p:nvPr>
        </p:nvSpPr>
        <p:spPr>
          <a:xfrm>
            <a:off x="514350" y="5033963"/>
            <a:ext cx="3516313" cy="363537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101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Introduce this example code</a:t>
            </a:r>
          </a:p>
          <a:p>
            <a:r>
              <a:rPr lang="en-US" altLang="zh-TW" dirty="0"/>
              <a:t>Optimize model</a:t>
            </a:r>
          </a:p>
          <a:p>
            <a:r>
              <a:rPr lang="en-US" altLang="zh-TW" dirty="0"/>
              <a:t>Introduce Zephyr</a:t>
            </a:r>
          </a:p>
          <a:p>
            <a:r>
              <a:rPr lang="en-US" altLang="zh-TW" dirty="0"/>
              <a:t>Install development environment</a:t>
            </a:r>
          </a:p>
          <a:p>
            <a:r>
              <a:rPr lang="en-US" altLang="zh-TW" dirty="0"/>
              <a:t>Kernel configuration system (</a:t>
            </a:r>
            <a:r>
              <a:rPr lang="en-US" altLang="zh-TW" dirty="0" err="1"/>
              <a:t>Kconfig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Devicetree</a:t>
            </a: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425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77D569-4B3F-552C-E04C-F44794100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Application: Demo machine learning keyword spotting (</a:t>
            </a:r>
            <a:r>
              <a:rPr lang="zh-TW" altLang="en-US" dirty="0"/>
              <a:t>關鍵詞檢測</a:t>
            </a:r>
            <a:r>
              <a:rPr lang="en-US" altLang="zh-TW" dirty="0"/>
              <a:t>) </a:t>
            </a:r>
            <a:r>
              <a:rPr lang="en-US" dirty="0"/>
              <a:t>inference on Zephyr</a:t>
            </a:r>
          </a:p>
          <a:p>
            <a:r>
              <a:rPr lang="en-US" dirty="0"/>
              <a:t>MCU: M55M1</a:t>
            </a:r>
          </a:p>
          <a:p>
            <a:pPr lvl="1"/>
            <a:r>
              <a:rPr lang="en-US" dirty="0"/>
              <a:t>NPU</a:t>
            </a:r>
          </a:p>
          <a:p>
            <a:pPr lvl="1"/>
            <a:r>
              <a:rPr lang="en-US" dirty="0"/>
              <a:t>DMIC</a:t>
            </a:r>
          </a:p>
          <a:p>
            <a:r>
              <a:rPr lang="en-US" dirty="0"/>
              <a:t>OS: Zephyr</a:t>
            </a:r>
          </a:p>
          <a:p>
            <a:r>
              <a:rPr lang="en-US" dirty="0"/>
              <a:t>Board: NuMaker-X-M55M1D</a:t>
            </a:r>
          </a:p>
          <a:p>
            <a:r>
              <a:rPr lang="en-US" dirty="0"/>
              <a:t>M55M1 BSP </a:t>
            </a:r>
            <a:r>
              <a:rPr lang="en-US" dirty="0" err="1"/>
              <a:t>KeywordSpotting</a:t>
            </a:r>
            <a:r>
              <a:rPr lang="en-US" dirty="0"/>
              <a:t>:  </a:t>
            </a:r>
            <a:r>
              <a:rPr lang="en-US" dirty="0">
                <a:hlinkClick r:id="rId2"/>
              </a:rPr>
              <a:t>https://github.com/OpenNuvoton/M55M1BSP/tree/master/SampleCode/MachineLearning/KeywordSpotting</a:t>
            </a:r>
            <a:endParaRPr lang="en-US" dirty="0"/>
          </a:p>
          <a:p>
            <a:r>
              <a:rPr lang="en-US" dirty="0"/>
              <a:t>Download: </a:t>
            </a:r>
            <a:r>
              <a:rPr lang="en-US" dirty="0">
                <a:hlinkClick r:id="rId3"/>
              </a:rPr>
              <a:t>[M55M1] NPU Keyword Spotting Inference - MCU BSP &amp; Example Code | </a:t>
            </a:r>
            <a:r>
              <a:rPr lang="en-US" dirty="0" err="1">
                <a:hlinkClick r:id="rId3"/>
              </a:rPr>
              <a:t>Nuvoton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NuForum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955841-6110-BC80-968E-E95E6B30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220496-ECB1-C10D-4546-99D5DF66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example code</a:t>
            </a:r>
          </a:p>
        </p:txBody>
      </p:sp>
    </p:spTree>
    <p:extLst>
      <p:ext uri="{BB962C8B-B14F-4D97-AF65-F5344CB8AC3E}">
        <p14:creationId xmlns:p14="http://schemas.microsoft.com/office/powerpoint/2010/main" val="305868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D330D9-66D7-0B8A-517D-174028A17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105ED0-BDF7-EAA3-9D92-0AFA2FBE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flow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69C561-1BBB-EA9E-6FE4-79C0474E3FBC}"/>
              </a:ext>
            </a:extLst>
          </p:cNvPr>
          <p:cNvSpPr txBox="1"/>
          <p:nvPr/>
        </p:nvSpPr>
        <p:spPr>
          <a:xfrm>
            <a:off x="2172967" y="3902591"/>
            <a:ext cx="4248472" cy="25202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sz="2400" dirty="0"/>
              <a:t>Cortex-M CPU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497D56-3706-366A-857A-FDD3D315CC85}"/>
              </a:ext>
            </a:extLst>
          </p:cNvPr>
          <p:cNvSpPr txBox="1"/>
          <p:nvPr/>
        </p:nvSpPr>
        <p:spPr>
          <a:xfrm>
            <a:off x="2172967" y="1763584"/>
            <a:ext cx="4248472" cy="9868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sz="2400" dirty="0"/>
              <a:t>PC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BF820A-58FD-75C7-1F58-2AA77B9E5719}"/>
              </a:ext>
            </a:extLst>
          </p:cNvPr>
          <p:cNvSpPr txBox="1"/>
          <p:nvPr/>
        </p:nvSpPr>
        <p:spPr>
          <a:xfrm>
            <a:off x="2172967" y="1094279"/>
            <a:ext cx="42484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Trained and quantized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F0BD9B-B092-936E-9D53-A48CCB23FB68}"/>
              </a:ext>
            </a:extLst>
          </p:cNvPr>
          <p:cNvSpPr txBox="1"/>
          <p:nvPr/>
        </p:nvSpPr>
        <p:spPr>
          <a:xfrm>
            <a:off x="2244975" y="2216790"/>
            <a:ext cx="40951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Vela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8A4036-5457-8701-9B03-7E99421D13C1}"/>
              </a:ext>
            </a:extLst>
          </p:cNvPr>
          <p:cNvSpPr txBox="1"/>
          <p:nvPr/>
        </p:nvSpPr>
        <p:spPr>
          <a:xfrm>
            <a:off x="2172967" y="3110503"/>
            <a:ext cx="42484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Vela-compiled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868F45-FAD9-A21A-07A7-CC69C4B00CB4}"/>
              </a:ext>
            </a:extLst>
          </p:cNvPr>
          <p:cNvSpPr txBox="1"/>
          <p:nvPr/>
        </p:nvSpPr>
        <p:spPr>
          <a:xfrm>
            <a:off x="2388991" y="3978081"/>
            <a:ext cx="172819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 app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509F7F-47A9-489D-4F63-54D05FDDB55F}"/>
              </a:ext>
            </a:extLst>
          </p:cNvPr>
          <p:cNvSpPr txBox="1"/>
          <p:nvPr/>
        </p:nvSpPr>
        <p:spPr>
          <a:xfrm>
            <a:off x="2235713" y="4622671"/>
            <a:ext cx="4104456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TensorFlow Lite Micro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49468A-386A-04CC-1C28-1C3B1579D8C5}"/>
              </a:ext>
            </a:extLst>
          </p:cNvPr>
          <p:cNvSpPr txBox="1"/>
          <p:nvPr/>
        </p:nvSpPr>
        <p:spPr>
          <a:xfrm>
            <a:off x="5125295" y="5447858"/>
            <a:ext cx="1224136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Ethos-U driver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1DDFEC-D35B-125F-FBF4-18AF1F15380E}"/>
              </a:ext>
            </a:extLst>
          </p:cNvPr>
          <p:cNvSpPr txBox="1"/>
          <p:nvPr/>
        </p:nvSpPr>
        <p:spPr>
          <a:xfrm>
            <a:off x="3397103" y="5447858"/>
            <a:ext cx="165618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CMSIS-NN kernels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733A79-0399-B6F1-DCB3-102FE37AC801}"/>
              </a:ext>
            </a:extLst>
          </p:cNvPr>
          <p:cNvSpPr txBox="1"/>
          <p:nvPr/>
        </p:nvSpPr>
        <p:spPr>
          <a:xfrm>
            <a:off x="2244975" y="5450763"/>
            <a:ext cx="108012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Ref kernels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31B16A-A35D-9F4C-6FDD-6402E69C1357}"/>
              </a:ext>
            </a:extLst>
          </p:cNvPr>
          <p:cNvSpPr txBox="1"/>
          <p:nvPr/>
        </p:nvSpPr>
        <p:spPr>
          <a:xfrm>
            <a:off x="7861599" y="2750463"/>
            <a:ext cx="288032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Command stream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A3AE6-45EF-D4CB-A492-4C253013F8DC}"/>
              </a:ext>
            </a:extLst>
          </p:cNvPr>
          <p:cNvSpPr txBox="1"/>
          <p:nvPr/>
        </p:nvSpPr>
        <p:spPr>
          <a:xfrm>
            <a:off x="6565455" y="3902591"/>
            <a:ext cx="4248472" cy="734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sz="2400" dirty="0"/>
              <a:t>Ethos-U NPU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31A91D9-CFD3-FF64-4B0C-F967E88E6F04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3964465" y="1884052"/>
            <a:ext cx="660846" cy="4631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63893B9-93AA-76D3-FC2E-ECC868793461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rot="16200000" flipH="1">
            <a:off x="4078863" y="2892163"/>
            <a:ext cx="432048" cy="4631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F86D7C3-5805-AD69-6BF7-74E8F2AE0DDF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5400000">
            <a:off x="3767321" y="4092788"/>
            <a:ext cx="1050503" cy="9262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CF58938-C03B-BE7F-9ECC-2FBCA830CDC7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 flipV="1">
            <a:off x="6349431" y="2981296"/>
            <a:ext cx="1512168" cy="2882061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C8B28AE-29DD-9756-C7CE-D5295BA3072E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rot="5400000">
            <a:off x="8650494" y="3251325"/>
            <a:ext cx="690463" cy="612068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4053234-FC27-E3A5-30F3-F8D809427D22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719361" y="5126727"/>
            <a:ext cx="0" cy="320040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09C3682-DF54-D048-F747-696C72349F70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2785035" y="5126727"/>
            <a:ext cx="36004" cy="324036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1CB282-36E9-1568-2269-821D6AA567A1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4225195" y="5159826"/>
            <a:ext cx="0" cy="320040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709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50DF8-D146-BD40-FB6B-C89BD3C8B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3AC75D-7190-838C-0189-853287DB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structure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0B7315-68C0-9D71-14BE-628875590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778295"/>
              </p:ext>
            </p:extLst>
          </p:nvPr>
        </p:nvGraphicFramePr>
        <p:xfrm>
          <a:off x="264155" y="1245870"/>
          <a:ext cx="11460074" cy="5379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7806">
                  <a:extLst>
                    <a:ext uri="{9D8B030D-6E8A-4147-A177-3AD203B41FA5}">
                      <a16:colId xmlns:a16="http://schemas.microsoft.com/office/drawing/2014/main" val="2711682175"/>
                    </a:ext>
                  </a:extLst>
                </a:gridCol>
                <a:gridCol w="6102268">
                  <a:extLst>
                    <a:ext uri="{9D8B030D-6E8A-4147-A177-3AD203B41FA5}">
                      <a16:colId xmlns:a16="http://schemas.microsoft.com/office/drawing/2014/main" val="2094966634"/>
                    </a:ext>
                  </a:extLst>
                </a:gridCol>
              </a:tblGrid>
              <a:tr h="421200">
                <a:tc>
                  <a:txBody>
                    <a:bodyPr/>
                    <a:lstStyle/>
                    <a:p>
                      <a:pPr marL="342900" marR="0" lvl="0" indent="-3429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 dirty="0" err="1">
                          <a:effectLst/>
                        </a:rPr>
                        <a:t>zephyrproject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754376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342900" marR="0" lvl="0" indent="-3429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 dirty="0">
                          <a:effectLst/>
                        </a:rPr>
                        <a:t>EC_M55M1_Zephyr_ML_KWS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168981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342900" marR="0" lvl="0" indent="-3429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Library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endParaRPr lang="en-US" sz="2400" dirty="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1319070"/>
                  </a:ext>
                </a:extLst>
              </a:tr>
              <a:tr h="629395">
                <a:tc>
                  <a:txBody>
                    <a:bodyPr/>
                    <a:lstStyle/>
                    <a:p>
                      <a:pPr marL="742950" marR="0" lvl="1" indent="-28575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StdDriver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Zephyr build system files to pull in lacking peripheral driver header and source files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319768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342900" marR="0" lvl="0" indent="-3429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SampleCode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9182678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742950" marR="0" lvl="1" indent="-28575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ExampleCode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820430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1143000" marR="0" lvl="2" indent="-2286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"/>
                      </a:pPr>
                      <a:r>
                        <a:rPr lang="en-US" sz="2400">
                          <a:effectLst/>
                        </a:rPr>
                        <a:t>Zephyr_ML_KWS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Source files of example code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516535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342900" marR="0" lvl="0" indent="-3429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ThirdParty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6055514"/>
                  </a:ext>
                </a:extLst>
              </a:tr>
              <a:tr h="629395">
                <a:tc>
                  <a:txBody>
                    <a:bodyPr/>
                    <a:lstStyle/>
                    <a:p>
                      <a:pPr marL="742950" marR="0" lvl="1" indent="-28575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ml-embedded-evaluation-kit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Inference preprocessing/postprocessing </a:t>
                      </a:r>
                      <a:br>
                        <a:rPr lang="en-US" sz="2400">
                          <a:effectLst/>
                        </a:rPr>
                      </a:br>
                      <a:r>
                        <a:rPr lang="en-US" sz="2400">
                          <a:effectLst/>
                        </a:rPr>
                        <a:t>header and source files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0841759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342900" marR="0" lvl="0" indent="-342900" algn="l" fontAlgn="auto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Char char=""/>
                      </a:pPr>
                      <a:r>
                        <a:rPr lang="en-US" sz="2400">
                          <a:effectLst/>
                        </a:rPr>
                        <a:t>zephyr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955" marR="0" algn="l" fontAlgn="auto" hangingPunct="1">
                        <a:spcBef>
                          <a:spcPts val="240"/>
                        </a:spcBef>
                        <a:spcAft>
                          <a:spcPts val="24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Zephyr module YAML file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113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598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6FC673-770D-F119-4266-4C9D57058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77E2E3-6412-6A3B-6066-63AD937C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control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3DD65-E86B-0A5A-584B-CDB9EA6A578F}"/>
              </a:ext>
            </a:extLst>
          </p:cNvPr>
          <p:cNvSpPr txBox="1"/>
          <p:nvPr/>
        </p:nvSpPr>
        <p:spPr>
          <a:xfrm>
            <a:off x="3038214" y="2312305"/>
            <a:ext cx="402747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Record audio clip via DMIC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D7D31-2612-3E31-710B-C32901D509C8}"/>
              </a:ext>
            </a:extLst>
          </p:cNvPr>
          <p:cNvSpPr txBox="1"/>
          <p:nvPr/>
        </p:nvSpPr>
        <p:spPr>
          <a:xfrm>
            <a:off x="1421626" y="3191339"/>
            <a:ext cx="7224443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Preprocess recorded audio (MFCC) clip to specified input tensor format for inference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75D07-8AE3-7DE2-6725-081CD03EBD36}"/>
              </a:ext>
            </a:extLst>
          </p:cNvPr>
          <p:cNvSpPr txBox="1"/>
          <p:nvPr/>
        </p:nvSpPr>
        <p:spPr>
          <a:xfrm>
            <a:off x="2000895" y="4449785"/>
            <a:ext cx="609771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Run keyword spotting inference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436960-5439-C2D6-A490-8A07387F3620}"/>
              </a:ext>
            </a:extLst>
          </p:cNvPr>
          <p:cNvSpPr txBox="1"/>
          <p:nvPr/>
        </p:nvSpPr>
        <p:spPr>
          <a:xfrm>
            <a:off x="1651575" y="5342818"/>
            <a:ext cx="680406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Postprocess output tensor format usable by external applications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1A7CB9D-83EF-B094-E2DD-966987ABF342}"/>
              </a:ext>
            </a:extLst>
          </p:cNvPr>
          <p:cNvSpPr/>
          <p:nvPr/>
        </p:nvSpPr>
        <p:spPr>
          <a:xfrm>
            <a:off x="4798045" y="4968163"/>
            <a:ext cx="548640" cy="3657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141E869-323C-41E1-C250-C49FCE45E104}"/>
              </a:ext>
            </a:extLst>
          </p:cNvPr>
          <p:cNvSpPr/>
          <p:nvPr/>
        </p:nvSpPr>
        <p:spPr>
          <a:xfrm>
            <a:off x="4775783" y="2821851"/>
            <a:ext cx="548640" cy="3657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D83F92B-8235-24AB-550D-0DF3A5AD140E}"/>
              </a:ext>
            </a:extLst>
          </p:cNvPr>
          <p:cNvSpPr/>
          <p:nvPr/>
        </p:nvSpPr>
        <p:spPr>
          <a:xfrm>
            <a:off x="4775783" y="4072112"/>
            <a:ext cx="548640" cy="3657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A2AE92B3-1419-4AE6-A52A-4DBDDE62964C}"/>
              </a:ext>
            </a:extLst>
          </p:cNvPr>
          <p:cNvSpPr/>
          <p:nvPr/>
        </p:nvSpPr>
        <p:spPr>
          <a:xfrm rot="16200000">
            <a:off x="-857763" y="3580420"/>
            <a:ext cx="3507028" cy="1051753"/>
          </a:xfrm>
          <a:prstGeom prst="uturnArrow">
            <a:avLst>
              <a:gd name="adj1" fmla="val 25000"/>
              <a:gd name="adj2" fmla="val 25000"/>
              <a:gd name="adj3" fmla="val 11583"/>
              <a:gd name="adj4" fmla="val 43750"/>
              <a:gd name="adj5" fmla="val 6939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11B80-2430-ECF0-93D6-B4F62CA78D77}"/>
              </a:ext>
            </a:extLst>
          </p:cNvPr>
          <p:cNvSpPr txBox="1"/>
          <p:nvPr/>
        </p:nvSpPr>
        <p:spPr>
          <a:xfrm>
            <a:off x="2407943" y="1412693"/>
            <a:ext cx="526685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Initialize platform, drivers, TFLM, etc.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022EF6B-7383-D732-587D-4A1E174BA656}"/>
              </a:ext>
            </a:extLst>
          </p:cNvPr>
          <p:cNvSpPr/>
          <p:nvPr/>
        </p:nvSpPr>
        <p:spPr>
          <a:xfrm>
            <a:off x="4774073" y="1926287"/>
            <a:ext cx="548640" cy="3657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7CC01-41C1-71E2-B42A-402FB47CE8C6}"/>
              </a:ext>
            </a:extLst>
          </p:cNvPr>
          <p:cNvSpPr txBox="1"/>
          <p:nvPr/>
        </p:nvSpPr>
        <p:spPr>
          <a:xfrm>
            <a:off x="7548079" y="1729160"/>
            <a:ext cx="420213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Zephyr: MPU, UART, GPIO, NPU</a:t>
            </a:r>
          </a:p>
          <a:p>
            <a:pPr algn="just"/>
            <a:r>
              <a:rPr lang="en-US" sz="2400" dirty="0"/>
              <a:t>Non-OS: DMIC</a:t>
            </a:r>
          </a:p>
        </p:txBody>
      </p:sp>
    </p:spTree>
    <p:extLst>
      <p:ext uri="{BB962C8B-B14F-4D97-AF65-F5344CB8AC3E}">
        <p14:creationId xmlns:p14="http://schemas.microsoft.com/office/powerpoint/2010/main" val="1902467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A41C31-6B24-2298-E69F-1C27A9C8C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320729" cy="18880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Host terminal program: 115200/8-N-1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Type ‘</a:t>
            </a:r>
            <a:r>
              <a:rPr lang="en-US" dirty="0" err="1"/>
              <a:t>kws</a:t>
            </a:r>
            <a:r>
              <a:rPr lang="en-US" dirty="0"/>
              <a:t> resume’</a:t>
            </a:r>
          </a:p>
          <a:p>
            <a:pPr lvl="1"/>
            <a:r>
              <a:rPr lang="en-US" dirty="0"/>
              <a:t>Speak trained keyword like ‘Go’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3584D0-0F89-8129-945A-F53D31791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C10C3A-4318-B472-6519-2646EE60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FCE91-E657-91B4-034A-87E10ADE4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685" y="3580681"/>
            <a:ext cx="7315576" cy="1847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215934-B2A7-FF7B-2EBB-B497C01C5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375" y="4760918"/>
            <a:ext cx="7315576" cy="15050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CB0B07-74DA-C278-D321-F94347A670D7}"/>
              </a:ext>
            </a:extLst>
          </p:cNvPr>
          <p:cNvSpPr txBox="1"/>
          <p:nvPr/>
        </p:nvSpPr>
        <p:spPr>
          <a:xfrm>
            <a:off x="5387893" y="1854765"/>
            <a:ext cx="6651708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nl-NL" sz="2400" b="1" dirty="0"/>
              <a:t>EC_M55M1_Zephyr_ML_KWS/SampleCode/ExampleCode/Zephyr_ML_KWS/src/Model/Labels.cpp</a:t>
            </a:r>
          </a:p>
          <a:p>
            <a:pPr algn="just"/>
            <a:r>
              <a:rPr lang="en-US" sz="2400" dirty="0"/>
              <a:t>"yes", "no", "up", "down", "left", "right", "on", "off", "stop", "go",</a:t>
            </a:r>
          </a:p>
        </p:txBody>
      </p:sp>
    </p:spTree>
    <p:extLst>
      <p:ext uri="{BB962C8B-B14F-4D97-AF65-F5344CB8AC3E}">
        <p14:creationId xmlns:p14="http://schemas.microsoft.com/office/powerpoint/2010/main" val="328177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F5FAF-9496-736C-C7BE-2A882AB8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DS-CNN Medium INT8 model</a:t>
            </a:r>
          </a:p>
          <a:p>
            <a:pPr lvl="1"/>
            <a:r>
              <a:rPr lang="it-IT" dirty="0"/>
              <a:t>Original model: ds_cnn_m_quantized.tflite</a:t>
            </a:r>
          </a:p>
          <a:p>
            <a:pPr lvl="1"/>
            <a:r>
              <a:rPr lang="en-US" dirty="0">
                <a:hlinkClick r:id="rId2"/>
              </a:rPr>
              <a:t>https://github.com/Arm-Examples/ML-zoo/tree/master/models/keyword_spotting/ds_cnn_medium/model_package_tf/model_archive/TFLite/tflite_int8</a:t>
            </a:r>
            <a:endParaRPr lang="en-US" dirty="0"/>
          </a:p>
          <a:p>
            <a:r>
              <a:rPr lang="en-US" dirty="0"/>
              <a:t>Optimize using Vela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vela </a:t>
            </a:r>
            <a:r>
              <a:rPr lang="en-US" dirty="0" err="1">
                <a:highlight>
                  <a:srgbClr val="FFFF00"/>
                </a:highlight>
              </a:rPr>
              <a:t>ds_cnn_m_quantized.tflite</a:t>
            </a:r>
            <a:r>
              <a:rPr lang="en-US" dirty="0">
                <a:highlight>
                  <a:srgbClr val="FFFF00"/>
                </a:highlight>
              </a:rPr>
              <a:t> --output-</a:t>
            </a:r>
            <a:r>
              <a:rPr lang="en-US" dirty="0" err="1">
                <a:highlight>
                  <a:srgbClr val="FFFF00"/>
                </a:highlight>
              </a:rPr>
              <a:t>dir</a:t>
            </a:r>
            <a:r>
              <a:rPr lang="en-US" dirty="0">
                <a:highlight>
                  <a:srgbClr val="FFFF00"/>
                </a:highlight>
              </a:rPr>
              <a:t> . --accelerator-config ethos-u55-256 --</a:t>
            </a:r>
            <a:r>
              <a:rPr lang="en-US" dirty="0" err="1">
                <a:highlight>
                  <a:srgbClr val="FFFF00"/>
                </a:highlight>
              </a:rPr>
              <a:t>optimise</a:t>
            </a:r>
            <a:r>
              <a:rPr lang="en-US" dirty="0">
                <a:highlight>
                  <a:srgbClr val="FFFF00"/>
                </a:highlight>
              </a:rPr>
              <a:t> Performance</a:t>
            </a:r>
          </a:p>
          <a:p>
            <a:pPr lvl="1"/>
            <a:r>
              <a:rPr lang="en-US" dirty="0"/>
              <a:t>Optimized model: </a:t>
            </a:r>
            <a:r>
              <a:rPr lang="en-US" dirty="0" err="1"/>
              <a:t>ds_cnn_m_quantized_vela.tflite</a:t>
            </a:r>
            <a:endParaRPr lang="en-US" dirty="0"/>
          </a:p>
          <a:p>
            <a:pPr lvl="1"/>
            <a:r>
              <a:rPr lang="en-US" dirty="0"/>
              <a:t>Bit-accurate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3D792-9D1A-BAF8-95E2-D87B1ACEA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D097FD-FDF6-E713-3C8E-E00C6B76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the model (1/3)</a:t>
            </a:r>
          </a:p>
        </p:txBody>
      </p:sp>
    </p:spTree>
    <p:extLst>
      <p:ext uri="{BB962C8B-B14F-4D97-AF65-F5344CB8AC3E}">
        <p14:creationId xmlns:p14="http://schemas.microsoft.com/office/powerpoint/2010/main" val="321424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B5C15-8AD4-C69C-D8D3-1D66A761A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4F26F-42EB-7A62-4519-231352F06A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017" y="1263724"/>
            <a:ext cx="391478" cy="4652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5E9525-5527-4D26-045B-C0196FE4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580" y="1093066"/>
            <a:ext cx="1897380" cy="496062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C66254A-725F-4063-46AD-AAA9923CC6D4}"/>
              </a:ext>
            </a:extLst>
          </p:cNvPr>
          <p:cNvSpPr/>
          <p:nvPr/>
        </p:nvSpPr>
        <p:spPr>
          <a:xfrm>
            <a:off x="4356245" y="3051423"/>
            <a:ext cx="1664413" cy="1253447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22BEEF8-5BAB-1875-36AD-B4DABBAB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511200"/>
            <a:ext cx="10957361" cy="514903"/>
          </a:xfrm>
        </p:spPr>
        <p:txBody>
          <a:bodyPr/>
          <a:lstStyle/>
          <a:p>
            <a:r>
              <a:rPr lang="en-US" dirty="0"/>
              <a:t>Optimize the model (2/3)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8875D-87AF-2B2A-229F-AF7FC821E284}"/>
              </a:ext>
            </a:extLst>
          </p:cNvPr>
          <p:cNvSpPr txBox="1"/>
          <p:nvPr/>
        </p:nvSpPr>
        <p:spPr>
          <a:xfrm>
            <a:off x="4144520" y="5307073"/>
            <a:ext cx="2765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Netron</a:t>
            </a:r>
            <a:endParaRPr lang="en-US" sz="2400" b="1" dirty="0"/>
          </a:p>
          <a:p>
            <a:r>
              <a:rPr lang="en-US" sz="2400" dirty="0"/>
              <a:t>https://netron.app/</a:t>
            </a:r>
          </a:p>
        </p:txBody>
      </p:sp>
    </p:spTree>
    <p:extLst>
      <p:ext uri="{BB962C8B-B14F-4D97-AF65-F5344CB8AC3E}">
        <p14:creationId xmlns:p14="http://schemas.microsoft.com/office/powerpoint/2010/main" val="1008818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4737F-747E-767C-8A35-1B4E35B34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Match Ethos-U NPU config among:</a:t>
            </a:r>
          </a:p>
          <a:p>
            <a:pPr lvl="1"/>
            <a:r>
              <a:rPr lang="en-US" dirty="0"/>
              <a:t>Ethos-U RTL config: For M55M1, Ethos-U55, 256 </a:t>
            </a:r>
            <a:r>
              <a:rPr lang="en-US" dirty="0" err="1"/>
              <a:t>macs_per_cycle</a:t>
            </a:r>
            <a:endParaRPr lang="en-US" dirty="0"/>
          </a:p>
          <a:p>
            <a:pPr lvl="1"/>
            <a:r>
              <a:rPr lang="en-US" dirty="0"/>
              <a:t>Vela command line: </a:t>
            </a:r>
            <a:r>
              <a:rPr lang="en-US" dirty="0">
                <a:highlight>
                  <a:srgbClr val="FFFF00"/>
                </a:highlight>
              </a:rPr>
              <a:t>--accelerator-config ethos-u55-256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Ethos-U core driver config (ETHOSU_TARGET_NPU_CONFIG): "ethos-u55-256"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5731-A9AA-E6ED-145D-85352D1CE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B7CB-6BA3-9AC8-98A6-F8974F37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the model (3/3)</a:t>
            </a:r>
          </a:p>
        </p:txBody>
      </p:sp>
    </p:spTree>
    <p:extLst>
      <p:ext uri="{BB962C8B-B14F-4D97-AF65-F5344CB8AC3E}">
        <p14:creationId xmlns:p14="http://schemas.microsoft.com/office/powerpoint/2010/main" val="2763004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3ACC88-0124-6ADF-1EB6-A363395F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Open-source RTOS</a:t>
            </a:r>
          </a:p>
          <a:p>
            <a:pPr lvl="1"/>
            <a:r>
              <a:rPr lang="en-US" dirty="0"/>
              <a:t>Target connected, resource-constrained, and embedded system</a:t>
            </a:r>
          </a:p>
          <a:p>
            <a:r>
              <a:rPr lang="en-US" dirty="0"/>
              <a:t>License: Apache 2.0 license</a:t>
            </a:r>
          </a:p>
          <a:p>
            <a:r>
              <a:rPr lang="en-US" dirty="0"/>
              <a:t>Support architecture: </a:t>
            </a:r>
            <a:r>
              <a:rPr lang="pt-BR" dirty="0"/>
              <a:t>Arm Cortex-M, R, A, Intel x86, RISC-V, ARC, and Xtensa</a:t>
            </a:r>
            <a:endParaRPr lang="en-US" dirty="0"/>
          </a:p>
          <a:p>
            <a:r>
              <a:rPr lang="en-US" dirty="0"/>
              <a:t>Support language: C/C++</a:t>
            </a:r>
          </a:p>
          <a:p>
            <a:r>
              <a:rPr lang="en-US" dirty="0"/>
              <a:t>Support toolchain: Cross GCC for Cortex-M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35F7B-3867-81C2-4FE8-3EBC77657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986AE0-7D1D-8F67-30A3-89021BB0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Zephyr (1/3)</a:t>
            </a:r>
          </a:p>
        </p:txBody>
      </p:sp>
    </p:spTree>
    <p:extLst>
      <p:ext uri="{BB962C8B-B14F-4D97-AF65-F5344CB8AC3E}">
        <p14:creationId xmlns:p14="http://schemas.microsoft.com/office/powerpoint/2010/main" val="2216330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6BA0-D381-DFEB-2D1A-0D90941F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EEF40-CDF7-82BB-3171-2261B7B1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 system: </a:t>
            </a:r>
            <a:r>
              <a:rPr lang="en-US" dirty="0" err="1"/>
              <a:t>CMake</a:t>
            </a:r>
            <a:r>
              <a:rPr lang="en-US" dirty="0"/>
              <a:t>-based (</a:t>
            </a:r>
            <a:r>
              <a:rPr lang="en-US" dirty="0" err="1"/>
              <a:t>CMake</a:t>
            </a:r>
            <a:r>
              <a:rPr lang="en-US" dirty="0"/>
              <a:t> + Ninja)</a:t>
            </a:r>
          </a:p>
          <a:p>
            <a:r>
              <a:rPr lang="en-US" dirty="0"/>
              <a:t>Configuration system: </a:t>
            </a:r>
            <a:r>
              <a:rPr lang="en-US" dirty="0" err="1"/>
              <a:t>Kconfig</a:t>
            </a:r>
            <a:r>
              <a:rPr lang="en-US" dirty="0"/>
              <a:t> and </a:t>
            </a:r>
            <a:r>
              <a:rPr lang="en-US" dirty="0" err="1"/>
              <a:t>Devicetree</a:t>
            </a:r>
            <a:endParaRPr lang="en-US" dirty="0"/>
          </a:p>
          <a:p>
            <a:pPr lvl="1"/>
            <a:r>
              <a:rPr lang="en-US" dirty="0"/>
              <a:t>Inherited from Linux kernel but re-implemented in Python for portability to non-Unix OS</a:t>
            </a:r>
          </a:p>
          <a:p>
            <a:r>
              <a:rPr lang="en-US" dirty="0"/>
              <a:t>West tool, a versatile meta-tool for</a:t>
            </a:r>
          </a:p>
          <a:p>
            <a:pPr lvl="1"/>
            <a:r>
              <a:rPr lang="en-US" dirty="0"/>
              <a:t>Managing external projects (Git repositories)</a:t>
            </a:r>
          </a:p>
          <a:p>
            <a:pPr lvl="1"/>
            <a:r>
              <a:rPr lang="en-US" dirty="0"/>
              <a:t>Building projects</a:t>
            </a:r>
          </a:p>
          <a:p>
            <a:pPr lvl="1"/>
            <a:r>
              <a:rPr lang="en-US" dirty="0"/>
              <a:t>Flashing hardware (</a:t>
            </a:r>
            <a:r>
              <a:rPr lang="en-US" dirty="0" err="1"/>
              <a:t>pyOCD</a:t>
            </a:r>
            <a:r>
              <a:rPr lang="en-US" dirty="0"/>
              <a:t> or </a:t>
            </a:r>
            <a:r>
              <a:rPr lang="en-US" dirty="0" err="1"/>
              <a:t>OpenOCD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A211F-1F45-51D2-F376-633CE87D7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06EA4C-173A-3CFB-A00F-1093E77A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Zephyr (2/3)</a:t>
            </a:r>
          </a:p>
        </p:txBody>
      </p:sp>
    </p:spTree>
    <p:extLst>
      <p:ext uri="{BB962C8B-B14F-4D97-AF65-F5344CB8AC3E}">
        <p14:creationId xmlns:p14="http://schemas.microsoft.com/office/powerpoint/2010/main" val="128779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83D3-24E0-075E-BD0E-83DB7857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05948D-74B9-68B5-AE61-F19CE4C1D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development environment</a:t>
            </a:r>
          </a:p>
          <a:p>
            <a:pPr lvl="1"/>
            <a:r>
              <a:rPr lang="en-US" dirty="0"/>
              <a:t>CLI</a:t>
            </a:r>
          </a:p>
          <a:p>
            <a:pPr lvl="2"/>
            <a:r>
              <a:rPr lang="en-US" dirty="0">
                <a:hlinkClick r:id="rId2"/>
              </a:rPr>
              <a:t>https://docs.zephyrproject.org/latest/develop/getting_started/index.html</a:t>
            </a:r>
            <a:endParaRPr lang="en-US" dirty="0"/>
          </a:p>
          <a:p>
            <a:pPr lvl="1"/>
            <a:r>
              <a:rPr lang="en-US" dirty="0"/>
              <a:t>VS Code</a:t>
            </a:r>
          </a:p>
          <a:p>
            <a:pPr lvl="2"/>
            <a:r>
              <a:rPr lang="en-US" dirty="0">
                <a:hlinkClick r:id="rId3"/>
              </a:rPr>
              <a:t>https://github.com/OpenNuvoton/Nuvoton_Tools/blob/master/Documents/VSCode_ZephyrIDE.md</a:t>
            </a:r>
            <a:endParaRPr lang="en-US" dirty="0"/>
          </a:p>
          <a:p>
            <a:r>
              <a:rPr lang="en-US" dirty="0"/>
              <a:t>Host environment</a:t>
            </a:r>
          </a:p>
          <a:p>
            <a:pPr lvl="1"/>
            <a:r>
              <a:rPr lang="en-US" dirty="0"/>
              <a:t>Can develop on Windows, Linux, and macOS</a:t>
            </a:r>
          </a:p>
          <a:p>
            <a:pPr lvl="1"/>
            <a:r>
              <a:rPr lang="en-US" dirty="0"/>
              <a:t>Git Bash for Windows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DE784-D9A6-C17B-5028-13E6B049C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17822F-249F-7830-3BDD-05731199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Zephyr (3/3)</a:t>
            </a:r>
          </a:p>
        </p:txBody>
      </p:sp>
    </p:spTree>
    <p:extLst>
      <p:ext uri="{BB962C8B-B14F-4D97-AF65-F5344CB8AC3E}">
        <p14:creationId xmlns:p14="http://schemas.microsoft.com/office/powerpoint/2010/main" val="1037882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843D6E-B382-3FD2-2FA5-483BB2A52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(3.10)</a:t>
            </a:r>
          </a:p>
          <a:p>
            <a:pPr lvl="1"/>
            <a:r>
              <a:rPr lang="en-US" dirty="0"/>
              <a:t>Add into PATH</a:t>
            </a:r>
          </a:p>
          <a:p>
            <a:r>
              <a:rPr lang="en-US" dirty="0"/>
              <a:t>Git</a:t>
            </a:r>
          </a:p>
          <a:p>
            <a:pPr lvl="1"/>
            <a:r>
              <a:rPr lang="en-US" dirty="0"/>
              <a:t>Add into PATH</a:t>
            </a:r>
          </a:p>
          <a:p>
            <a:pPr lvl="1"/>
            <a:r>
              <a:rPr lang="en-US" dirty="0"/>
              <a:t>Git Bash as CLI</a:t>
            </a:r>
          </a:p>
          <a:p>
            <a:r>
              <a:rPr lang="en-US" dirty="0" err="1"/>
              <a:t>CMake</a:t>
            </a:r>
            <a:r>
              <a:rPr lang="en-US" dirty="0"/>
              <a:t> (3.20.5) &amp; Ninja</a:t>
            </a:r>
          </a:p>
          <a:p>
            <a:pPr lvl="1"/>
            <a:r>
              <a:rPr lang="en-US" dirty="0"/>
              <a:t>Add into PATH</a:t>
            </a:r>
          </a:p>
          <a:p>
            <a:r>
              <a:rPr lang="en-US" dirty="0"/>
              <a:t>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</a:t>
            </a:r>
            <a:r>
              <a:rPr lang="en-US" dirty="0" err="1">
                <a:highlight>
                  <a:srgbClr val="FFFF00"/>
                </a:highlight>
              </a:rPr>
              <a:t>mkdir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$ python -m 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/.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$ source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/.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r>
              <a:rPr lang="en-US" dirty="0">
                <a:highlight>
                  <a:srgbClr val="FFFF00"/>
                </a:highlight>
              </a:rPr>
              <a:t>/Scripts/activate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F0C381-25AF-16CA-8C3A-DE9E2ADCB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0A4EC-BA19-AD0F-A891-CAE24B51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 (1/6)</a:t>
            </a:r>
          </a:p>
        </p:txBody>
      </p:sp>
    </p:spTree>
    <p:extLst>
      <p:ext uri="{BB962C8B-B14F-4D97-AF65-F5344CB8AC3E}">
        <p14:creationId xmlns:p14="http://schemas.microsoft.com/office/powerpoint/2010/main" val="1397454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679FA9-BF1E-3799-68D7-15343032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West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pip install --upgrade west</a:t>
            </a:r>
          </a:p>
          <a:p>
            <a:r>
              <a:rPr lang="en-US" dirty="0"/>
              <a:t>Example code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unzip -d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 EC_M55M1_Zephyr_ML_KWS_V1.00.zip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mv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/EC_M55M1_Zephyr_ML_KWS_V1.00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/EC_M55M1_Zephyr_ML_KWS</a:t>
            </a:r>
          </a:p>
          <a:p>
            <a:r>
              <a:rPr lang="en-US" dirty="0"/>
              <a:t>West workspace ‘</a:t>
            </a:r>
            <a:r>
              <a:rPr lang="en-US" dirty="0" err="1"/>
              <a:t>zephyrproject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Manifest repository: EC_M55M1_Zephyr_ML_KWS/</a:t>
            </a:r>
            <a:r>
              <a:rPr lang="en-US" dirty="0" err="1"/>
              <a:t>west.yml</a:t>
            </a:r>
            <a:r>
              <a:rPr lang="en-US" dirty="0"/>
              <a:t> vs. zephyr/</a:t>
            </a:r>
            <a:r>
              <a:rPr lang="en-US" dirty="0" err="1"/>
              <a:t>west.yml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$ cd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</a:t>
            </a:r>
            <a:r>
              <a:rPr lang="en-US" dirty="0" err="1">
                <a:highlight>
                  <a:srgbClr val="FFFF00"/>
                </a:highlight>
              </a:rPr>
              <a:t>init</a:t>
            </a:r>
            <a:r>
              <a:rPr lang="en-US" dirty="0">
                <a:highlight>
                  <a:srgbClr val="FFFF00"/>
                </a:highlight>
              </a:rPr>
              <a:t> --local EC_M55M1_Zephyr_ML_KWS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F32A7-198A-6642-E0E9-D0BC4C040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75DA4E-5B5C-A59B-76F6-7640D8BA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 (2/6)</a:t>
            </a:r>
          </a:p>
        </p:txBody>
      </p:sp>
    </p:spTree>
    <p:extLst>
      <p:ext uri="{BB962C8B-B14F-4D97-AF65-F5344CB8AC3E}">
        <p14:creationId xmlns:p14="http://schemas.microsoft.com/office/powerpoint/2010/main" val="2583048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61FF-C1A4-8BDC-2F20-7220D505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E49D27-4ACF-5577-54CA-8316D36F8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218467"/>
          </a:xfrm>
        </p:spPr>
        <p:txBody>
          <a:bodyPr>
            <a:normAutofit/>
          </a:bodyPr>
          <a:lstStyle/>
          <a:p>
            <a:r>
              <a:rPr lang="en-US" dirty="0"/>
              <a:t>Pull in external dependencies (EC_M55M1_Zephyr_ML_KWS/</a:t>
            </a:r>
            <a:r>
              <a:rPr lang="en-US" dirty="0" err="1"/>
              <a:t>west.yml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update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F58BB-DA6A-3E65-9F42-62880F7B5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3ACEBA-C958-5666-3CCB-FFD4AC56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 (3/6)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2C09B-AD62-F268-BA17-3E87E722D087}"/>
              </a:ext>
            </a:extLst>
          </p:cNvPr>
          <p:cNvSpPr txBox="1"/>
          <p:nvPr/>
        </p:nvSpPr>
        <p:spPr>
          <a:xfrm>
            <a:off x="369871" y="2464067"/>
            <a:ext cx="4288756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</a:t>
            </a:r>
          </a:p>
          <a:p>
            <a:r>
              <a:rPr lang="en-US" sz="2400" dirty="0"/>
              <a:t>|-- EC_M55M1_Zephyr_ML_KWS</a:t>
            </a:r>
          </a:p>
          <a:p>
            <a:r>
              <a:rPr lang="en-US" sz="2400" dirty="0"/>
              <a:t>|-- modules</a:t>
            </a:r>
          </a:p>
          <a:p>
            <a:r>
              <a:rPr lang="en-US" sz="2400" dirty="0"/>
              <a:t>|-- optional</a:t>
            </a:r>
          </a:p>
          <a:p>
            <a:r>
              <a:rPr lang="en-US" sz="2400" dirty="0"/>
              <a:t>`-- zephyr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2670E-0546-149F-3B34-F548E12052A8}"/>
              </a:ext>
            </a:extLst>
          </p:cNvPr>
          <p:cNvSpPr txBox="1"/>
          <p:nvPr/>
        </p:nvSpPr>
        <p:spPr>
          <a:xfrm>
            <a:off x="4888029" y="2464067"/>
            <a:ext cx="3274193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/modules/</a:t>
            </a:r>
          </a:p>
          <a:p>
            <a:r>
              <a:rPr lang="en-US" sz="2400" dirty="0"/>
              <a:t>|-- </a:t>
            </a:r>
            <a:r>
              <a:rPr lang="en-US" sz="2400" dirty="0" err="1"/>
              <a:t>hal</a:t>
            </a:r>
            <a:endParaRPr lang="en-US" sz="2400" dirty="0"/>
          </a:p>
          <a:p>
            <a:r>
              <a:rPr lang="en-US" sz="2400" dirty="0"/>
              <a:t>|   |-- cmsis_6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ethos_u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nuvoton</a:t>
            </a:r>
            <a:endParaRPr lang="en-US" sz="2400" dirty="0"/>
          </a:p>
          <a:p>
            <a:r>
              <a:rPr lang="en-US" sz="2400" dirty="0"/>
              <a:t>`-- lib</a:t>
            </a:r>
          </a:p>
          <a:p>
            <a:r>
              <a:rPr lang="en-US" sz="2400" dirty="0"/>
              <a:t>    |-- </a:t>
            </a:r>
            <a:r>
              <a:rPr lang="en-US" sz="2400" dirty="0" err="1"/>
              <a:t>cmsis</a:t>
            </a:r>
            <a:r>
              <a:rPr lang="en-US" sz="2400" dirty="0"/>
              <a:t>-dsp</a:t>
            </a:r>
          </a:p>
          <a:p>
            <a:r>
              <a:rPr lang="en-US" sz="2400" dirty="0"/>
              <a:t>    `-- </a:t>
            </a:r>
            <a:r>
              <a:rPr lang="en-US" sz="2400" dirty="0" err="1"/>
              <a:t>cmsis-nn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9C55A-029D-5067-C376-0A04605041CE}"/>
              </a:ext>
            </a:extLst>
          </p:cNvPr>
          <p:cNvSpPr txBox="1"/>
          <p:nvPr/>
        </p:nvSpPr>
        <p:spPr>
          <a:xfrm>
            <a:off x="8280810" y="2464067"/>
            <a:ext cx="3274193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/optional/</a:t>
            </a:r>
          </a:p>
          <a:p>
            <a:r>
              <a:rPr lang="en-US" sz="2400" dirty="0"/>
              <a:t>`-- modules</a:t>
            </a:r>
          </a:p>
          <a:p>
            <a:r>
              <a:rPr lang="en-US" sz="2400" dirty="0"/>
              <a:t>    `-- lib</a:t>
            </a:r>
          </a:p>
          <a:p>
            <a:r>
              <a:rPr lang="en-US" sz="2400" dirty="0"/>
              <a:t>        `-- </a:t>
            </a:r>
            <a:r>
              <a:rPr lang="en-US" sz="2400" dirty="0" err="1"/>
              <a:t>tflite</a:t>
            </a:r>
            <a:r>
              <a:rPr lang="en-US" sz="2400" dirty="0"/>
              <a:t>-micro</a:t>
            </a:r>
          </a:p>
        </p:txBody>
      </p:sp>
    </p:spTree>
    <p:extLst>
      <p:ext uri="{BB962C8B-B14F-4D97-AF65-F5344CB8AC3E}">
        <p14:creationId xmlns:p14="http://schemas.microsoft.com/office/powerpoint/2010/main" val="392705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7959-AE88-11F7-BF62-51CED96C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F3373-6D52-4043-98C4-DED18900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218467"/>
          </a:xfrm>
        </p:spPr>
        <p:txBody>
          <a:bodyPr>
            <a:normAutofit/>
          </a:bodyPr>
          <a:lstStyle/>
          <a:p>
            <a:r>
              <a:rPr lang="en-US" dirty="0"/>
              <a:t>Pull in external dependencies (zephyr/</a:t>
            </a:r>
            <a:r>
              <a:rPr lang="en-US" dirty="0" err="1"/>
              <a:t>west.yml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update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438AE-4840-4A7D-FFC4-62DD14EB5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4A6140-C0F9-C3B6-E9C8-503F8CFF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 (4/6)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A442A-95E1-951B-0EC8-D4A4DB5B8ED8}"/>
              </a:ext>
            </a:extLst>
          </p:cNvPr>
          <p:cNvSpPr txBox="1"/>
          <p:nvPr/>
        </p:nvSpPr>
        <p:spPr>
          <a:xfrm>
            <a:off x="952902" y="2464067"/>
            <a:ext cx="3426594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/modules/</a:t>
            </a:r>
          </a:p>
          <a:p>
            <a:r>
              <a:rPr lang="en-US" sz="2400" dirty="0"/>
              <a:t>|-- </a:t>
            </a:r>
            <a:r>
              <a:rPr lang="en-US" sz="2400" dirty="0" err="1"/>
              <a:t>bsim_hw_models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nrf_hw_models</a:t>
            </a:r>
            <a:endParaRPr lang="en-US" sz="2400" dirty="0"/>
          </a:p>
          <a:p>
            <a:r>
              <a:rPr lang="en-US" sz="2400" dirty="0"/>
              <a:t>|-- crypto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mbedtls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tinycrypt</a:t>
            </a:r>
            <a:endParaRPr lang="en-US" sz="2400" dirty="0"/>
          </a:p>
          <a:p>
            <a:r>
              <a:rPr lang="en-US" sz="2400" dirty="0"/>
              <a:t>|-- debug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mipi</a:t>
            </a:r>
            <a:r>
              <a:rPr lang="en-US" sz="2400" dirty="0"/>
              <a:t>-sys-t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percepio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segger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17F9E-4C99-6754-BCC1-06470BD48F99}"/>
              </a:ext>
            </a:extLst>
          </p:cNvPr>
          <p:cNvSpPr txBox="1"/>
          <p:nvPr/>
        </p:nvSpPr>
        <p:spPr>
          <a:xfrm>
            <a:off x="4836696" y="2464067"/>
            <a:ext cx="277368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|-- fs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fatfs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littlefs</a:t>
            </a:r>
            <a:endParaRPr lang="en-US" sz="2400" dirty="0"/>
          </a:p>
          <a:p>
            <a:r>
              <a:rPr lang="en-US" sz="2400" dirty="0"/>
              <a:t>|-- </a:t>
            </a:r>
            <a:r>
              <a:rPr lang="en-US" sz="2400" dirty="0" err="1"/>
              <a:t>hal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adi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afbr</a:t>
            </a:r>
            <a:endParaRPr lang="en-US" sz="2400" dirty="0"/>
          </a:p>
          <a:p>
            <a:r>
              <a:rPr lang="en-US" sz="2400" dirty="0"/>
              <a:t>|   |-- altera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ambiq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atmel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bouffalolab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D519F-4849-BAF6-80BA-531B99DC7456}"/>
              </a:ext>
            </a:extLst>
          </p:cNvPr>
          <p:cNvSpPr txBox="1"/>
          <p:nvPr/>
        </p:nvSpPr>
        <p:spPr>
          <a:xfrm>
            <a:off x="8781322" y="2464067"/>
            <a:ext cx="277368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|   |-- </a:t>
            </a:r>
            <a:r>
              <a:rPr lang="en-US" sz="2400" dirty="0" err="1"/>
              <a:t>cmsis</a:t>
            </a:r>
            <a:endParaRPr lang="en-US" sz="2400" dirty="0"/>
          </a:p>
          <a:p>
            <a:r>
              <a:rPr lang="en-US" sz="2400" dirty="0"/>
              <a:t>|   |-- cmsis_6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espressif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ethos_u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gigadevice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infineon</a:t>
            </a:r>
            <a:endParaRPr lang="en-US" sz="2400" dirty="0"/>
          </a:p>
          <a:p>
            <a:r>
              <a:rPr lang="en-US" sz="2400" dirty="0"/>
              <a:t>|   |-- intel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libmetal</a:t>
            </a:r>
            <a:endParaRPr lang="en-US" sz="2400" dirty="0"/>
          </a:p>
          <a:p>
            <a:r>
              <a:rPr lang="en-US" sz="2400" dirty="0"/>
              <a:t>|   |-- microchip</a:t>
            </a:r>
          </a:p>
        </p:txBody>
      </p:sp>
    </p:spTree>
    <p:extLst>
      <p:ext uri="{BB962C8B-B14F-4D97-AF65-F5344CB8AC3E}">
        <p14:creationId xmlns:p14="http://schemas.microsoft.com/office/powerpoint/2010/main" val="3677913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135EA9-E90E-4DA8-4E1C-F39D470C2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dependencies, including </a:t>
            </a:r>
            <a:r>
              <a:rPr lang="en-US" dirty="0" err="1"/>
              <a:t>pyOCD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packages pip –install</a:t>
            </a:r>
          </a:p>
          <a:p>
            <a:r>
              <a:rPr lang="en-US" dirty="0"/>
              <a:t>Zephyr SDK toolchain</a:t>
            </a:r>
          </a:p>
          <a:p>
            <a:pPr lvl="1"/>
            <a:r>
              <a:rPr lang="en-US" dirty="0"/>
              <a:t>arm-zephyr-</a:t>
            </a:r>
            <a:r>
              <a:rPr lang="en-US" dirty="0" err="1"/>
              <a:t>eabi</a:t>
            </a:r>
            <a:r>
              <a:rPr lang="en-US" dirty="0"/>
              <a:t> vs. arm-none-</a:t>
            </a:r>
            <a:r>
              <a:rPr lang="en-US" dirty="0" err="1"/>
              <a:t>eabi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</a:t>
            </a:r>
            <a:r>
              <a:rPr lang="en-US" dirty="0" err="1">
                <a:highlight>
                  <a:srgbClr val="FFFF00"/>
                </a:highlight>
              </a:rPr>
              <a:t>sdk</a:t>
            </a:r>
            <a:r>
              <a:rPr lang="en-US" dirty="0">
                <a:highlight>
                  <a:srgbClr val="FFFF00"/>
                </a:highlight>
              </a:rPr>
              <a:t> install --install-base toolchains --toolchains arm-zephyr-</a:t>
            </a:r>
            <a:r>
              <a:rPr lang="en-US" dirty="0" err="1">
                <a:highlight>
                  <a:srgbClr val="FFFF00"/>
                </a:highlight>
              </a:rPr>
              <a:t>eabi</a:t>
            </a:r>
            <a:r>
              <a:rPr lang="en-US" dirty="0">
                <a:highlight>
                  <a:srgbClr val="FFFF00"/>
                </a:highlight>
              </a:rPr>
              <a:t> --no-</a:t>
            </a:r>
            <a:r>
              <a:rPr lang="en-US" dirty="0" err="1">
                <a:highlight>
                  <a:srgbClr val="FFFF00"/>
                </a:highlight>
              </a:rPr>
              <a:t>hosttools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Support </a:t>
            </a:r>
            <a:r>
              <a:rPr lang="en-US" dirty="0" err="1"/>
              <a:t>pyOCD</a:t>
            </a:r>
            <a:r>
              <a:rPr lang="en-US" dirty="0"/>
              <a:t> flash for M55M1</a:t>
            </a:r>
          </a:p>
          <a:p>
            <a:pPr lvl="1"/>
            <a:r>
              <a:rPr lang="en-US" dirty="0"/>
              <a:t>Download Nuvoton.NuMicroM55_DFP.x.y.z.pack</a:t>
            </a:r>
          </a:p>
          <a:p>
            <a:pPr lvl="1"/>
            <a:r>
              <a:rPr lang="en-US" dirty="0"/>
              <a:t>Create </a:t>
            </a:r>
            <a:r>
              <a:rPr lang="en-US" dirty="0" err="1"/>
              <a:t>zephyrproject</a:t>
            </a:r>
            <a:r>
              <a:rPr lang="en-US" dirty="0"/>
              <a:t>/</a:t>
            </a:r>
            <a:r>
              <a:rPr lang="en-US" dirty="0" err="1"/>
              <a:t>pyocd.yaml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49C7C-4975-90E2-9B49-6E33547E5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698AF0-F5D8-7A62-FB10-762DF894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 (5/6)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CB365-270B-5C26-7851-00FDF7AD4026}"/>
              </a:ext>
            </a:extLst>
          </p:cNvPr>
          <p:cNvSpPr txBox="1"/>
          <p:nvPr/>
        </p:nvSpPr>
        <p:spPr>
          <a:xfrm>
            <a:off x="1678004" y="5398650"/>
            <a:ext cx="8120514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hangingPunct="0"/>
            <a:r>
              <a:rPr lang="en-US" sz="2000" dirty="0"/>
              <a:t>pack:</a:t>
            </a:r>
          </a:p>
          <a:p>
            <a:pPr hangingPunct="0"/>
            <a:r>
              <a:rPr lang="en-US" sz="2000" dirty="0"/>
              <a:t>  - C:\Users\&lt;USER&gt;\Downloads\Nuvoton.NuMicroM55_DFP.&lt;x.y.z&gt;.pack</a:t>
            </a:r>
          </a:p>
        </p:txBody>
      </p:sp>
    </p:spTree>
    <p:extLst>
      <p:ext uri="{BB962C8B-B14F-4D97-AF65-F5344CB8AC3E}">
        <p14:creationId xmlns:p14="http://schemas.microsoft.com/office/powerpoint/2010/main" val="2440752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9C11D6-2654-D72E-A018-F52CD1CA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Vela compiler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pip install --upgrade ethos-u-vela</a:t>
            </a:r>
          </a:p>
          <a:p>
            <a:r>
              <a:rPr lang="en-US" dirty="0"/>
              <a:t>Exit 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deactivate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CED358-2FB2-6749-5F39-BE2E1DD20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2AB658-D7E9-6B6E-FEE1-DF0F22EE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 (6/6)</a:t>
            </a:r>
          </a:p>
        </p:txBody>
      </p:sp>
    </p:spTree>
    <p:extLst>
      <p:ext uri="{BB962C8B-B14F-4D97-AF65-F5344CB8AC3E}">
        <p14:creationId xmlns:p14="http://schemas.microsoft.com/office/powerpoint/2010/main" val="3975298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B8AC0F-4E70-C521-BECC-DF2D93AF2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Enter 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source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/.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r>
              <a:rPr lang="en-US" dirty="0">
                <a:highlight>
                  <a:srgbClr val="FFFF00"/>
                </a:highlight>
              </a:rPr>
              <a:t>/Scripts/activate</a:t>
            </a:r>
          </a:p>
          <a:p>
            <a:r>
              <a:rPr lang="en-US" dirty="0"/>
              <a:t>Enter West workspace ‘</a:t>
            </a:r>
            <a:r>
              <a:rPr lang="en-US" dirty="0" err="1"/>
              <a:t>zephyrproject</a:t>
            </a:r>
            <a:r>
              <a:rPr lang="en-US" dirty="0"/>
              <a:t>’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cd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Compile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-v build -b numaker_m55m1 EC_M55M1_Zephyr_ML_KWS/</a:t>
            </a:r>
            <a:r>
              <a:rPr lang="en-US" dirty="0" err="1">
                <a:highlight>
                  <a:srgbClr val="FFFF00"/>
                </a:highlight>
              </a:rPr>
              <a:t>SampleCode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ExampleCode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Zephyr_ML_KWS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Flash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flash</a:t>
            </a:r>
          </a:p>
          <a:p>
            <a:r>
              <a:rPr lang="en-US" dirty="0"/>
              <a:t>Exit 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deactivate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E449E-707E-5760-746F-E6B7A9538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DA4DE8-F30B-C06F-581E-58CF8BD9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this example code</a:t>
            </a:r>
          </a:p>
        </p:txBody>
      </p:sp>
    </p:spTree>
    <p:extLst>
      <p:ext uri="{BB962C8B-B14F-4D97-AF65-F5344CB8AC3E}">
        <p14:creationId xmlns:p14="http://schemas.microsoft.com/office/powerpoint/2010/main" val="421107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88DBB-F4B8-D124-E99D-AB044B6D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F546FDD-3D90-23C6-D9F6-A0469D98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599"/>
            <a:ext cx="10957361" cy="4949717"/>
          </a:xfrm>
        </p:spPr>
        <p:txBody>
          <a:bodyPr>
            <a:normAutofit/>
          </a:bodyPr>
          <a:lstStyle/>
          <a:p>
            <a:r>
              <a:rPr lang="en-US" altLang="zh-TW" dirty="0"/>
              <a:t>Purpose: Allow to enable, disable, and parameterize software components, drivers, and OS features without having to change any source code</a:t>
            </a:r>
          </a:p>
          <a:p>
            <a:pPr lvl="1"/>
            <a:r>
              <a:rPr lang="en-US" altLang="zh-TW" dirty="0"/>
              <a:t>Can tailor </a:t>
            </a:r>
            <a:r>
              <a:rPr lang="en-US" altLang="zh-TW" dirty="0" err="1"/>
              <a:t>CMake</a:t>
            </a:r>
            <a:r>
              <a:rPr lang="en-US" altLang="zh-TW" dirty="0"/>
              <a:t> files, C/C++ files, linker script files</a:t>
            </a:r>
          </a:p>
          <a:p>
            <a:r>
              <a:rPr lang="en-US" altLang="zh-TW" dirty="0"/>
              <a:t>Constituent files</a:t>
            </a:r>
          </a:p>
          <a:p>
            <a:pPr lvl="1"/>
            <a:r>
              <a:rPr lang="en-US" altLang="zh-TW" dirty="0" err="1"/>
              <a:t>Kconfig</a:t>
            </a:r>
            <a:r>
              <a:rPr lang="en-US" altLang="zh-TW" dirty="0"/>
              <a:t>* files: Define configuration options (</a:t>
            </a:r>
            <a:r>
              <a:rPr lang="en-US" altLang="zh-TW" dirty="0" err="1"/>
              <a:t>Kconfig</a:t>
            </a:r>
            <a:r>
              <a:rPr lang="en-US" altLang="zh-TW" dirty="0"/>
              <a:t> symbols)</a:t>
            </a:r>
          </a:p>
          <a:p>
            <a:pPr lvl="1"/>
            <a:r>
              <a:rPr lang="en-US" altLang="zh-TW" dirty="0"/>
              <a:t>*.conf files: Set configuration values (</a:t>
            </a:r>
            <a:r>
              <a:rPr lang="en-US" altLang="zh-TW" dirty="0" err="1"/>
              <a:t>Kconfig</a:t>
            </a:r>
            <a:r>
              <a:rPr lang="en-US" altLang="zh-TW" dirty="0"/>
              <a:t> fragments)</a:t>
            </a:r>
          </a:p>
          <a:p>
            <a:pPr lvl="1"/>
            <a:r>
              <a:rPr lang="en-US" altLang="zh-TW" dirty="0"/>
              <a:t>.config file: Generated merged configuration file</a:t>
            </a:r>
          </a:p>
          <a:p>
            <a:pPr lvl="1"/>
            <a:r>
              <a:rPr lang="en-US" altLang="zh-TW" dirty="0" err="1"/>
              <a:t>autoconf.h</a:t>
            </a:r>
            <a:r>
              <a:rPr lang="en-US" altLang="zh-TW" dirty="0"/>
              <a:t>: Generated C macro file per above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B1B458-0DB4-D556-6669-A37524593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6C82ACA7-DD1D-403B-A404-0EB6F7C9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Kernal configuration system (</a:t>
            </a:r>
            <a:r>
              <a:rPr lang="en-US" altLang="zh-TW" dirty="0" err="1"/>
              <a:t>Kconfig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5035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424F-9D81-30E8-D3A3-84A623A8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F71E35C-1CBB-8A2C-1F28-F24EDBD66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4" y="1245599"/>
            <a:ext cx="5093294" cy="1582307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 search</a:t>
            </a:r>
          </a:p>
          <a:p>
            <a:pPr lvl="1"/>
            <a:r>
              <a:rPr lang="en-US" altLang="zh-TW" dirty="0"/>
              <a:t>https://docs.zephyrproject.org/latest/kconfig.html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AC14DB-FAED-A2D1-5598-93EE4F17F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E67380DA-3C13-AF51-60CD-D2EAC6A7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Search</a:t>
            </a:r>
            <a:endParaRPr lang="zh-TW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6F83D-D0D5-7C66-1E23-C50C373CE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97" y="2731652"/>
            <a:ext cx="7366379" cy="3416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F9EBD5-3804-EF5B-12E4-433763F5D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294" y="1026103"/>
            <a:ext cx="5721644" cy="3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4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89C6-6FA8-8F28-7BEE-EB0BF86E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C30484-AB15-2BE8-5A47-60DDEBAE7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158553"/>
          </a:xfrm>
        </p:spPr>
        <p:txBody>
          <a:bodyPr>
            <a:normAutofit/>
          </a:bodyPr>
          <a:lstStyle/>
          <a:p>
            <a:r>
              <a:rPr lang="en-US" altLang="zh-TW" dirty="0"/>
              <a:t>Generated combined configuration file</a:t>
            </a:r>
          </a:p>
          <a:p>
            <a:pPr lvl="1"/>
            <a:r>
              <a:rPr lang="en-US" altLang="zh-TW" dirty="0"/>
              <a:t>build/zephyr/.config</a:t>
            </a:r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552AAB5-68BC-A5E4-DF0E-B1F5651F8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DE307E7E-8572-8D51-9CF6-D1F5FFB7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Generated merged files (1/2)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58D56-8582-CB7E-96EC-0273304DB17E}"/>
              </a:ext>
            </a:extLst>
          </p:cNvPr>
          <p:cNvSpPr txBox="1"/>
          <p:nvPr/>
        </p:nvSpPr>
        <p:spPr>
          <a:xfrm>
            <a:off x="864769" y="2363056"/>
            <a:ext cx="9775608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build/zephyr/.config</a:t>
            </a:r>
          </a:p>
          <a:p>
            <a:r>
              <a:rPr lang="en-US" sz="2000" dirty="0"/>
              <a:t>CONFIG_NVT_ML_REQUIRES_ETHOS_U=y</a:t>
            </a:r>
          </a:p>
          <a:p>
            <a:r>
              <a:rPr lang="en-US" sz="2000" dirty="0"/>
              <a:t>CONFIG_NVT_ML_TFLM_TENSOR_ARENA_SIZE=280000</a:t>
            </a:r>
          </a:p>
          <a:p>
            <a:r>
              <a:rPr lang="en-US" sz="2000" dirty="0"/>
              <a:t>CONFIG_NVT_ML_KWS_INPUT_DMIC=y</a:t>
            </a:r>
          </a:p>
          <a:p>
            <a:r>
              <a:rPr lang="en-US" sz="2000" dirty="0"/>
              <a:t># CONFIG_NVT_ML_KWS_INPUT_WAVE_BLOB is not set</a:t>
            </a:r>
          </a:p>
          <a:p>
            <a:r>
              <a:rPr lang="en-US" sz="2000" dirty="0"/>
              <a:t>CONFIG_NVT_ML_REQUIRES_KWS_MODEL_DS_CNN_M_QUANTIZED=y</a:t>
            </a:r>
          </a:p>
          <a:p>
            <a:r>
              <a:rPr lang="en-US" sz="2000" dirty="0"/>
              <a:t>CONFIG_NVT_ML_KWS_MODEL_DS_CNN_M_QUANTIZED_ETHOS_U55_256_SPEED=y</a:t>
            </a:r>
          </a:p>
          <a:p>
            <a:r>
              <a:rPr lang="en-US" sz="2000" dirty="0"/>
              <a:t># CONFIG_INPUT is not set</a:t>
            </a:r>
          </a:p>
          <a:p>
            <a:r>
              <a:rPr lang="en-US" sz="2000" dirty="0"/>
              <a:t># CONFIG_WIFI is not set</a:t>
            </a:r>
          </a:p>
          <a:p>
            <a:r>
              <a:rPr lang="en-US" sz="2000" dirty="0"/>
              <a:t># CONFIG_REGULATOR is not set</a:t>
            </a:r>
          </a:p>
          <a:p>
            <a:r>
              <a:rPr lang="en-US" sz="2000" dirty="0"/>
              <a:t>CONFIG_SYSTEM_WORKQUEUE_STACK_SIZE=1024</a:t>
            </a:r>
          </a:p>
          <a:p>
            <a:r>
              <a:rPr lang="en-US" sz="2000" dirty="0"/>
              <a:t>CONFIG_MAIN_STACK_SIZE=4096</a:t>
            </a:r>
          </a:p>
        </p:txBody>
      </p:sp>
    </p:spTree>
    <p:extLst>
      <p:ext uri="{BB962C8B-B14F-4D97-AF65-F5344CB8AC3E}">
        <p14:creationId xmlns:p14="http://schemas.microsoft.com/office/powerpoint/2010/main" val="1719909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20D6-760B-D487-E80D-1E2BC4B4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B4841EC-D3D9-CDB7-878A-4303D8E1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620890"/>
          </a:xfrm>
        </p:spPr>
        <p:txBody>
          <a:bodyPr>
            <a:normAutofit/>
          </a:bodyPr>
          <a:lstStyle/>
          <a:p>
            <a:r>
              <a:rPr lang="en-US" altLang="zh-TW" dirty="0"/>
              <a:t>Generated C header file</a:t>
            </a:r>
          </a:p>
          <a:p>
            <a:pPr lvl="1"/>
            <a:r>
              <a:rPr lang="en-US" altLang="zh-TW" dirty="0"/>
              <a:t>build/zephyr/include/generated/zephyr/</a:t>
            </a:r>
            <a:r>
              <a:rPr lang="en-US" altLang="zh-TW" dirty="0" err="1"/>
              <a:t>autoconf.h</a:t>
            </a:r>
            <a:endParaRPr lang="en-US" altLang="zh-TW" dirty="0"/>
          </a:p>
          <a:p>
            <a:pPr lvl="1"/>
            <a:r>
              <a:rPr lang="en-US" altLang="zh-TW" dirty="0"/>
              <a:t>Auto-included via ‘-</a:t>
            </a:r>
            <a:r>
              <a:rPr lang="en-US" altLang="zh-TW" dirty="0" err="1"/>
              <a:t>imacros</a:t>
            </a:r>
            <a:r>
              <a:rPr lang="en-US" altLang="zh-TW" dirty="0"/>
              <a:t> </a:t>
            </a:r>
            <a:r>
              <a:rPr lang="en-US" altLang="zh-TW" dirty="0" err="1"/>
              <a:t>autoconf.h</a:t>
            </a:r>
            <a:r>
              <a:rPr lang="en-US" altLang="zh-TW" dirty="0"/>
              <a:t>’</a:t>
            </a:r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790DED-8B2F-F7B4-6DFF-652A6EFE9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ADF3BC48-A138-D9A4-2444-EA2C9571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Generated merged files (2/2)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B2CA8-671E-838F-1B51-F5022B86B6E8}"/>
              </a:ext>
            </a:extLst>
          </p:cNvPr>
          <p:cNvSpPr txBox="1"/>
          <p:nvPr/>
        </p:nvSpPr>
        <p:spPr>
          <a:xfrm>
            <a:off x="967511" y="3006038"/>
            <a:ext cx="10693658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build/zephyr/include/generated/zephyr/</a:t>
            </a:r>
            <a:r>
              <a:rPr lang="en-US" sz="2000" b="1" dirty="0" err="1"/>
              <a:t>autoconf.h</a:t>
            </a:r>
            <a:endParaRPr lang="en-US" sz="2000" b="1" dirty="0"/>
          </a:p>
          <a:p>
            <a:r>
              <a:rPr lang="en-US" sz="2000" dirty="0"/>
              <a:t>#define CONFIG_NVT_ML_REQUIRES_ETHOS_U 1</a:t>
            </a:r>
          </a:p>
          <a:p>
            <a:r>
              <a:rPr lang="en-US" sz="2000" dirty="0"/>
              <a:t>#define CONFIG_NVT_ML_TFLM_TENSOR_ARENA_SIZE 280000</a:t>
            </a:r>
          </a:p>
          <a:p>
            <a:r>
              <a:rPr lang="en-US" sz="2000" dirty="0"/>
              <a:t>#define CONFIG_NVT_ML_KWS_INPUT_DMIC 1</a:t>
            </a:r>
          </a:p>
          <a:p>
            <a:r>
              <a:rPr lang="en-US" sz="2000" dirty="0"/>
              <a:t>#define CONFIG_NVT_ML_REQUIRES_KWS_MODEL_DS_CNN_M_QUANTIZED 1</a:t>
            </a:r>
          </a:p>
          <a:p>
            <a:r>
              <a:rPr lang="en-US" sz="2000" dirty="0"/>
              <a:t>#define CONFIG_NVT_ML_KWS_MODEL_DS_CNN_M_QUANTIZED_ETHOS_U55_256_SPEED 1</a:t>
            </a:r>
          </a:p>
          <a:p>
            <a:r>
              <a:rPr lang="en-US" sz="2000" dirty="0"/>
              <a:t>#define CONFIG_SYSTEM_WORKQUEUE_STACK_SIZE 1024</a:t>
            </a:r>
          </a:p>
          <a:p>
            <a:r>
              <a:rPr lang="en-US" sz="2000" dirty="0"/>
              <a:t>#define CONFIG_MAIN_STACK_SIZE 4096</a:t>
            </a:r>
          </a:p>
        </p:txBody>
      </p:sp>
    </p:spTree>
    <p:extLst>
      <p:ext uri="{BB962C8B-B14F-4D97-AF65-F5344CB8AC3E}">
        <p14:creationId xmlns:p14="http://schemas.microsoft.com/office/powerpoint/2010/main" val="1105400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77674-CCDA-0900-E0BE-A6D1F5CC9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671309-5B8D-17D7-A1EC-12F067E89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511200"/>
            <a:ext cx="11310106" cy="514903"/>
          </a:xfrm>
        </p:spPr>
        <p:txBody>
          <a:bodyPr/>
          <a:lstStyle/>
          <a:p>
            <a:r>
              <a:rPr lang="en-US" dirty="0" err="1"/>
              <a:t>Kconfig</a:t>
            </a:r>
            <a:r>
              <a:rPr lang="en-US" dirty="0"/>
              <a:t>: Define config options (1/3)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81BAC-4111-0003-995F-0842E4DC5C7E}"/>
              </a:ext>
            </a:extLst>
          </p:cNvPr>
          <p:cNvSpPr txBox="1"/>
          <p:nvPr/>
        </p:nvSpPr>
        <p:spPr>
          <a:xfrm>
            <a:off x="644296" y="1506364"/>
            <a:ext cx="9557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EC_M55M1_Zephyr_ML_KWS/</a:t>
            </a:r>
            <a:r>
              <a:rPr lang="en-US" sz="2000" b="1" dirty="0" err="1"/>
              <a:t>SampleCode</a:t>
            </a:r>
            <a:r>
              <a:rPr lang="en-US" sz="2000" b="1" dirty="0"/>
              <a:t>/</a:t>
            </a:r>
            <a:r>
              <a:rPr lang="en-US" sz="2000" b="1" dirty="0" err="1"/>
              <a:t>ExampleCode</a:t>
            </a:r>
            <a:r>
              <a:rPr lang="en-US" sz="2000" b="1" dirty="0"/>
              <a:t>/</a:t>
            </a:r>
            <a:r>
              <a:rPr lang="en-US" sz="2000" b="1" dirty="0" err="1"/>
              <a:t>Zephyr_ML_KWS</a:t>
            </a:r>
            <a:r>
              <a:rPr lang="en-US" sz="2000" b="1" dirty="0"/>
              <a:t>/</a:t>
            </a:r>
            <a:r>
              <a:rPr lang="en-US" sz="2000" b="1" dirty="0" err="1"/>
              <a:t>Kconfig</a:t>
            </a:r>
            <a:r>
              <a:rPr lang="en-US" sz="2000" b="1" dirty="0"/>
              <a:t>:</a:t>
            </a:r>
          </a:p>
          <a:p>
            <a:r>
              <a:rPr lang="en-US" sz="2000" dirty="0"/>
              <a:t>config NVT_ML_TFLM_TENSOR_ARENA_SIZE</a:t>
            </a:r>
          </a:p>
          <a:p>
            <a:r>
              <a:rPr lang="en-US" sz="2000" dirty="0"/>
              <a:t>	int "TFLM tensor arena size"</a:t>
            </a:r>
          </a:p>
          <a:p>
            <a:r>
              <a:rPr lang="en-US" sz="2000" dirty="0"/>
              <a:t>	default 280000</a:t>
            </a:r>
          </a:p>
          <a:p>
            <a:r>
              <a:rPr lang="en-US" sz="2000" dirty="0"/>
              <a:t>	help</a:t>
            </a:r>
          </a:p>
          <a:p>
            <a:r>
              <a:rPr lang="en-US" sz="2000" dirty="0"/>
              <a:t>	  Define TFLM tensor arena size</a:t>
            </a:r>
          </a:p>
        </p:txBody>
      </p:sp>
    </p:spTree>
    <p:extLst>
      <p:ext uri="{BB962C8B-B14F-4D97-AF65-F5344CB8AC3E}">
        <p14:creationId xmlns:p14="http://schemas.microsoft.com/office/powerpoint/2010/main" val="2227425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BBAA-FBC6-9F81-CBB0-17713C2E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BBEF9-A88A-3739-8804-5CE09EE7F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A238C-E7FB-B5DF-CA60-4057A5AE8B39}"/>
              </a:ext>
            </a:extLst>
          </p:cNvPr>
          <p:cNvSpPr txBox="1"/>
          <p:nvPr/>
        </p:nvSpPr>
        <p:spPr>
          <a:xfrm>
            <a:off x="986321" y="1185029"/>
            <a:ext cx="939742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EC_M55M1_Zephyr_ML_KWS/</a:t>
            </a:r>
            <a:r>
              <a:rPr lang="en-US" sz="2000" b="1" dirty="0" err="1"/>
              <a:t>SampleCode</a:t>
            </a:r>
            <a:r>
              <a:rPr lang="en-US" sz="2000" b="1" dirty="0"/>
              <a:t>/</a:t>
            </a:r>
            <a:r>
              <a:rPr lang="en-US" sz="2000" b="1" dirty="0" err="1"/>
              <a:t>ExampleCode</a:t>
            </a:r>
            <a:r>
              <a:rPr lang="en-US" sz="2000" b="1" dirty="0"/>
              <a:t>/</a:t>
            </a:r>
            <a:r>
              <a:rPr lang="en-US" sz="2000" b="1" dirty="0" err="1"/>
              <a:t>Zephyr_ML_KWS</a:t>
            </a:r>
            <a:r>
              <a:rPr lang="en-US" sz="2000" b="1" dirty="0"/>
              <a:t>/</a:t>
            </a:r>
            <a:r>
              <a:rPr lang="en-US" sz="2000" b="1" dirty="0" err="1"/>
              <a:t>Kconfig</a:t>
            </a:r>
            <a:r>
              <a:rPr lang="en-US" sz="2000" b="1" dirty="0"/>
              <a:t>:</a:t>
            </a:r>
          </a:p>
          <a:p>
            <a:r>
              <a:rPr lang="en-US" sz="2000" dirty="0"/>
              <a:t>choice NVT_ML_KWS_INPUT_CHOICE</a:t>
            </a:r>
          </a:p>
          <a:p>
            <a:r>
              <a:rPr lang="en-US" sz="2000" dirty="0"/>
              <a:t>	prompt "Choose ML keyword spotting input source"</a:t>
            </a:r>
          </a:p>
          <a:p>
            <a:r>
              <a:rPr lang="en-US" sz="2000" dirty="0"/>
              <a:t>	default NVT_ML_KWS_INPUT_DMIC if BOARD_NUMAKER_M55M1</a:t>
            </a:r>
          </a:p>
          <a:p>
            <a:r>
              <a:rPr lang="en-US" sz="2000" dirty="0"/>
              <a:t>	default NVT_ML_KWS_INPUT_WAVE_BLOB</a:t>
            </a:r>
          </a:p>
          <a:p>
            <a:endParaRPr lang="en-US" sz="2000" dirty="0"/>
          </a:p>
          <a:p>
            <a:r>
              <a:rPr lang="en-US" sz="2000" dirty="0"/>
              <a:t>config NVT_ML_KWS_INPUT_DMIC</a:t>
            </a:r>
          </a:p>
          <a:p>
            <a:r>
              <a:rPr lang="en-US" sz="2000" dirty="0"/>
              <a:t>	bool "DMIC as KWS input"</a:t>
            </a:r>
          </a:p>
          <a:p>
            <a:r>
              <a:rPr lang="en-US" sz="2000" dirty="0"/>
              <a:t>	help</a:t>
            </a:r>
          </a:p>
          <a:p>
            <a:r>
              <a:rPr lang="en-US" sz="2000" dirty="0"/>
              <a:t>	  Use digital microphone as keyword spotting input</a:t>
            </a:r>
          </a:p>
          <a:p>
            <a:endParaRPr lang="en-US" sz="2000" dirty="0"/>
          </a:p>
          <a:p>
            <a:r>
              <a:rPr lang="en-US" sz="2000" dirty="0"/>
              <a:t>config NVT_ML_KWS_INPUT_WAVE_BLOB</a:t>
            </a:r>
          </a:p>
          <a:p>
            <a:r>
              <a:rPr lang="en-US" sz="2000" dirty="0"/>
              <a:t>	bool "Wave blob as KWS input"</a:t>
            </a:r>
          </a:p>
          <a:p>
            <a:r>
              <a:rPr lang="en-US" sz="2000" dirty="0"/>
              <a:t>	help</a:t>
            </a:r>
          </a:p>
          <a:p>
            <a:r>
              <a:rPr lang="en-US" sz="2000" dirty="0"/>
              <a:t>	  Use embedded wave blob as keyword spotting input</a:t>
            </a:r>
          </a:p>
          <a:p>
            <a:endParaRPr lang="en-US" sz="2000" dirty="0"/>
          </a:p>
          <a:p>
            <a:r>
              <a:rPr lang="en-US" sz="2000" dirty="0" err="1"/>
              <a:t>endchoice</a:t>
            </a:r>
            <a:endParaRPr lang="en-US" sz="2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3CA28CC-E15B-E7D2-32CE-B92965C91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511200"/>
            <a:ext cx="11310106" cy="514903"/>
          </a:xfrm>
        </p:spPr>
        <p:txBody>
          <a:bodyPr/>
          <a:lstStyle/>
          <a:p>
            <a:r>
              <a:rPr lang="en-US" dirty="0" err="1"/>
              <a:t>Kconfig</a:t>
            </a:r>
            <a:r>
              <a:rPr lang="en-US" dirty="0"/>
              <a:t>: Define config options (2/3)</a:t>
            </a:r>
          </a:p>
        </p:txBody>
      </p:sp>
    </p:spTree>
    <p:extLst>
      <p:ext uri="{BB962C8B-B14F-4D97-AF65-F5344CB8AC3E}">
        <p14:creationId xmlns:p14="http://schemas.microsoft.com/office/powerpoint/2010/main" val="427714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BDE12-6961-45D5-CC9B-A580F3661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27</a:t>
            </a:fld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FDC58-2408-2296-3869-E1DBEE7BB50A}"/>
              </a:ext>
            </a:extLst>
          </p:cNvPr>
          <p:cNvSpPr txBox="1"/>
          <p:nvPr/>
        </p:nvSpPr>
        <p:spPr>
          <a:xfrm>
            <a:off x="911830" y="1483784"/>
            <a:ext cx="1026645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EC_M55M1_Zephyr_ML_KWS/</a:t>
            </a:r>
            <a:r>
              <a:rPr lang="en-US" sz="2000" b="1" dirty="0" err="1"/>
              <a:t>SampleCode</a:t>
            </a:r>
            <a:r>
              <a:rPr lang="en-US" sz="2000" b="1" dirty="0"/>
              <a:t>/</a:t>
            </a:r>
            <a:r>
              <a:rPr lang="en-US" sz="2000" b="1" dirty="0" err="1"/>
              <a:t>ExampleCode</a:t>
            </a:r>
            <a:r>
              <a:rPr lang="en-US" sz="2000" b="1" dirty="0"/>
              <a:t>/</a:t>
            </a:r>
            <a:r>
              <a:rPr lang="en-US" sz="2000" b="1" dirty="0" err="1"/>
              <a:t>Zephyr_ML_KWS</a:t>
            </a:r>
            <a:r>
              <a:rPr lang="en-US" sz="2000" b="1" dirty="0"/>
              <a:t>/</a:t>
            </a:r>
            <a:r>
              <a:rPr lang="en-US" sz="2000" b="1" dirty="0" err="1"/>
              <a:t>Kconfig</a:t>
            </a:r>
            <a:r>
              <a:rPr lang="en-US" sz="2000" b="1" dirty="0"/>
              <a:t>:</a:t>
            </a:r>
          </a:p>
          <a:p>
            <a:r>
              <a:rPr lang="en-US" sz="2000" dirty="0"/>
              <a:t>choice NVT_ML_KWS_MODEL_CHOICE</a:t>
            </a:r>
          </a:p>
          <a:p>
            <a:r>
              <a:rPr lang="en-US" sz="2000" dirty="0"/>
              <a:t>	prompt "Choose ML keyword spotting model"</a:t>
            </a:r>
          </a:p>
          <a:p>
            <a:r>
              <a:rPr lang="en-US" sz="2000" dirty="0"/>
              <a:t>	default NVT_ML_KWS_MODEL_DS_CNN_M_QUANTIZED_ETHOS_U55_256_SPEED</a:t>
            </a:r>
          </a:p>
          <a:p>
            <a:endParaRPr lang="en-US" sz="2000" dirty="0"/>
          </a:p>
          <a:p>
            <a:r>
              <a:rPr lang="en-US" sz="2000" dirty="0"/>
              <a:t>config NVT_ML_KWS_MODEL_DS_CNN_M_QUANTIZED_ETHOS_U55_256_SPEED</a:t>
            </a:r>
          </a:p>
          <a:p>
            <a:r>
              <a:rPr lang="en-US" sz="2000" dirty="0"/>
              <a:t>	bool "DS-CNN Medium KWS model, vela-compile for speed"</a:t>
            </a:r>
          </a:p>
          <a:p>
            <a:r>
              <a:rPr lang="en-US" sz="2000" dirty="0"/>
              <a:t>	select NVT_ML_REQUIRES_ETHOS_U</a:t>
            </a:r>
          </a:p>
          <a:p>
            <a:r>
              <a:rPr lang="en-US" sz="2000" dirty="0"/>
              <a:t>	select NVT_ML_REQUIRES_KWS_MODEL_DS_CNN_M_QUANTIZED</a:t>
            </a:r>
          </a:p>
          <a:p>
            <a:r>
              <a:rPr lang="en-US" sz="2000" dirty="0"/>
              <a:t>	help</a:t>
            </a:r>
          </a:p>
          <a:p>
            <a:r>
              <a:rPr lang="en-US" sz="2000" dirty="0"/>
              <a:t>	  Use DS-CNN Medium keyword spotting model, type INT8,</a:t>
            </a:r>
          </a:p>
          <a:p>
            <a:r>
              <a:rPr lang="en-US" sz="2000" dirty="0"/>
              <a:t>	  vela-compile for Ethos-U55/256 MAC, optimize for speed</a:t>
            </a:r>
          </a:p>
          <a:p>
            <a:endParaRPr lang="en-US" sz="2000" dirty="0"/>
          </a:p>
          <a:p>
            <a:r>
              <a:rPr lang="en-US" sz="2000" dirty="0" err="1"/>
              <a:t>endchoice</a:t>
            </a:r>
            <a:endParaRPr lang="en-US" sz="2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A25D30D-CC43-3AA9-BCB6-9C005DCB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511200"/>
            <a:ext cx="11310106" cy="514903"/>
          </a:xfrm>
        </p:spPr>
        <p:txBody>
          <a:bodyPr/>
          <a:lstStyle/>
          <a:p>
            <a:r>
              <a:rPr lang="en-US" dirty="0" err="1"/>
              <a:t>Kconfig</a:t>
            </a:r>
            <a:r>
              <a:rPr lang="en-US" dirty="0"/>
              <a:t>: Define config options (3/3)</a:t>
            </a:r>
          </a:p>
        </p:txBody>
      </p:sp>
    </p:spTree>
    <p:extLst>
      <p:ext uri="{BB962C8B-B14F-4D97-AF65-F5344CB8AC3E}">
        <p14:creationId xmlns:p14="http://schemas.microsoft.com/office/powerpoint/2010/main" val="3067471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3474-3F45-A5A3-06B6-6F649C09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7BFB41B-01F4-005B-1B2D-6E635476C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3" y="1245600"/>
            <a:ext cx="7138798" cy="4932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Cache</a:t>
            </a:r>
          </a:p>
          <a:p>
            <a:pPr lvl="1"/>
            <a:r>
              <a:rPr lang="en-US" altLang="zh-TW" dirty="0"/>
              <a:t>CONFIG_CACHE_MANAGEMENT</a:t>
            </a:r>
          </a:p>
          <a:p>
            <a:r>
              <a:rPr lang="en-US" altLang="zh-TW" dirty="0"/>
              <a:t>FPU</a:t>
            </a:r>
          </a:p>
          <a:p>
            <a:pPr lvl="1"/>
            <a:r>
              <a:rPr lang="es-ES" altLang="zh-TW" dirty="0"/>
              <a:t>CONFIG_FPU</a:t>
            </a:r>
          </a:p>
          <a:p>
            <a:pPr lvl="1"/>
            <a:r>
              <a:rPr lang="es-ES" altLang="zh-TW" dirty="0"/>
              <a:t>CONFIG_FPU_SHARING</a:t>
            </a:r>
          </a:p>
          <a:p>
            <a:pPr lvl="1"/>
            <a:r>
              <a:rPr lang="es-ES" altLang="zh-TW" dirty="0"/>
              <a:t>CONFIG_FP_HARDABI</a:t>
            </a:r>
            <a:endParaRPr lang="en-US" altLang="zh-TW" dirty="0"/>
          </a:p>
          <a:p>
            <a:r>
              <a:rPr lang="en-US" altLang="zh-TW" dirty="0"/>
              <a:t>Compiler optimization level</a:t>
            </a:r>
          </a:p>
          <a:p>
            <a:pPr lvl="1"/>
            <a:r>
              <a:rPr lang="en-US" altLang="zh-TW" dirty="0"/>
              <a:t>CONFIG_SIZE_OPTIMIZATIONS (-</a:t>
            </a:r>
            <a:r>
              <a:rPr lang="en-US" altLang="zh-TW" dirty="0" err="1"/>
              <a:t>Os</a:t>
            </a:r>
            <a:r>
              <a:rPr lang="en-US" altLang="zh-TW" dirty="0"/>
              <a:t>) (default)</a:t>
            </a:r>
          </a:p>
          <a:p>
            <a:pPr lvl="1"/>
            <a:r>
              <a:rPr lang="en-US" altLang="zh-TW" dirty="0"/>
              <a:t>CONFIG_SIZE_OPTIMIZATIONS_AGGRESSIVE (-Oz)</a:t>
            </a:r>
          </a:p>
          <a:p>
            <a:pPr lvl="1"/>
            <a:r>
              <a:rPr lang="en-US" altLang="zh-TW" dirty="0"/>
              <a:t>CONFIG_SPEED_OPTIMIZATIONS (-O2)</a:t>
            </a:r>
          </a:p>
          <a:p>
            <a:pPr lvl="1"/>
            <a:r>
              <a:rPr lang="en-US" altLang="zh-TW" dirty="0"/>
              <a:t>CONFIG_DEBUG_OPTIMIZATIONS (-Og)</a:t>
            </a:r>
          </a:p>
          <a:p>
            <a:pPr lvl="1"/>
            <a:r>
              <a:rPr lang="en-US" altLang="zh-TW" dirty="0"/>
              <a:t>CONFIG_NO_OPTIMIZATIONS (-O0) (stack overflow)</a:t>
            </a:r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2560436-1B4A-842D-835A-F645F6740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28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D1220497-0E80-E246-6FB2-FF455262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Set config values (1/3)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EB8BD-F531-23EA-6413-FDE2FF673D06}"/>
              </a:ext>
            </a:extLst>
          </p:cNvPr>
          <p:cNvSpPr txBox="1"/>
          <p:nvPr/>
        </p:nvSpPr>
        <p:spPr>
          <a:xfrm>
            <a:off x="5616989" y="1327793"/>
            <a:ext cx="61880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EC_M55M1_Zephyr_ML_KWS/</a:t>
            </a:r>
            <a:r>
              <a:rPr lang="en-US" sz="2000" b="1" dirty="0" err="1"/>
              <a:t>SampleCode</a:t>
            </a:r>
            <a:r>
              <a:rPr lang="en-US" sz="2000" b="1" dirty="0"/>
              <a:t>/</a:t>
            </a:r>
            <a:r>
              <a:rPr lang="en-US" sz="2000" b="1" dirty="0" err="1"/>
              <a:t>ExampleCode</a:t>
            </a:r>
            <a:r>
              <a:rPr lang="en-US" sz="2000" b="1" dirty="0"/>
              <a:t>/</a:t>
            </a:r>
            <a:r>
              <a:rPr lang="en-US" sz="2000" b="1" dirty="0" err="1"/>
              <a:t>Zephyr_ML_KWS</a:t>
            </a:r>
            <a:r>
              <a:rPr lang="en-US" sz="2000" b="1" dirty="0"/>
              <a:t>/</a:t>
            </a:r>
            <a:r>
              <a:rPr lang="en-US" sz="2000" b="1" dirty="0" err="1"/>
              <a:t>prj.conf</a:t>
            </a:r>
            <a:endParaRPr lang="en-US" sz="2000" b="1" dirty="0"/>
          </a:p>
          <a:p>
            <a:r>
              <a:rPr lang="en-US" sz="2000" dirty="0"/>
              <a:t>CONFIG_CACHE_MANAGEMENT=y</a:t>
            </a:r>
          </a:p>
          <a:p>
            <a:r>
              <a:rPr lang="es-ES" sz="2000" dirty="0"/>
              <a:t>CONFIG_FPU=y</a:t>
            </a:r>
          </a:p>
          <a:p>
            <a:r>
              <a:rPr lang="es-ES" sz="2000" dirty="0"/>
              <a:t>CONFIG_FPU_SHARING=y</a:t>
            </a:r>
          </a:p>
          <a:p>
            <a:r>
              <a:rPr lang="es-ES" sz="2000" dirty="0"/>
              <a:t>CONFIG_FP_HARDABI=y</a:t>
            </a:r>
          </a:p>
          <a:p>
            <a:r>
              <a:rPr lang="en-US" sz="2000" dirty="0"/>
              <a:t>CONFIG_SPEED_OPTIMIZATIONS=y</a:t>
            </a:r>
          </a:p>
        </p:txBody>
      </p:sp>
    </p:spTree>
    <p:extLst>
      <p:ext uri="{BB962C8B-B14F-4D97-AF65-F5344CB8AC3E}">
        <p14:creationId xmlns:p14="http://schemas.microsoft.com/office/powerpoint/2010/main" val="2491529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F683C-4A2F-746C-8D06-7E1435EF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2899F12-84BB-8D9A-C06D-B2FEE241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6118009" cy="493200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Main stack</a:t>
            </a:r>
          </a:p>
          <a:p>
            <a:pPr lvl="1"/>
            <a:r>
              <a:rPr lang="en-US" altLang="zh-TW" dirty="0"/>
              <a:t>CONFIG_MAIN_STACK_SIZE</a:t>
            </a:r>
          </a:p>
          <a:p>
            <a:r>
              <a:rPr lang="en-US" altLang="zh-TW" dirty="0"/>
              <a:t>Logging</a:t>
            </a:r>
          </a:p>
          <a:p>
            <a:pPr lvl="1"/>
            <a:r>
              <a:rPr lang="en-US" altLang="zh-TW" dirty="0"/>
              <a:t>CONFIG_LOG</a:t>
            </a:r>
          </a:p>
          <a:p>
            <a:pPr lvl="1"/>
            <a:r>
              <a:rPr lang="en-US" altLang="zh-TW" dirty="0"/>
              <a:t>CONFIG_REQUIRES_FLOAT_PRINTF  (floating-point)</a:t>
            </a:r>
          </a:p>
          <a:p>
            <a:pPr lvl="1"/>
            <a:r>
              <a:rPr lang="en-US" altLang="zh-TW" dirty="0"/>
              <a:t>CONFIG_LOG_BLOCK_IN_THREAD (few messages dropped)</a:t>
            </a:r>
          </a:p>
          <a:p>
            <a:r>
              <a:rPr lang="en-US" altLang="zh-TW" dirty="0"/>
              <a:t>C++ language</a:t>
            </a:r>
          </a:p>
          <a:p>
            <a:pPr lvl="1"/>
            <a:r>
              <a:rPr lang="es-ES" altLang="zh-TW" dirty="0"/>
              <a:t>CONFIG_CPP</a:t>
            </a:r>
          </a:p>
          <a:p>
            <a:pPr lvl="1"/>
            <a:r>
              <a:rPr lang="es-ES" altLang="zh-TW" dirty="0"/>
              <a:t>CONFIG_STD_CPP17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EE358B5-4BE7-64D2-933D-08D626C74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29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5E81E8F1-D760-8317-D373-95638F6B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Set config values (2/3)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4211F-38BB-F87A-2838-352D22ADE5EE}"/>
              </a:ext>
            </a:extLst>
          </p:cNvPr>
          <p:cNvSpPr txBox="1"/>
          <p:nvPr/>
        </p:nvSpPr>
        <p:spPr>
          <a:xfrm>
            <a:off x="6554911" y="1327793"/>
            <a:ext cx="55172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EC_M55M1_Zephyr_ML_KWS/</a:t>
            </a:r>
            <a:r>
              <a:rPr lang="en-US" sz="2000" b="1" dirty="0" err="1"/>
              <a:t>SampleCode</a:t>
            </a:r>
            <a:r>
              <a:rPr lang="en-US" sz="2000" b="1" dirty="0"/>
              <a:t>/</a:t>
            </a:r>
            <a:r>
              <a:rPr lang="en-US" sz="2000" b="1" dirty="0" err="1"/>
              <a:t>ExampleCode</a:t>
            </a:r>
            <a:r>
              <a:rPr lang="en-US" sz="2000" b="1" dirty="0"/>
              <a:t>/</a:t>
            </a:r>
            <a:r>
              <a:rPr lang="en-US" sz="2000" b="1" dirty="0" err="1"/>
              <a:t>Zephyr_ML_KWS</a:t>
            </a:r>
            <a:r>
              <a:rPr lang="en-US" sz="2000" b="1" dirty="0"/>
              <a:t>/</a:t>
            </a:r>
            <a:r>
              <a:rPr lang="en-US" sz="2000" b="1" dirty="0" err="1"/>
              <a:t>prj.conf</a:t>
            </a:r>
            <a:endParaRPr lang="en-US" sz="2000" b="1" dirty="0"/>
          </a:p>
          <a:p>
            <a:r>
              <a:rPr lang="en-US" sz="2000" dirty="0"/>
              <a:t>CONFIG_MAIN_STACK_SIZE=4096</a:t>
            </a:r>
          </a:p>
          <a:p>
            <a:r>
              <a:rPr lang="en-US" sz="2000" dirty="0"/>
              <a:t>CONFIG_LOG=y</a:t>
            </a:r>
          </a:p>
          <a:p>
            <a:r>
              <a:rPr lang="en-US" sz="2000" dirty="0"/>
              <a:t>CONFIG_REQUIRES_FLOAT_PRINTF=y</a:t>
            </a:r>
          </a:p>
          <a:p>
            <a:r>
              <a:rPr lang="en-US" sz="2000" dirty="0"/>
              <a:t>CONFIG_LOG_BLOCK_IN_THREAD=y</a:t>
            </a:r>
          </a:p>
          <a:p>
            <a:r>
              <a:rPr lang="es-ES" sz="2000" dirty="0"/>
              <a:t>CONFIG_CPP=y</a:t>
            </a:r>
          </a:p>
          <a:p>
            <a:r>
              <a:rPr lang="es-ES" sz="2000" dirty="0"/>
              <a:t>CONFIG_STD_CPP17=y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2596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561CB-A9B1-8333-9E5C-E241F45E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CF9FA07-CAA4-197A-BF9B-5AF74A01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3" y="1245600"/>
            <a:ext cx="7005234" cy="4932000"/>
          </a:xfrm>
        </p:spPr>
        <p:txBody>
          <a:bodyPr>
            <a:normAutofit/>
          </a:bodyPr>
          <a:lstStyle/>
          <a:p>
            <a:r>
              <a:rPr lang="en-US" altLang="zh-TW" dirty="0"/>
              <a:t>CMSIS DSP</a:t>
            </a:r>
          </a:p>
          <a:p>
            <a:pPr lvl="1"/>
            <a:r>
              <a:rPr lang="en-US" altLang="zh-TW" dirty="0"/>
              <a:t>CONFIG_CMSIS_DSP</a:t>
            </a:r>
          </a:p>
          <a:p>
            <a:pPr lvl="1"/>
            <a:r>
              <a:rPr lang="en-US" altLang="zh-TW" dirty="0"/>
              <a:t>CONFIG_CMSIS_DSP_COMPLEXMATH, CONFIG_CMSIS_DSP_FASTMATH, CONFIG_CMSIS_DSP_TRANSFORM, etc.</a:t>
            </a:r>
          </a:p>
          <a:p>
            <a:r>
              <a:rPr lang="en-US" altLang="zh-TW" dirty="0"/>
              <a:t>Shell</a:t>
            </a:r>
          </a:p>
          <a:p>
            <a:pPr lvl="1"/>
            <a:r>
              <a:rPr lang="en-US" altLang="zh-TW" dirty="0"/>
              <a:t>CONFIG_SHELL (</a:t>
            </a:r>
            <a:r>
              <a:rPr lang="en-US" altLang="zh-TW" dirty="0" err="1"/>
              <a:t>kws</a:t>
            </a:r>
            <a:r>
              <a:rPr lang="en-US" altLang="zh-TW" dirty="0"/>
              <a:t> resume, </a:t>
            </a:r>
            <a:r>
              <a:rPr lang="en-US" altLang="zh-TW" dirty="0" err="1"/>
              <a:t>kws</a:t>
            </a:r>
            <a:r>
              <a:rPr lang="en-US" altLang="zh-TW" dirty="0"/>
              <a:t> suspend, etc.)</a:t>
            </a:r>
          </a:p>
          <a:p>
            <a:r>
              <a:rPr lang="en-US" altLang="zh-TW" dirty="0"/>
              <a:t>TensorFlow Lite Micro &amp; Ethos-U</a:t>
            </a:r>
          </a:p>
          <a:p>
            <a:pPr lvl="1"/>
            <a:r>
              <a:rPr lang="en-US" altLang="zh-TW" dirty="0"/>
              <a:t>CONFIG_TENSORFLOW_LITE_MICRO</a:t>
            </a:r>
          </a:p>
          <a:p>
            <a:pPr lvl="1"/>
            <a:r>
              <a:rPr lang="en-US" altLang="zh-TW" dirty="0"/>
              <a:t>CONFIG_ETHOS_U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54BB46-17F4-B981-3FD8-FCBD15E2D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DF45C5A9-0D15-2118-4455-97152673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Set config values (3/3)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3B773-C611-85F1-0096-BB0D3071DA7A}"/>
              </a:ext>
            </a:extLst>
          </p:cNvPr>
          <p:cNvSpPr txBox="1"/>
          <p:nvPr/>
        </p:nvSpPr>
        <p:spPr>
          <a:xfrm>
            <a:off x="6418373" y="1392913"/>
            <a:ext cx="546882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EC_M55M1_Zephyr_ML_KWS/</a:t>
            </a:r>
            <a:r>
              <a:rPr lang="en-US" sz="2000" b="1" dirty="0" err="1"/>
              <a:t>SampleCode</a:t>
            </a:r>
            <a:r>
              <a:rPr lang="en-US" sz="2000" b="1" dirty="0"/>
              <a:t>/</a:t>
            </a:r>
            <a:r>
              <a:rPr lang="en-US" sz="2000" b="1" dirty="0" err="1"/>
              <a:t>ExampleCode</a:t>
            </a:r>
            <a:r>
              <a:rPr lang="en-US" sz="2000" b="1" dirty="0"/>
              <a:t>/</a:t>
            </a:r>
            <a:r>
              <a:rPr lang="en-US" sz="2000" b="1" dirty="0" err="1"/>
              <a:t>Zephyr_ML_KWS</a:t>
            </a:r>
            <a:r>
              <a:rPr lang="en-US" sz="2000" b="1" dirty="0"/>
              <a:t>/</a:t>
            </a:r>
            <a:r>
              <a:rPr lang="en-US" sz="2000" b="1" dirty="0" err="1"/>
              <a:t>prj.conf</a:t>
            </a:r>
            <a:endParaRPr lang="en-US" sz="2000" b="1" dirty="0"/>
          </a:p>
          <a:p>
            <a:r>
              <a:rPr lang="en-US" sz="2000" dirty="0"/>
              <a:t>CONFIG_CMSIS_DSP=y</a:t>
            </a:r>
          </a:p>
          <a:p>
            <a:r>
              <a:rPr lang="en-US" sz="2000" dirty="0"/>
              <a:t>CONFIG_CMSIS_DSP_COMPLEXMATH=y</a:t>
            </a:r>
          </a:p>
          <a:p>
            <a:r>
              <a:rPr lang="en-US" sz="2000" dirty="0"/>
              <a:t>CONFIG_CMSIS_DSP_FASTMATH=y</a:t>
            </a:r>
          </a:p>
          <a:p>
            <a:r>
              <a:rPr lang="en-US" sz="2000" dirty="0"/>
              <a:t>CONFIG_CMSIS_DSP_TRANSFORM=y</a:t>
            </a:r>
          </a:p>
          <a:p>
            <a:r>
              <a:rPr lang="en-US" sz="2000" dirty="0"/>
              <a:t>CONFIG_SHELL=y</a:t>
            </a:r>
          </a:p>
          <a:p>
            <a:r>
              <a:rPr lang="en-US" sz="2000" dirty="0"/>
              <a:t>CONFIG_TENSORFLOW_LITE_MICRO=y</a:t>
            </a:r>
          </a:p>
        </p:txBody>
      </p:sp>
    </p:spTree>
    <p:extLst>
      <p:ext uri="{BB962C8B-B14F-4D97-AF65-F5344CB8AC3E}">
        <p14:creationId xmlns:p14="http://schemas.microsoft.com/office/powerpoint/2010/main" val="3265091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A4E73-C977-678E-81F6-EA50A6932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7" y="1245600"/>
            <a:ext cx="11351203" cy="4932000"/>
          </a:xfrm>
        </p:spPr>
        <p:txBody>
          <a:bodyPr>
            <a:normAutofit/>
          </a:bodyPr>
          <a:lstStyle/>
          <a:p>
            <a:r>
              <a:rPr lang="en-US" dirty="0"/>
              <a:t>A hierarchical data structure used to describe H/W and its boot-time configuration</a:t>
            </a:r>
          </a:p>
          <a:p>
            <a:pPr lvl="1"/>
            <a:r>
              <a:rPr lang="en-US" dirty="0"/>
              <a:t>For system,  memory base/size (Flash, SRAM), CPU frequency, etc.</a:t>
            </a:r>
          </a:p>
          <a:p>
            <a:pPr lvl="1"/>
            <a:r>
              <a:rPr lang="en-US" dirty="0"/>
              <a:t>For peripheral, register base, interrupt, pins, etc.</a:t>
            </a:r>
          </a:p>
          <a:p>
            <a:r>
              <a:rPr lang="en-US" dirty="0"/>
              <a:t>Unlike Linux kernel, Zephyr parses the DTS at compile time and generates C language macros, rather than blob.</a:t>
            </a:r>
          </a:p>
          <a:p>
            <a:r>
              <a:rPr lang="en-US" dirty="0"/>
              <a:t>Separate H/W specifics from application logic</a:t>
            </a:r>
          </a:p>
          <a:p>
            <a:pPr lvl="1"/>
            <a:r>
              <a:rPr lang="en-US" dirty="0"/>
              <a:t>No hardcode</a:t>
            </a:r>
          </a:p>
          <a:p>
            <a:pPr lvl="1"/>
            <a:r>
              <a:rPr lang="en-US" dirty="0"/>
              <a:t>Retarget without change to C/C++ code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5C20F-BDBE-6842-BD0B-A89B4372B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31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F12425-F7A9-B65C-6413-D3019370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00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DC70-071B-0117-470F-3D9EFA78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D3B5A7-191B-7FBB-8D32-EB522D2D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7" y="1307244"/>
            <a:ext cx="11351203" cy="3840108"/>
          </a:xfrm>
        </p:spPr>
        <p:txBody>
          <a:bodyPr>
            <a:normAutofit/>
          </a:bodyPr>
          <a:lstStyle/>
          <a:p>
            <a:r>
              <a:rPr lang="en-US" dirty="0"/>
              <a:t>DTS files (*.</a:t>
            </a:r>
            <a:r>
              <a:rPr lang="en-US" dirty="0" err="1"/>
              <a:t>dts</a:t>
            </a:r>
            <a:r>
              <a:rPr lang="en-US" dirty="0"/>
              <a:t>): Contain board-level definitions and configuration</a:t>
            </a:r>
          </a:p>
          <a:p>
            <a:r>
              <a:rPr lang="en-US" dirty="0"/>
              <a:t>DTS include files (*.</a:t>
            </a:r>
            <a:r>
              <a:rPr lang="en-US" dirty="0" err="1"/>
              <a:t>dtsi</a:t>
            </a:r>
            <a:r>
              <a:rPr lang="en-US" dirty="0"/>
              <a:t>): Contain SoC-level or board-level definitions and configurations to be included</a:t>
            </a:r>
          </a:p>
          <a:p>
            <a:r>
              <a:rPr lang="en-US" dirty="0"/>
              <a:t>DTS overlay files (*.overlay): Allow customizing or overriding H/W configurations</a:t>
            </a:r>
          </a:p>
          <a:p>
            <a:r>
              <a:rPr lang="en-US" dirty="0"/>
              <a:t>DTS binding files (*.</a:t>
            </a:r>
            <a:r>
              <a:rPr lang="en-US" dirty="0" err="1"/>
              <a:t>yaml</a:t>
            </a:r>
            <a:r>
              <a:rPr lang="en-US" dirty="0"/>
              <a:t>): Define which properties are valid within a node and link H/W device to S/W driver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55363-D3E6-0CCB-E7C1-81709E413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32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45E3FD-FF72-6D45-3E9F-7E13B28C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Constituent files</a:t>
            </a:r>
          </a:p>
        </p:txBody>
      </p:sp>
    </p:spTree>
    <p:extLst>
      <p:ext uri="{BB962C8B-B14F-4D97-AF65-F5344CB8AC3E}">
        <p14:creationId xmlns:p14="http://schemas.microsoft.com/office/powerpoint/2010/main" val="2068650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F9AAA-BFF2-25B3-B594-84BA58EC3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E6139B-246E-3D1B-56A7-7079FF3B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Binding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B163C-A5F4-95CC-D8FD-038B9137F90C}"/>
              </a:ext>
            </a:extLst>
          </p:cNvPr>
          <p:cNvSpPr txBox="1"/>
          <p:nvPr/>
        </p:nvSpPr>
        <p:spPr>
          <a:xfrm>
            <a:off x="597642" y="1328056"/>
            <a:ext cx="57517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zephyr/</a:t>
            </a:r>
            <a:r>
              <a:rPr lang="en-US" b="1" dirty="0" err="1"/>
              <a:t>dts</a:t>
            </a:r>
            <a:r>
              <a:rPr lang="en-US" b="1" dirty="0"/>
              <a:t>/arm/</a:t>
            </a:r>
            <a:r>
              <a:rPr lang="en-US" b="1" dirty="0" err="1"/>
              <a:t>nuvoton</a:t>
            </a:r>
            <a:r>
              <a:rPr lang="en-US" b="1" dirty="0"/>
              <a:t>/m55m1h2l.dtsi:</a:t>
            </a:r>
          </a:p>
          <a:p>
            <a:r>
              <a:rPr lang="en-US" dirty="0"/>
              <a:t>npu0: npu@40003000 {</a:t>
            </a:r>
          </a:p>
          <a:p>
            <a:r>
              <a:rPr lang="en-US" dirty="0"/>
              <a:t>	compatible = "</a:t>
            </a:r>
            <a:r>
              <a:rPr lang="en-US" dirty="0" err="1">
                <a:solidFill>
                  <a:srgbClr val="0070C0"/>
                </a:solidFill>
              </a:rPr>
              <a:t>nuvoton,numaker-npu</a:t>
            </a:r>
            <a:r>
              <a:rPr lang="en-US" dirty="0"/>
              <a:t>";</a:t>
            </a:r>
          </a:p>
          <a:p>
            <a:r>
              <a:rPr lang="en-US" dirty="0"/>
              <a:t>	reg = &lt;0x40003000 0x1000&gt;;</a:t>
            </a:r>
          </a:p>
          <a:p>
            <a:r>
              <a:rPr lang="en-US" dirty="0"/>
              <a:t>	interrupts = &lt;13 0&gt;;</a:t>
            </a:r>
          </a:p>
          <a:p>
            <a:r>
              <a:rPr lang="en-US" dirty="0"/>
              <a:t>	resets = &lt;&amp;</a:t>
            </a:r>
            <a:r>
              <a:rPr lang="en-US" dirty="0" err="1"/>
              <a:t>rst</a:t>
            </a:r>
            <a:r>
              <a:rPr lang="en-US" dirty="0"/>
              <a:t> NUMAKER_SYS_NPURST&gt;;</a:t>
            </a:r>
          </a:p>
          <a:p>
            <a:r>
              <a:rPr lang="en-US" dirty="0"/>
              <a:t>	clocks = &lt;&amp;</a:t>
            </a:r>
            <a:r>
              <a:rPr lang="en-US" dirty="0" err="1"/>
              <a:t>pcc</a:t>
            </a:r>
            <a:r>
              <a:rPr lang="en-US" dirty="0"/>
              <a:t> NUMAKER_NPU0_MODULE 0 0&gt;;</a:t>
            </a:r>
          </a:p>
          <a:p>
            <a:r>
              <a:rPr lang="en-US" dirty="0"/>
              <a:t>	secure-enable;</a:t>
            </a:r>
          </a:p>
          <a:p>
            <a:r>
              <a:rPr lang="en-US" dirty="0"/>
              <a:t>	privilege-enable;</a:t>
            </a:r>
          </a:p>
          <a:p>
            <a:r>
              <a:rPr lang="en-US" dirty="0"/>
              <a:t>	status = "disabled";</a:t>
            </a:r>
          </a:p>
          <a:p>
            <a:r>
              <a:rPr lang="en-US" dirty="0"/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2114E-E6AB-14BD-A9C7-F4F3C82936E3}"/>
              </a:ext>
            </a:extLst>
          </p:cNvPr>
          <p:cNvSpPr txBox="1"/>
          <p:nvPr/>
        </p:nvSpPr>
        <p:spPr>
          <a:xfrm>
            <a:off x="6076322" y="1003285"/>
            <a:ext cx="60977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zephyr/</a:t>
            </a:r>
            <a:r>
              <a:rPr lang="en-US" b="1" dirty="0" err="1"/>
              <a:t>dts</a:t>
            </a:r>
            <a:r>
              <a:rPr lang="en-US" b="1" dirty="0"/>
              <a:t>/bindings/arm/</a:t>
            </a:r>
            <a:r>
              <a:rPr lang="en-US" b="1" dirty="0" err="1"/>
              <a:t>nuvoton,numaker-npu.yaml</a:t>
            </a:r>
            <a:r>
              <a:rPr lang="en-US" b="1" dirty="0"/>
              <a:t>:</a:t>
            </a:r>
          </a:p>
          <a:p>
            <a:r>
              <a:rPr lang="en-US" dirty="0"/>
              <a:t>compatible: "</a:t>
            </a:r>
            <a:r>
              <a:rPr lang="en-US" dirty="0" err="1">
                <a:solidFill>
                  <a:srgbClr val="0070C0"/>
                </a:solidFill>
              </a:rPr>
              <a:t>nuvoton,numaker-npu</a:t>
            </a:r>
            <a:r>
              <a:rPr lang="en-US" dirty="0"/>
              <a:t>"</a:t>
            </a:r>
          </a:p>
          <a:p>
            <a:r>
              <a:rPr lang="en-US" dirty="0"/>
              <a:t>include: ["</a:t>
            </a:r>
            <a:r>
              <a:rPr lang="en-US" dirty="0" err="1"/>
              <a:t>arm,ethos-u.yaml</a:t>
            </a:r>
            <a:r>
              <a:rPr lang="en-US" dirty="0"/>
              <a:t>", reset-</a:t>
            </a:r>
            <a:r>
              <a:rPr lang="en-US" dirty="0" err="1"/>
              <a:t>device.yaml</a:t>
            </a:r>
            <a:r>
              <a:rPr lang="en-US" dirty="0"/>
              <a:t>]</a:t>
            </a:r>
          </a:p>
          <a:p>
            <a:r>
              <a:rPr lang="en-US" dirty="0"/>
              <a:t>properties:</a:t>
            </a:r>
          </a:p>
          <a:p>
            <a:r>
              <a:rPr lang="en-US" dirty="0"/>
              <a:t>  reg:</a:t>
            </a:r>
          </a:p>
          <a:p>
            <a:r>
              <a:rPr lang="en-US" dirty="0"/>
              <a:t>    required: true</a:t>
            </a:r>
          </a:p>
          <a:p>
            <a:r>
              <a:rPr lang="en-US" dirty="0"/>
              <a:t>  interrupts:</a:t>
            </a:r>
          </a:p>
          <a:p>
            <a:r>
              <a:rPr lang="en-US" dirty="0"/>
              <a:t>    required: true</a:t>
            </a:r>
          </a:p>
          <a:p>
            <a:r>
              <a:rPr lang="en-US" dirty="0"/>
              <a:t>  resets:</a:t>
            </a:r>
          </a:p>
          <a:p>
            <a:r>
              <a:rPr lang="en-US" dirty="0"/>
              <a:t>    required: true</a:t>
            </a:r>
          </a:p>
          <a:p>
            <a:r>
              <a:rPr lang="en-US" dirty="0"/>
              <a:t>  clocks:</a:t>
            </a:r>
          </a:p>
          <a:p>
            <a:r>
              <a:rPr lang="en-US" dirty="0"/>
              <a:t>    required: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C51C4D-6D4E-045F-08AB-8806E1231134}"/>
              </a:ext>
            </a:extLst>
          </p:cNvPr>
          <p:cNvSpPr txBox="1"/>
          <p:nvPr/>
        </p:nvSpPr>
        <p:spPr>
          <a:xfrm>
            <a:off x="8278402" y="1923908"/>
            <a:ext cx="34238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zephyr/</a:t>
            </a:r>
            <a:r>
              <a:rPr lang="en-US" b="1" dirty="0" err="1"/>
              <a:t>dts</a:t>
            </a:r>
            <a:r>
              <a:rPr lang="en-US" b="1" dirty="0"/>
              <a:t>/bindings/arm/</a:t>
            </a:r>
            <a:r>
              <a:rPr lang="en-US" b="1" dirty="0" err="1"/>
              <a:t>arm,ethos-u.yaml</a:t>
            </a:r>
            <a:r>
              <a:rPr lang="en-US" b="1" dirty="0"/>
              <a:t>:</a:t>
            </a:r>
          </a:p>
          <a:p>
            <a:r>
              <a:rPr lang="en-US" dirty="0"/>
              <a:t>compatible: "</a:t>
            </a:r>
            <a:r>
              <a:rPr lang="en-US" dirty="0" err="1"/>
              <a:t>arm,ethos</a:t>
            </a:r>
            <a:r>
              <a:rPr lang="en-US" dirty="0"/>
              <a:t>-u"</a:t>
            </a:r>
          </a:p>
          <a:p>
            <a:r>
              <a:rPr lang="en-US" dirty="0"/>
              <a:t>include: </a:t>
            </a:r>
            <a:r>
              <a:rPr lang="en-US" dirty="0" err="1"/>
              <a:t>base.yaml</a:t>
            </a:r>
            <a:endParaRPr lang="en-US" dirty="0"/>
          </a:p>
          <a:p>
            <a:r>
              <a:rPr lang="en-US" dirty="0"/>
              <a:t>properties:</a:t>
            </a:r>
          </a:p>
          <a:p>
            <a:r>
              <a:rPr lang="en-US" dirty="0"/>
              <a:t>  reg:</a:t>
            </a:r>
          </a:p>
          <a:p>
            <a:r>
              <a:rPr lang="en-US" dirty="0"/>
              <a:t>    required: true</a:t>
            </a:r>
          </a:p>
          <a:p>
            <a:r>
              <a:rPr lang="en-US" dirty="0"/>
              <a:t>  interrupts:</a:t>
            </a:r>
          </a:p>
          <a:p>
            <a:r>
              <a:rPr lang="en-US" dirty="0"/>
              <a:t>    required: true</a:t>
            </a:r>
          </a:p>
          <a:p>
            <a:r>
              <a:rPr lang="en-US" dirty="0"/>
              <a:t>  secure-enable:</a:t>
            </a:r>
          </a:p>
          <a:p>
            <a:r>
              <a:rPr lang="en-US" dirty="0"/>
              <a:t>    type: </a:t>
            </a:r>
            <a:r>
              <a:rPr lang="en-US" dirty="0" err="1"/>
              <a:t>boolean</a:t>
            </a:r>
            <a:endParaRPr lang="en-US" dirty="0"/>
          </a:p>
          <a:p>
            <a:r>
              <a:rPr lang="en-US" dirty="0"/>
              <a:t>  privilege-enable:</a:t>
            </a:r>
          </a:p>
          <a:p>
            <a:r>
              <a:rPr lang="en-US" dirty="0"/>
              <a:t>    type: </a:t>
            </a:r>
            <a:r>
              <a:rPr lang="en-US" dirty="0" err="1"/>
              <a:t>boolean</a:t>
            </a:r>
            <a:endParaRPr lang="en-US" dirty="0"/>
          </a:p>
          <a:p>
            <a:r>
              <a:rPr lang="en-US" dirty="0"/>
              <a:t>  fast-memory-region:</a:t>
            </a:r>
          </a:p>
          <a:p>
            <a:r>
              <a:rPr lang="en-US" dirty="0"/>
              <a:t>    type: </a:t>
            </a:r>
            <a:r>
              <a:rPr lang="en-US" dirty="0" err="1"/>
              <a:t>phandle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E04E0-FCB9-F3FA-B335-3211FF9761EE}"/>
              </a:ext>
            </a:extLst>
          </p:cNvPr>
          <p:cNvSpPr txBox="1"/>
          <p:nvPr/>
        </p:nvSpPr>
        <p:spPr>
          <a:xfrm>
            <a:off x="1019710" y="4748890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zephyr/drivers/</a:t>
            </a:r>
            <a:r>
              <a:rPr lang="en-US" b="1" dirty="0" err="1"/>
              <a:t>misc</a:t>
            </a:r>
            <a:r>
              <a:rPr lang="en-US" b="1" dirty="0"/>
              <a:t>/</a:t>
            </a:r>
            <a:r>
              <a:rPr lang="en-US" b="1" dirty="0" err="1"/>
              <a:t>ethos_u</a:t>
            </a:r>
            <a:r>
              <a:rPr lang="en-US" b="1" dirty="0"/>
              <a:t>/</a:t>
            </a:r>
            <a:r>
              <a:rPr lang="en-US" b="1" dirty="0" err="1"/>
              <a:t>ethos_u_numaker.c</a:t>
            </a:r>
            <a:r>
              <a:rPr lang="en-US" b="1" dirty="0"/>
              <a:t>:</a:t>
            </a:r>
          </a:p>
          <a:p>
            <a:r>
              <a:rPr lang="en-US" dirty="0"/>
              <a:t>#define DT_DRV_COMPAT </a:t>
            </a:r>
            <a:r>
              <a:rPr lang="en-US" dirty="0" err="1">
                <a:solidFill>
                  <a:srgbClr val="0070C0"/>
                </a:solidFill>
              </a:rPr>
              <a:t>nuvoton_numaker_npu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307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7067-E270-090D-FD03-DF424F40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9E687C-1E3B-7373-BE57-DB839930A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80" y="1245600"/>
            <a:ext cx="9799804" cy="3090093"/>
          </a:xfrm>
        </p:spPr>
        <p:txBody>
          <a:bodyPr>
            <a:normAutofit/>
          </a:bodyPr>
          <a:lstStyle/>
          <a:p>
            <a:r>
              <a:rPr lang="en-US" dirty="0"/>
              <a:t>Board DTS file (--board)</a:t>
            </a:r>
          </a:p>
          <a:p>
            <a:pPr lvl="1"/>
            <a:r>
              <a:rPr lang="en-US" dirty="0"/>
              <a:t>zephyr/boards/&lt;VENDOR&gt;/&lt;BOARD&gt;/&lt;BOARD&gt;.</a:t>
            </a:r>
            <a:r>
              <a:rPr lang="en-US" dirty="0" err="1"/>
              <a:t>dts</a:t>
            </a:r>
            <a:endParaRPr lang="en-US" dirty="0"/>
          </a:p>
          <a:p>
            <a:r>
              <a:rPr lang="en-US" dirty="0"/>
              <a:t>Included SoC-level DTSI file (#include)</a:t>
            </a:r>
          </a:p>
          <a:p>
            <a:pPr lvl="1"/>
            <a:r>
              <a:rPr lang="en-US" dirty="0"/>
              <a:t>zephyr/</a:t>
            </a:r>
            <a:r>
              <a:rPr lang="en-US" dirty="0" err="1"/>
              <a:t>dts</a:t>
            </a:r>
            <a:r>
              <a:rPr lang="en-US" dirty="0"/>
              <a:t>/arm/</a:t>
            </a:r>
            <a:r>
              <a:rPr lang="en-US" dirty="0" err="1"/>
              <a:t>nuvoton</a:t>
            </a:r>
            <a:r>
              <a:rPr lang="en-US" dirty="0"/>
              <a:t>/&lt;SOC&gt;.</a:t>
            </a:r>
            <a:r>
              <a:rPr lang="en-US" dirty="0" err="1"/>
              <a:t>dtsi</a:t>
            </a:r>
            <a:endParaRPr lang="en-US" dirty="0"/>
          </a:p>
          <a:p>
            <a:r>
              <a:rPr lang="en-US" dirty="0"/>
              <a:t>Included C header file (#include)</a:t>
            </a:r>
          </a:p>
          <a:p>
            <a:pPr lvl="1"/>
            <a:r>
              <a:rPr lang="en-US" dirty="0"/>
              <a:t>*.h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7B7EB-6D13-9172-F4C3-EA04FE77E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EA4301-8CC7-2738-09DB-F9882577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Include tree (1/2)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98244-2842-3291-A6BB-A6B5EF935409}"/>
              </a:ext>
            </a:extLst>
          </p:cNvPr>
          <p:cNvSpPr txBox="1"/>
          <p:nvPr/>
        </p:nvSpPr>
        <p:spPr>
          <a:xfrm>
            <a:off x="1056554" y="4407615"/>
            <a:ext cx="91970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zephyr/boards/</a:t>
            </a:r>
            <a:r>
              <a:rPr lang="en-US" sz="2400" b="1" dirty="0" err="1"/>
              <a:t>nuvoton</a:t>
            </a:r>
            <a:r>
              <a:rPr lang="en-US" sz="2400" b="1" dirty="0"/>
              <a:t>/numaker_m55m1/numaker_m55m1.dts</a:t>
            </a:r>
          </a:p>
          <a:p>
            <a:r>
              <a:rPr lang="en-US" sz="2400" dirty="0"/>
              <a:t>#include &lt;</a:t>
            </a:r>
            <a:r>
              <a:rPr lang="en-US" sz="2400" dirty="0" err="1"/>
              <a:t>nuvoton</a:t>
            </a:r>
            <a:r>
              <a:rPr lang="en-US" sz="2400" dirty="0"/>
              <a:t>/m55m1h2l.dtsi&gt;</a:t>
            </a:r>
          </a:p>
          <a:p>
            <a:r>
              <a:rPr lang="en-US" sz="2400" dirty="0"/>
              <a:t>#include "numaker_m55m1-pinctrl.dtsi"</a:t>
            </a:r>
          </a:p>
          <a:p>
            <a:r>
              <a:rPr lang="en-US" sz="2400" dirty="0"/>
              <a:t>#include &lt;zephyr/dt-bindings/input/input-event-</a:t>
            </a:r>
            <a:r>
              <a:rPr lang="en-US" sz="2400" dirty="0" err="1"/>
              <a:t>codes.h</a:t>
            </a:r>
            <a:r>
              <a:rPr lang="en-US" sz="2400"/>
              <a:t>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5626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028DE-8998-031C-A0B1-B6D53747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4796A5-BC96-5759-253B-FCA44E4CD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3" y="1245600"/>
            <a:ext cx="7118250" cy="1723631"/>
          </a:xfrm>
        </p:spPr>
        <p:txBody>
          <a:bodyPr>
            <a:normAutofit/>
          </a:bodyPr>
          <a:lstStyle/>
          <a:p>
            <a:r>
              <a:rPr lang="en-US" dirty="0"/>
              <a:t>Board overlay file</a:t>
            </a:r>
          </a:p>
          <a:p>
            <a:pPr lvl="1"/>
            <a:r>
              <a:rPr lang="en-US" dirty="0"/>
              <a:t>&lt;PROJECT&gt;/boards/&lt;BOARD&gt;.overlay</a:t>
            </a:r>
          </a:p>
          <a:p>
            <a:pPr lvl="1"/>
            <a:r>
              <a:rPr lang="en-US" dirty="0"/>
              <a:t>&lt;PROJECT&gt;/</a:t>
            </a:r>
            <a:r>
              <a:rPr lang="en-US" dirty="0" err="1"/>
              <a:t>app.overlay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78E4C-3516-C9A0-5640-F8B074E69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34D2F2-BB9D-93FC-720E-E9277721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Include tree (2/2)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011EB-A701-FE0A-13AF-0E63D452085C}"/>
              </a:ext>
            </a:extLst>
          </p:cNvPr>
          <p:cNvSpPr txBox="1"/>
          <p:nvPr/>
        </p:nvSpPr>
        <p:spPr>
          <a:xfrm>
            <a:off x="933263" y="3230928"/>
            <a:ext cx="81593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EC_M55M1_Zephyr_ML_KWS/</a:t>
            </a:r>
            <a:r>
              <a:rPr lang="en-US" sz="2400" b="1" dirty="0" err="1"/>
              <a:t>SampleCode</a:t>
            </a:r>
            <a:r>
              <a:rPr lang="en-US" sz="2400" b="1" dirty="0"/>
              <a:t>/</a:t>
            </a:r>
            <a:r>
              <a:rPr lang="en-US" sz="2400" b="1" dirty="0" err="1"/>
              <a:t>ExampleCode</a:t>
            </a:r>
            <a:r>
              <a:rPr lang="en-US" sz="2400" b="1" dirty="0"/>
              <a:t>/</a:t>
            </a:r>
            <a:r>
              <a:rPr lang="en-US" sz="2400" b="1" dirty="0" err="1"/>
              <a:t>Zephyr_ML_KWS</a:t>
            </a:r>
            <a:r>
              <a:rPr lang="en-US" sz="2400" b="1" dirty="0"/>
              <a:t>/boards/numaker_m55m1.overlay</a:t>
            </a:r>
            <a:endParaRPr lang="en-US" sz="2400" dirty="0"/>
          </a:p>
          <a:p>
            <a:r>
              <a:rPr lang="en-US" sz="2400" dirty="0"/>
              <a:t>&amp;npu0 {</a:t>
            </a:r>
          </a:p>
          <a:p>
            <a:r>
              <a:rPr lang="en-US" sz="2400" dirty="0"/>
              <a:t>	status = "okay";</a:t>
            </a:r>
          </a:p>
          <a:p>
            <a:r>
              <a:rPr lang="en-US" sz="2400" dirty="0"/>
              <a:t>};</a:t>
            </a:r>
          </a:p>
          <a:p>
            <a:r>
              <a:rPr lang="en-US" sz="2400" dirty="0"/>
              <a:t>&amp;</a:t>
            </a:r>
            <a:r>
              <a:rPr lang="en-US" sz="2400" dirty="0" err="1"/>
              <a:t>gpiob</a:t>
            </a:r>
            <a:r>
              <a:rPr lang="en-US" sz="2400" dirty="0"/>
              <a:t> {</a:t>
            </a:r>
          </a:p>
          <a:p>
            <a:r>
              <a:rPr lang="en-US" sz="2400" dirty="0"/>
              <a:t>	status = "okay";</a:t>
            </a:r>
          </a:p>
          <a:p>
            <a:r>
              <a:rPr lang="en-US" sz="24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6576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DC59C4-52C1-BDEB-7E65-F18AB959E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7" y="1245600"/>
            <a:ext cx="9640134" cy="1127730"/>
          </a:xfrm>
        </p:spPr>
        <p:txBody>
          <a:bodyPr>
            <a:normAutofit/>
          </a:bodyPr>
          <a:lstStyle/>
          <a:p>
            <a:r>
              <a:rPr lang="en-US" dirty="0"/>
              <a:t>Combined DTS file</a:t>
            </a:r>
          </a:p>
          <a:p>
            <a:pPr lvl="1"/>
            <a:r>
              <a:rPr lang="en-US" dirty="0"/>
              <a:t>build/zephyr/</a:t>
            </a:r>
            <a:r>
              <a:rPr lang="en-US" dirty="0" err="1"/>
              <a:t>zephyr.dts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85942-1C98-CFB1-2BB3-4B02F108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36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186A82-F615-74F8-7427-1303DE36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Generated files (1/2)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F0F21-3219-8435-DFF1-AD3F5C45C2D2}"/>
              </a:ext>
            </a:extLst>
          </p:cNvPr>
          <p:cNvSpPr txBox="1"/>
          <p:nvPr/>
        </p:nvSpPr>
        <p:spPr>
          <a:xfrm>
            <a:off x="1169512" y="2258405"/>
            <a:ext cx="7655989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build/zephyr/</a:t>
            </a:r>
            <a:r>
              <a:rPr lang="en-US" b="1" dirty="0" err="1"/>
              <a:t>zephyr.dts</a:t>
            </a:r>
            <a:endParaRPr lang="en-US" b="1" dirty="0"/>
          </a:p>
          <a:p>
            <a:r>
              <a:rPr lang="en-US" b="1" dirty="0"/>
              <a:t>/soc/npu@40003000</a:t>
            </a:r>
          </a:p>
          <a:p>
            <a:r>
              <a:rPr lang="en-US" dirty="0"/>
              <a:t>/ {</a:t>
            </a:r>
          </a:p>
          <a:p>
            <a:r>
              <a:rPr lang="en-US" dirty="0"/>
              <a:t>	soc {</a:t>
            </a:r>
          </a:p>
          <a:p>
            <a:r>
              <a:rPr lang="en-US" dirty="0"/>
              <a:t>		npu0: npu@40003000 {</a:t>
            </a:r>
          </a:p>
          <a:p>
            <a:r>
              <a:rPr lang="en-US" dirty="0"/>
              <a:t>			compatible = "</a:t>
            </a:r>
            <a:r>
              <a:rPr lang="en-US" dirty="0" err="1"/>
              <a:t>nuvoton,numaker-npu</a:t>
            </a:r>
            <a:r>
              <a:rPr lang="en-US" dirty="0"/>
              <a:t>";</a:t>
            </a:r>
          </a:p>
          <a:p>
            <a:r>
              <a:rPr lang="en-US" dirty="0"/>
              <a:t>			reg = &lt; 0x40003000 0x1000 &gt;;</a:t>
            </a:r>
          </a:p>
          <a:p>
            <a:r>
              <a:rPr lang="en-US" dirty="0"/>
              <a:t>			interrupts = &lt; 0xd 0x0 &gt;;</a:t>
            </a:r>
          </a:p>
          <a:p>
            <a:r>
              <a:rPr lang="en-US" dirty="0"/>
              <a:t>			resets = &lt; &amp;</a:t>
            </a:r>
            <a:r>
              <a:rPr lang="en-US" dirty="0" err="1"/>
              <a:t>rst</a:t>
            </a:r>
            <a:r>
              <a:rPr lang="en-US" dirty="0"/>
              <a:t> 0x400006 &gt;;</a:t>
            </a:r>
          </a:p>
          <a:p>
            <a:r>
              <a:rPr lang="en-US" dirty="0"/>
              <a:t>		c	locks = &lt; &amp;</a:t>
            </a:r>
            <a:r>
              <a:rPr lang="en-US" dirty="0" err="1"/>
              <a:t>pcc</a:t>
            </a:r>
            <a:r>
              <a:rPr lang="en-US" dirty="0"/>
              <a:t> 0x3d 0x0 </a:t>
            </a:r>
            <a:r>
              <a:rPr lang="en-US" dirty="0" err="1"/>
              <a:t>0x0</a:t>
            </a:r>
            <a:r>
              <a:rPr lang="en-US" dirty="0"/>
              <a:t> &gt;;</a:t>
            </a:r>
          </a:p>
          <a:p>
            <a:r>
              <a:rPr lang="en-US" dirty="0"/>
              <a:t>			secure-enable;</a:t>
            </a:r>
          </a:p>
          <a:p>
            <a:r>
              <a:rPr lang="en-US" dirty="0"/>
              <a:t>			privilege-enable;</a:t>
            </a:r>
          </a:p>
          <a:p>
            <a:r>
              <a:rPr lang="en-US" dirty="0"/>
              <a:t>			status = "okay";</a:t>
            </a:r>
          </a:p>
          <a:p>
            <a:r>
              <a:rPr lang="en-US" dirty="0"/>
              <a:t>		};</a:t>
            </a:r>
          </a:p>
        </p:txBody>
      </p:sp>
    </p:spTree>
    <p:extLst>
      <p:ext uri="{BB962C8B-B14F-4D97-AF65-F5344CB8AC3E}">
        <p14:creationId xmlns:p14="http://schemas.microsoft.com/office/powerpoint/2010/main" val="764801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5B23-6A33-C2AC-597D-380509C4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C8162F-5B82-B281-2E88-3882A1944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86696"/>
            <a:ext cx="10344336" cy="1076360"/>
          </a:xfrm>
        </p:spPr>
        <p:txBody>
          <a:bodyPr>
            <a:normAutofit/>
          </a:bodyPr>
          <a:lstStyle/>
          <a:p>
            <a:r>
              <a:rPr lang="en-US" dirty="0"/>
              <a:t>C macro header file</a:t>
            </a:r>
          </a:p>
          <a:p>
            <a:pPr lvl="1"/>
            <a:r>
              <a:rPr lang="en-US" dirty="0"/>
              <a:t>build/zephyr/include/generated/zephyr/</a:t>
            </a:r>
            <a:r>
              <a:rPr lang="en-US" dirty="0" err="1"/>
              <a:t>devicetree_generated.h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7A494-5A3E-8E4D-ED7D-C1DE90053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CC822-B073-7B82-C0F4-12D71CFB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Generated files (2/2)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F3523-2789-F740-A131-0C977602701E}"/>
              </a:ext>
            </a:extLst>
          </p:cNvPr>
          <p:cNvSpPr txBox="1"/>
          <p:nvPr/>
        </p:nvSpPr>
        <p:spPr>
          <a:xfrm>
            <a:off x="864769" y="2476070"/>
            <a:ext cx="9775608" cy="4093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build/zephyr/include/generated/zephyr/</a:t>
            </a:r>
            <a:r>
              <a:rPr lang="en-US" sz="2000" b="1" dirty="0" err="1"/>
              <a:t>devicetree_generated.h</a:t>
            </a:r>
            <a:endParaRPr lang="en-US" sz="2000" b="1" dirty="0"/>
          </a:p>
          <a:p>
            <a:r>
              <a:rPr lang="en-US" sz="2000" b="1" dirty="0"/>
              <a:t>/soc/npu@40003000</a:t>
            </a:r>
          </a:p>
          <a:p>
            <a:r>
              <a:rPr lang="en-US" sz="2000" dirty="0"/>
              <a:t>/*</a:t>
            </a:r>
          </a:p>
          <a:p>
            <a:r>
              <a:rPr lang="en-US" sz="2000" dirty="0"/>
              <a:t> * </a:t>
            </a:r>
            <a:r>
              <a:rPr lang="en-US" sz="2000" dirty="0" err="1"/>
              <a:t>Devicetree</a:t>
            </a:r>
            <a:r>
              <a:rPr lang="en-US" sz="2000" dirty="0"/>
              <a:t> node: /soc/npu@40003000</a:t>
            </a:r>
          </a:p>
          <a:p>
            <a:r>
              <a:rPr lang="en-US" sz="2000" dirty="0"/>
              <a:t> */</a:t>
            </a:r>
          </a:p>
          <a:p>
            <a:endParaRPr lang="en-US" sz="2000" dirty="0"/>
          </a:p>
          <a:p>
            <a:r>
              <a:rPr lang="en-US" sz="2000" dirty="0"/>
              <a:t>/* Node's full path: */</a:t>
            </a:r>
          </a:p>
          <a:p>
            <a:r>
              <a:rPr lang="en-US" sz="2000" dirty="0"/>
              <a:t>#define DT_N_S_soc_S_npu_40003000_PATH "/soc/npu@40003000"</a:t>
            </a:r>
          </a:p>
          <a:p>
            <a:endParaRPr lang="en-US" sz="2000" dirty="0"/>
          </a:p>
          <a:p>
            <a:r>
              <a:rPr lang="en-US" sz="2000" dirty="0"/>
              <a:t>/* Node's name with unit-address: */</a:t>
            </a:r>
          </a:p>
          <a:p>
            <a:r>
              <a:rPr lang="en-US" sz="2000" dirty="0"/>
              <a:t>#define DT_N_S_soc_S_npu_40003000_FULL_NAME "npu@40003000"</a:t>
            </a:r>
          </a:p>
          <a:p>
            <a:r>
              <a:rPr lang="en-US" sz="2000" dirty="0"/>
              <a:t>#define DT_N_S_soc_S_npu_40003000_FULL_NAME_UNQUOTED npu@40003000</a:t>
            </a:r>
          </a:p>
          <a:p>
            <a:r>
              <a:rPr lang="en-US" sz="2000" dirty="0"/>
              <a:t>#define DT_N_S_soc_S_npu_40003000_FULL_NAME_TOKEN npu_40003000</a:t>
            </a:r>
          </a:p>
        </p:txBody>
      </p:sp>
    </p:spTree>
    <p:extLst>
      <p:ext uri="{BB962C8B-B14F-4D97-AF65-F5344CB8AC3E}">
        <p14:creationId xmlns:p14="http://schemas.microsoft.com/office/powerpoint/2010/main" val="3236006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4AE5-56D9-A257-CBB9-8F3F1191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506BB-FAC6-742C-E36A-38ED05165B06}"/>
              </a:ext>
            </a:extLst>
          </p:cNvPr>
          <p:cNvSpPr txBox="1"/>
          <p:nvPr/>
        </p:nvSpPr>
        <p:spPr>
          <a:xfrm>
            <a:off x="4839129" y="1200051"/>
            <a:ext cx="7161088" cy="3170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build/zephyr/</a:t>
            </a:r>
            <a:r>
              <a:rPr lang="en-US" sz="2000" b="1" dirty="0" err="1"/>
              <a:t>zephyr.dts</a:t>
            </a:r>
            <a:endParaRPr lang="en-US" sz="2000" b="1" dirty="0"/>
          </a:p>
          <a:p>
            <a:r>
              <a:rPr lang="en-US" sz="2000" dirty="0"/>
              <a:t>/ {</a:t>
            </a:r>
          </a:p>
          <a:p>
            <a:r>
              <a:rPr lang="en-US" sz="2000" dirty="0"/>
              <a:t>	soc {</a:t>
            </a:r>
          </a:p>
          <a:p>
            <a:r>
              <a:rPr lang="en-US" sz="2000" dirty="0"/>
              <a:t>		npu0: npu@40003000 {</a:t>
            </a:r>
          </a:p>
          <a:p>
            <a:r>
              <a:rPr lang="en-US" sz="2000" dirty="0"/>
              <a:t>			compatible = "</a:t>
            </a:r>
            <a:r>
              <a:rPr lang="en-US" sz="2000" dirty="0" err="1"/>
              <a:t>nuvoton,numaker-npu</a:t>
            </a:r>
            <a:r>
              <a:rPr lang="en-US" sz="2000" dirty="0"/>
              <a:t>";</a:t>
            </a:r>
          </a:p>
          <a:p>
            <a:r>
              <a:rPr lang="en-US" sz="2000" dirty="0"/>
              <a:t>			</a:t>
            </a:r>
            <a:r>
              <a:rPr lang="en-US" sz="2000" dirty="0">
                <a:solidFill>
                  <a:srgbClr val="0070C0"/>
                </a:solidFill>
              </a:rPr>
              <a:t>reg = &lt; 0x40003000 0x1000 &gt;;</a:t>
            </a:r>
          </a:p>
          <a:p>
            <a:r>
              <a:rPr lang="en-US" sz="2000" dirty="0"/>
              <a:t>			interrupts = &lt; 0xd 0x0 &gt;;</a:t>
            </a:r>
          </a:p>
          <a:p>
            <a:r>
              <a:rPr lang="en-US" sz="2000" dirty="0"/>
              <a:t>			…		};</a:t>
            </a:r>
          </a:p>
          <a:p>
            <a:r>
              <a:rPr lang="en-US" sz="2000" dirty="0"/>
              <a:t>	};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8B218-02E5-1157-AC52-271233585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8B3220-08E3-41D3-480F-D9167E16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How to access (1/2)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BC82B-2A14-0635-656F-104556E0FBBE}"/>
              </a:ext>
            </a:extLst>
          </p:cNvPr>
          <p:cNvSpPr txBox="1"/>
          <p:nvPr/>
        </p:nvSpPr>
        <p:spPr>
          <a:xfrm>
            <a:off x="637025" y="4979760"/>
            <a:ext cx="1087859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build/zephyr/include/generated/zephyr/</a:t>
            </a:r>
            <a:r>
              <a:rPr lang="en-US" sz="2000" b="1" dirty="0" err="1"/>
              <a:t>devicetree_generated.h</a:t>
            </a:r>
            <a:endParaRPr lang="en-US" sz="2000" b="1" dirty="0"/>
          </a:p>
          <a:p>
            <a:r>
              <a:rPr lang="pt-BR" sz="2000" dirty="0"/>
              <a:t>#define DT_N_S_soc_S_npu_40003000_P_reg {1073754112 /* 0x40003000 */, 4096 /* 0x1000 */}</a:t>
            </a:r>
            <a:endParaRPr lang="en-US" sz="2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DB4527-D143-B8A0-B545-3D6082DFE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45" y="1245599"/>
            <a:ext cx="4890161" cy="3182562"/>
          </a:xfrm>
        </p:spPr>
        <p:txBody>
          <a:bodyPr>
            <a:normAutofit/>
          </a:bodyPr>
          <a:lstStyle/>
          <a:p>
            <a:r>
              <a:rPr lang="en-US" dirty="0"/>
              <a:t>Decode  generated C macro</a:t>
            </a:r>
          </a:p>
          <a:p>
            <a:pPr lvl="1"/>
            <a:r>
              <a:rPr lang="en-US" dirty="0"/>
              <a:t>DT_: Common prefix for </a:t>
            </a:r>
            <a:r>
              <a:rPr lang="en-US" dirty="0" err="1"/>
              <a:t>Devicetree</a:t>
            </a:r>
            <a:r>
              <a:rPr lang="en-US" dirty="0"/>
              <a:t> macros</a:t>
            </a:r>
          </a:p>
          <a:p>
            <a:pPr lvl="1"/>
            <a:r>
              <a:rPr lang="en-US" dirty="0"/>
              <a:t>_S_ : Forward slash ‘/’</a:t>
            </a:r>
          </a:p>
          <a:p>
            <a:pPr lvl="1"/>
            <a:r>
              <a:rPr lang="en-US" dirty="0"/>
              <a:t>_N_ :  Node</a:t>
            </a:r>
          </a:p>
          <a:p>
            <a:pPr lvl="1"/>
            <a:r>
              <a:rPr lang="en-US" dirty="0"/>
              <a:t>_P_: Property</a:t>
            </a:r>
          </a:p>
        </p:txBody>
      </p:sp>
    </p:spTree>
    <p:extLst>
      <p:ext uri="{BB962C8B-B14F-4D97-AF65-F5344CB8AC3E}">
        <p14:creationId xmlns:p14="http://schemas.microsoft.com/office/powerpoint/2010/main" val="695137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DA1B-28EC-07CB-7277-9754A12D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EF9ED-6C11-B79B-7A3B-D7D5FB551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9686789" cy="1024989"/>
          </a:xfrm>
        </p:spPr>
        <p:txBody>
          <a:bodyPr>
            <a:normAutofit/>
          </a:bodyPr>
          <a:lstStyle/>
          <a:p>
            <a:r>
              <a:rPr lang="en-US" dirty="0"/>
              <a:t>Can be accessed by driver, subsystem, or user application</a:t>
            </a:r>
          </a:p>
          <a:p>
            <a:r>
              <a:rPr lang="en-US" dirty="0"/>
              <a:t>Access via </a:t>
            </a:r>
            <a:r>
              <a:rPr lang="en-US" dirty="0" err="1"/>
              <a:t>Devicetree</a:t>
            </a:r>
            <a:r>
              <a:rPr lang="en-US" dirty="0"/>
              <a:t> API instead of directly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B4C1E-8B99-C8B8-A078-D12930ECE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39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3246AA-48C9-972E-51A0-DBC084032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How </a:t>
            </a:r>
            <a:r>
              <a:rPr lang="en-US"/>
              <a:t>to access </a:t>
            </a:r>
            <a:r>
              <a:rPr lang="en-US" dirty="0"/>
              <a:t>(2/2)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3291C-C70D-EDFE-2274-F0D0F369230A}"/>
              </a:ext>
            </a:extLst>
          </p:cNvPr>
          <p:cNvSpPr txBox="1"/>
          <p:nvPr/>
        </p:nvSpPr>
        <p:spPr>
          <a:xfrm>
            <a:off x="987189" y="2442301"/>
            <a:ext cx="8907694" cy="3170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zephyr/drivers/</a:t>
            </a:r>
            <a:r>
              <a:rPr lang="en-US" sz="2000" b="1" dirty="0" err="1"/>
              <a:t>misc</a:t>
            </a:r>
            <a:r>
              <a:rPr lang="en-US" sz="2000" b="1" dirty="0"/>
              <a:t>/</a:t>
            </a:r>
            <a:r>
              <a:rPr lang="en-US" sz="2000" b="1" dirty="0" err="1"/>
              <a:t>ethos_u</a:t>
            </a:r>
            <a:r>
              <a:rPr lang="en-US" sz="2000" b="1" dirty="0"/>
              <a:t>/</a:t>
            </a:r>
            <a:r>
              <a:rPr lang="en-US" sz="2000" b="1" dirty="0" err="1"/>
              <a:t>ethos_u_numaker.c</a:t>
            </a:r>
            <a:endParaRPr lang="en-US" sz="2000" b="1" dirty="0"/>
          </a:p>
          <a:p>
            <a:r>
              <a:rPr lang="en-US" sz="2000" dirty="0"/>
              <a:t>static const struct </a:t>
            </a:r>
            <a:r>
              <a:rPr lang="en-US" sz="2000" dirty="0" err="1"/>
              <a:t>ethos_u_numaker_config</a:t>
            </a:r>
            <a:r>
              <a:rPr lang="en-US" sz="2000" dirty="0"/>
              <a:t> </a:t>
            </a:r>
            <a:r>
              <a:rPr lang="en-US" sz="2000" dirty="0" err="1"/>
              <a:t>ethos_u_numaker_config</a:t>
            </a:r>
            <a:r>
              <a:rPr lang="en-US" sz="2000" dirty="0"/>
              <a:t>_##</a:t>
            </a:r>
            <a:r>
              <a:rPr lang="en-US" sz="2000" dirty="0" err="1"/>
              <a:t>inst</a:t>
            </a:r>
            <a:r>
              <a:rPr lang="en-US" sz="2000" dirty="0"/>
              <a:t> = {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base_addr</a:t>
            </a:r>
            <a:r>
              <a:rPr lang="en-US" sz="2000" dirty="0"/>
              <a:t> = (void *)</a:t>
            </a:r>
            <a:r>
              <a:rPr lang="en-US" sz="2000" dirty="0">
                <a:solidFill>
                  <a:srgbClr val="0070C0"/>
                </a:solidFill>
              </a:rPr>
              <a:t>DT_INST_REG_ADDR</a:t>
            </a:r>
            <a:r>
              <a:rPr lang="en-US" sz="2000" dirty="0"/>
              <a:t>(</a:t>
            </a:r>
            <a:r>
              <a:rPr lang="en-US" sz="2000" dirty="0" err="1"/>
              <a:t>inst</a:t>
            </a:r>
            <a:r>
              <a:rPr lang="en-US" sz="2000" dirty="0"/>
              <a:t>),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clkctrl_dev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0070C0"/>
                </a:solidFill>
              </a:rPr>
              <a:t>DEVICE_DT_GET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70C0"/>
                </a:solidFill>
              </a:rPr>
              <a:t>DT_PARENT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70C0"/>
                </a:solidFill>
              </a:rPr>
              <a:t>DT_INST_CLOCKS_CTLR</a:t>
            </a:r>
            <a:r>
              <a:rPr lang="en-US" sz="2000" dirty="0"/>
              <a:t>(</a:t>
            </a:r>
            <a:r>
              <a:rPr lang="en-US" sz="2000" dirty="0" err="1"/>
              <a:t>inst</a:t>
            </a:r>
            <a:r>
              <a:rPr lang="en-US" sz="2000" dirty="0"/>
              <a:t>))),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pcc</a:t>
            </a:r>
            <a:r>
              <a:rPr lang="en-US" sz="2000" dirty="0"/>
              <a:t> = NUMAKER_PCC_INST_GET(</a:t>
            </a:r>
            <a:r>
              <a:rPr lang="en-US" sz="2000" dirty="0" err="1"/>
              <a:t>inst</a:t>
            </a:r>
            <a:r>
              <a:rPr lang="en-US" sz="2000" dirty="0"/>
              <a:t>),</a:t>
            </a:r>
          </a:p>
          <a:p>
            <a:r>
              <a:rPr lang="en-US" sz="2000" dirty="0"/>
              <a:t>	.reset = </a:t>
            </a:r>
            <a:r>
              <a:rPr lang="en-US" sz="2000" dirty="0">
                <a:solidFill>
                  <a:srgbClr val="0070C0"/>
                </a:solidFill>
              </a:rPr>
              <a:t>RESET_DT_SPEC_INST_GET</a:t>
            </a:r>
            <a:r>
              <a:rPr lang="en-US" sz="2000" dirty="0"/>
              <a:t>(</a:t>
            </a:r>
            <a:r>
              <a:rPr lang="en-US" sz="2000" dirty="0" err="1"/>
              <a:t>inst</a:t>
            </a:r>
            <a:r>
              <a:rPr lang="en-US" sz="2000" dirty="0"/>
              <a:t>),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irq_config</a:t>
            </a:r>
            <a:r>
              <a:rPr lang="en-US" sz="2000" dirty="0"/>
              <a:t> = </a:t>
            </a:r>
            <a:r>
              <a:rPr lang="en-US" sz="2000" dirty="0" err="1"/>
              <a:t>ethos_u_numaker_irq_config</a:t>
            </a:r>
            <a:r>
              <a:rPr lang="en-US" sz="2000" dirty="0"/>
              <a:t>_##</a:t>
            </a:r>
            <a:r>
              <a:rPr lang="en-US" sz="2000" dirty="0" err="1"/>
              <a:t>inst</a:t>
            </a:r>
            <a:r>
              <a:rPr lang="en-US" sz="2000" dirty="0"/>
              <a:t>,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secure_enable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0070C0"/>
                </a:solidFill>
              </a:rPr>
              <a:t>DT_INST_PROP</a:t>
            </a:r>
            <a:r>
              <a:rPr lang="en-US" sz="2000" dirty="0"/>
              <a:t>(</a:t>
            </a:r>
            <a:r>
              <a:rPr lang="en-US" sz="2000" dirty="0" err="1"/>
              <a:t>inst</a:t>
            </a:r>
            <a:r>
              <a:rPr lang="en-US" sz="2000" dirty="0"/>
              <a:t>, </a:t>
            </a:r>
            <a:r>
              <a:rPr lang="en-US" sz="2000" dirty="0" err="1"/>
              <a:t>secure_enable</a:t>
            </a:r>
            <a:r>
              <a:rPr lang="en-US" sz="2000" dirty="0"/>
              <a:t>),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privilege_enable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0070C0"/>
                </a:solidFill>
              </a:rPr>
              <a:t>DT_INST_PROP</a:t>
            </a:r>
            <a:r>
              <a:rPr lang="en-US" sz="2000" dirty="0"/>
              <a:t>(</a:t>
            </a:r>
            <a:r>
              <a:rPr lang="en-US" sz="2000" dirty="0" err="1"/>
              <a:t>inst</a:t>
            </a:r>
            <a:r>
              <a:rPr lang="en-US" sz="2000" dirty="0"/>
              <a:t>, </a:t>
            </a:r>
            <a:r>
              <a:rPr lang="en-US" sz="2000" dirty="0" err="1"/>
              <a:t>privilege_enable</a:t>
            </a:r>
            <a:r>
              <a:rPr lang="en-US" sz="2000" dirty="0"/>
              <a:t>),</a:t>
            </a:r>
          </a:p>
          <a:p>
            <a:r>
              <a:rPr lang="en-US" sz="2000" dirty="0"/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470439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81345"/>
      </p:ext>
    </p:extLst>
  </p:cSld>
  <p:clrMapOvr>
    <a:masterClrMapping/>
  </p:clrMapOvr>
</p:sld>
</file>

<file path=ppt/theme/theme1.xml><?xml version="1.0" encoding="utf-8"?>
<a:theme xmlns:a="http://schemas.openxmlformats.org/drawingml/2006/main" name="A001 PPT 佈景主題_202501">
  <a:themeElements>
    <a:clrScheme name="自訂1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D00600"/>
      </a:accent1>
      <a:accent2>
        <a:srgbClr val="284696"/>
      </a:accent2>
      <a:accent3>
        <a:srgbClr val="537344"/>
      </a:accent3>
      <a:accent4>
        <a:srgbClr val="FFA100"/>
      </a:accent4>
      <a:accent5>
        <a:srgbClr val="A66844"/>
      </a:accent5>
      <a:accent6>
        <a:srgbClr val="A0B3BF"/>
      </a:accent6>
      <a:hlink>
        <a:srgbClr val="E84F30"/>
      </a:hlink>
      <a:folHlink>
        <a:srgbClr val="16749F"/>
      </a:folHlink>
    </a:clrScheme>
    <a:fontScheme name="Nuvoton 2020">
      <a:majorFont>
        <a:latin typeface="Segoe U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001 PPT 佈景主題_202501" id="{46A8BD96-5903-45A6-A9D9-500AD3774B1C}" vid="{B5AF5F53-3EA3-4F9E-80A7-D02C0E4B1CC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3B4ACE6937F4995CB7C1A87442A3E" ma:contentTypeVersion="16" ma:contentTypeDescription="Create a new document." ma:contentTypeScope="" ma:versionID="d62a89e2b1aaf89497932f6df240802d">
  <xsd:schema xmlns:xsd="http://www.w3.org/2001/XMLSchema" xmlns:xs="http://www.w3.org/2001/XMLSchema" xmlns:p="http://schemas.microsoft.com/office/2006/metadata/properties" xmlns:ns2="a5482511-e9fe-4cb3-9ef7-aefecb10923f" xmlns:ns3="f5fd215c-a211-49bf-b28a-283d712b929e" targetNamespace="http://schemas.microsoft.com/office/2006/metadata/properties" ma:root="true" ma:fieldsID="d335957dfabf6fe462ea6db3ba618fbc" ns2:_="" ns3:_="">
    <xsd:import namespace="a5482511-e9fe-4cb3-9ef7-aefecb10923f"/>
    <xsd:import namespace="f5fd215c-a211-49bf-b28a-283d712b92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482511-e9fe-4cb3-9ef7-aefecb1092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fd215c-a211-49bf-b28a-283d712b929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02847bd-7afd-439d-b4ae-465a214bc4f7}" ma:internalName="TaxCatchAll" ma:showField="CatchAllData" ma:web="f5fd215c-a211-49bf-b28a-283d712b92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482511-e9fe-4cb3-9ef7-aefecb10923f">
      <Terms xmlns="http://schemas.microsoft.com/office/infopath/2007/PartnerControls"/>
    </lcf76f155ced4ddcb4097134ff3c332f>
    <TaxCatchAll xmlns="f5fd215c-a211-49bf-b28a-283d712b929e" xsi:nil="true"/>
  </documentManagement>
</p:properties>
</file>

<file path=customXml/itemProps1.xml><?xml version="1.0" encoding="utf-8"?>
<ds:datastoreItem xmlns:ds="http://schemas.openxmlformats.org/officeDocument/2006/customXml" ds:itemID="{7CB268B4-40E5-49C2-91AC-9512CE5474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482511-e9fe-4cb3-9ef7-aefecb10923f"/>
    <ds:schemaRef ds:uri="f5fd215c-a211-49bf-b28a-283d712b92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7AE8DC-EF05-4AD4-9E89-7525E0107C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FA9603-E736-4D94-84AE-D273E97560BB}">
  <ds:schemaRefs>
    <ds:schemaRef ds:uri="http://schemas.microsoft.com/office/2006/metadata/properties"/>
    <ds:schemaRef ds:uri="http://schemas.microsoft.com/office/infopath/2007/PartnerControls"/>
    <ds:schemaRef ds:uri="a5482511-e9fe-4cb3-9ef7-aefecb10923f"/>
    <ds:schemaRef ds:uri="f5fd215c-a211-49bf-b28a-283d712b929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A001 PPT 佈景主題_202501</Template>
  <TotalTime>13797</TotalTime>
  <Words>3600</Words>
  <Application>Microsoft Office PowerPoint</Application>
  <PresentationFormat>Widescreen</PresentationFormat>
  <Paragraphs>514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新細明體</vt:lpstr>
      <vt:lpstr>Arial</vt:lpstr>
      <vt:lpstr>Calibri</vt:lpstr>
      <vt:lpstr>Segoe UI</vt:lpstr>
      <vt:lpstr>Wingdings</vt:lpstr>
      <vt:lpstr>A001 PPT 佈景主題_202501</vt:lpstr>
      <vt:lpstr>M55M1 NPU Keyword Spotting Inference on Zephyr</vt:lpstr>
      <vt:lpstr>Overview</vt:lpstr>
      <vt:lpstr>This example code</vt:lpstr>
      <vt:lpstr>Software development flow</vt:lpstr>
      <vt:lpstr>Directory structure</vt:lpstr>
      <vt:lpstr>Application control flow</vt:lpstr>
      <vt:lpstr>Demo result</vt:lpstr>
      <vt:lpstr>Optimize the model (1/3)</vt:lpstr>
      <vt:lpstr>Optimize the model (2/3)</vt:lpstr>
      <vt:lpstr>Optimize the model (3/3)</vt:lpstr>
      <vt:lpstr>Introduce Zephyr (1/3)</vt:lpstr>
      <vt:lpstr>Introduce Zephyr (2/3)</vt:lpstr>
      <vt:lpstr>Introduce Zephyr (3/3)</vt:lpstr>
      <vt:lpstr>Install development environment (1/6)</vt:lpstr>
      <vt:lpstr>Install development environment (2/6)</vt:lpstr>
      <vt:lpstr>Install development environment (3/6)</vt:lpstr>
      <vt:lpstr>Install development environment (4/6)</vt:lpstr>
      <vt:lpstr>Install development environment (5/6)</vt:lpstr>
      <vt:lpstr>Install development environment (6/6)</vt:lpstr>
      <vt:lpstr>Build this example code</vt:lpstr>
      <vt:lpstr>Kernal configuration system (Kconfig)</vt:lpstr>
      <vt:lpstr>Kconfig: Search</vt:lpstr>
      <vt:lpstr>Kconfig: Generated merged files (1/2)</vt:lpstr>
      <vt:lpstr>Kconfig: Generated merged files (2/2)</vt:lpstr>
      <vt:lpstr>Kconfig: Define config options (1/3)</vt:lpstr>
      <vt:lpstr>Kconfig: Define config options (2/3)</vt:lpstr>
      <vt:lpstr>Kconfig: Define config options (3/3)</vt:lpstr>
      <vt:lpstr>Kconfig: Set config values (1/3)</vt:lpstr>
      <vt:lpstr>Kconfig: Set config values (2/3)</vt:lpstr>
      <vt:lpstr>Kconfig: Set config values (3/3)</vt:lpstr>
      <vt:lpstr>Devicetree</vt:lpstr>
      <vt:lpstr>Devicetree: Constituent files</vt:lpstr>
      <vt:lpstr>Devicetree: Binding</vt:lpstr>
      <vt:lpstr>Devicetree: Include tree (1/2)</vt:lpstr>
      <vt:lpstr>Devicetree: Include tree (2/2)</vt:lpstr>
      <vt:lpstr>Devicetree: Generated files (1/2)</vt:lpstr>
      <vt:lpstr>Devicetree: Generated files (2/2)</vt:lpstr>
      <vt:lpstr>Devicetree: How to access (1/2)</vt:lpstr>
      <vt:lpstr>Devicetree: How to access (2/2)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MM10 THHsu0</dc:creator>
  <cp:lastModifiedBy>MS30 CCLi8</cp:lastModifiedBy>
  <cp:revision>215</cp:revision>
  <dcterms:created xsi:type="dcterms:W3CDTF">2022-09-21T08:01:25Z</dcterms:created>
  <dcterms:modified xsi:type="dcterms:W3CDTF">2026-05-11T05:40:09Z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0x0101000773B4ACE6937F4995CB7C1A87442A3E</vt:lpwstr>
  </property>
</Properties>
</file>