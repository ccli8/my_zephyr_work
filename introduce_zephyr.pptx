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4"/>
  </p:sldMasterIdLst>
  <p:notesMasterIdLst>
    <p:notesMasterId r:id="rId60"/>
  </p:notesMasterIdLst>
  <p:handoutMasterIdLst>
    <p:handoutMasterId r:id="rId61"/>
  </p:handoutMasterIdLst>
  <p:sldIdLst>
    <p:sldId id="256" r:id="rId5"/>
    <p:sldId id="257" r:id="rId6"/>
    <p:sldId id="280" r:id="rId7"/>
    <p:sldId id="313" r:id="rId8"/>
    <p:sldId id="289" r:id="rId9"/>
    <p:sldId id="288" r:id="rId10"/>
    <p:sldId id="290" r:id="rId11"/>
    <p:sldId id="291" r:id="rId12"/>
    <p:sldId id="281" r:id="rId13"/>
    <p:sldId id="282" r:id="rId14"/>
    <p:sldId id="286" r:id="rId15"/>
    <p:sldId id="287" r:id="rId16"/>
    <p:sldId id="283" r:id="rId17"/>
    <p:sldId id="284" r:id="rId18"/>
    <p:sldId id="285" r:id="rId19"/>
    <p:sldId id="270" r:id="rId20"/>
    <p:sldId id="320" r:id="rId21"/>
    <p:sldId id="321" r:id="rId22"/>
    <p:sldId id="322" r:id="rId23"/>
    <p:sldId id="314" r:id="rId24"/>
    <p:sldId id="316" r:id="rId25"/>
    <p:sldId id="315" r:id="rId26"/>
    <p:sldId id="275" r:id="rId27"/>
    <p:sldId id="271" r:id="rId28"/>
    <p:sldId id="272" r:id="rId29"/>
    <p:sldId id="273" r:id="rId30"/>
    <p:sldId id="276" r:id="rId31"/>
    <p:sldId id="326" r:id="rId32"/>
    <p:sldId id="312" r:id="rId33"/>
    <p:sldId id="277" r:id="rId34"/>
    <p:sldId id="279" r:id="rId35"/>
    <p:sldId id="295" r:id="rId36"/>
    <p:sldId id="309" r:id="rId37"/>
    <p:sldId id="294" r:id="rId38"/>
    <p:sldId id="310" r:id="rId39"/>
    <p:sldId id="296" r:id="rId40"/>
    <p:sldId id="311" r:id="rId41"/>
    <p:sldId id="293" r:id="rId42"/>
    <p:sldId id="297" r:id="rId43"/>
    <p:sldId id="323" r:id="rId44"/>
    <p:sldId id="306" r:id="rId45"/>
    <p:sldId id="307" r:id="rId46"/>
    <p:sldId id="292" r:id="rId47"/>
    <p:sldId id="301" r:id="rId48"/>
    <p:sldId id="298" r:id="rId49"/>
    <p:sldId id="299" r:id="rId50"/>
    <p:sldId id="300" r:id="rId51"/>
    <p:sldId id="308" r:id="rId52"/>
    <p:sldId id="305" r:id="rId53"/>
    <p:sldId id="324" r:id="rId54"/>
    <p:sldId id="325" r:id="rId55"/>
    <p:sldId id="302" r:id="rId56"/>
    <p:sldId id="303" r:id="rId57"/>
    <p:sldId id="304" r:id="rId58"/>
    <p:sldId id="258" r:id="rId5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6138571-664C-4D21-94AF-9601BA7B8CFF}">
          <p14:sldIdLst>
            <p14:sldId id="256"/>
            <p14:sldId id="257"/>
            <p14:sldId id="280"/>
            <p14:sldId id="313"/>
            <p14:sldId id="289"/>
            <p14:sldId id="288"/>
            <p14:sldId id="290"/>
            <p14:sldId id="291"/>
            <p14:sldId id="281"/>
            <p14:sldId id="282"/>
            <p14:sldId id="286"/>
            <p14:sldId id="287"/>
            <p14:sldId id="283"/>
            <p14:sldId id="284"/>
            <p14:sldId id="285"/>
            <p14:sldId id="270"/>
            <p14:sldId id="320"/>
            <p14:sldId id="321"/>
            <p14:sldId id="322"/>
            <p14:sldId id="314"/>
            <p14:sldId id="316"/>
            <p14:sldId id="315"/>
            <p14:sldId id="275"/>
            <p14:sldId id="271"/>
            <p14:sldId id="272"/>
            <p14:sldId id="273"/>
            <p14:sldId id="276"/>
            <p14:sldId id="326"/>
            <p14:sldId id="312"/>
            <p14:sldId id="277"/>
            <p14:sldId id="279"/>
            <p14:sldId id="295"/>
            <p14:sldId id="309"/>
            <p14:sldId id="294"/>
            <p14:sldId id="310"/>
            <p14:sldId id="296"/>
            <p14:sldId id="311"/>
            <p14:sldId id="293"/>
            <p14:sldId id="297"/>
            <p14:sldId id="323"/>
            <p14:sldId id="306"/>
            <p14:sldId id="307"/>
            <p14:sldId id="292"/>
            <p14:sldId id="301"/>
            <p14:sldId id="298"/>
            <p14:sldId id="299"/>
            <p14:sldId id="300"/>
            <p14:sldId id="308"/>
            <p14:sldId id="305"/>
            <p14:sldId id="324"/>
            <p14:sldId id="325"/>
            <p14:sldId id="302"/>
            <p14:sldId id="303"/>
            <p14:sldId id="304"/>
            <p14:sldId id="258"/>
          </p14:sldIdLst>
        </p14:section>
        <p14:section name="Additional Information" id="{8EADF896-4E20-4999-9B36-8DE6D01A8B2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31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07" autoAdjust="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>
        <p:guide orient="horz" pos="368"/>
        <p:guide pos="31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32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4523C-93D7-4A0A-BEC4-439D34CEA7AB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83A95-F53E-43F4-AFE2-F0A15597D3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633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B0F79-B699-4208-89E2-0831E76A0867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5F891-54F7-42E3-8809-510150EA1D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98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9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31619" cy="8544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31619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33963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570"/>
            <a:ext cx="12185650" cy="6850859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36C54C-19CB-D1F1-0330-D6A8486F30E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12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7642" y="1245600"/>
            <a:ext cx="10957361" cy="4932000"/>
          </a:xfrm>
        </p:spPr>
        <p:txBody>
          <a:bodyPr/>
          <a:lstStyle>
            <a:lvl1pPr marL="360000" indent="-360000">
              <a:buFont typeface="Wingdings" panose="05000000000000000000" pitchFamily="2" charset="2"/>
              <a:buChar char="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3"/>
            <a:r>
              <a:rPr lang="en-US" altLang="zh-TW" dirty="0"/>
              <a:t>Fourth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4"/>
            <a:r>
              <a:rPr lang="en-US" altLang="zh-TW" dirty="0"/>
              <a:t>Fifth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558E8124-8DB7-4956-9C91-68FF36F1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738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7642" y="1593173"/>
            <a:ext cx="10957361" cy="4583790"/>
          </a:xfrm>
        </p:spPr>
        <p:txBody>
          <a:bodyPr/>
          <a:lstStyle>
            <a:lvl1pPr marL="360000" indent="-360000">
              <a:buFont typeface="Wingdings" panose="05000000000000000000" pitchFamily="2" charset="2"/>
              <a:buChar char="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3"/>
            <a:r>
              <a:rPr lang="en-US" altLang="zh-TW" dirty="0"/>
              <a:t>Fourth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4"/>
            <a:r>
              <a:rPr lang="en-US" altLang="zh-TW" dirty="0"/>
              <a:t>Fifth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9BA48E2-E83D-4D3A-A2D6-CE5BD1D01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185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Pag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9BA48E2-E83D-4D3A-A2D6-CE5BD1D01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958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01BE97-9A49-4992-9869-0324A3B22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879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il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664E3AD4-0485-4634-A217-22377C19C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81053" y="474785"/>
            <a:ext cx="363244" cy="668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281053" y="474785"/>
            <a:ext cx="363244" cy="668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17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398"/>
            <a:ext cx="12185649" cy="685720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58252" cy="854476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58252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24438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89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5650" cy="685720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58252" cy="854476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58252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24438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D74B37D-210D-474B-A627-8E49D841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98"/>
            <a:ext cx="12185650" cy="6857203"/>
          </a:xfrm>
          <a:prstGeom prst="rect">
            <a:avLst/>
          </a:prstGeom>
        </p:spPr>
      </p:pic>
      <p:sp>
        <p:nvSpPr>
          <p:cNvPr id="12" name="TextBox 6"/>
          <p:cNvSpPr txBox="1"/>
          <p:nvPr/>
        </p:nvSpPr>
        <p:spPr>
          <a:xfrm>
            <a:off x="1961919" y="656347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bg2"/>
                </a:solidFill>
              </a:rPr>
              <a:t>|</a:t>
            </a:r>
            <a:r>
              <a:rPr lang="zh-TW" altLang="en-US" sz="800" dirty="0">
                <a:solidFill>
                  <a:schemeClr val="bg2"/>
                </a:solidFill>
              </a:rPr>
              <a:t>  </a:t>
            </a:r>
            <a:r>
              <a:rPr lang="en-US" altLang="zh-TW" sz="800" dirty="0">
                <a:solidFill>
                  <a:schemeClr val="bg2"/>
                </a:solidFill>
              </a:rPr>
              <a:t>Photo by Jeffery Cheng</a:t>
            </a:r>
            <a:endParaRPr lang="zh-TW" altLang="en-US" sz="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16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666"/>
            <a:ext cx="12189631" cy="6856667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7642" y="1245600"/>
            <a:ext cx="10957361" cy="49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2"/>
            <a:r>
              <a:rPr lang="en-US" altLang="zh-TW" dirty="0"/>
              <a:t>Third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3"/>
            <a:r>
              <a:rPr lang="en-US" altLang="zh-TW" dirty="0"/>
              <a:t>Fourth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  <a:p>
            <a:pPr lvl="4"/>
            <a:r>
              <a:rPr lang="en-US" altLang="zh-TW" dirty="0"/>
              <a:t>Fifth</a:t>
            </a:r>
            <a:r>
              <a:rPr lang="zh-TW" altLang="en-US" dirty="0"/>
              <a:t> </a:t>
            </a:r>
            <a:r>
              <a:rPr lang="en-US" altLang="zh-TW" dirty="0"/>
              <a:t>Level</a:t>
            </a:r>
            <a:endParaRPr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0E5BEEE7-7DE1-4B64-90D6-23048016A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6012" y="6479326"/>
            <a:ext cx="2114648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TW" sz="700" b="0" dirty="0">
                <a:solidFill>
                  <a:schemeClr val="bg1"/>
                </a:solidFill>
              </a:rPr>
              <a:t>Copyright © 2026 Nuvoton Technology Corporation</a:t>
            </a:r>
            <a:endParaRPr lang="zh-TW" altLang="en-US" sz="7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41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Secur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53722BE-0F73-47FB-8E53-DED44C41822C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3" b="-93"/>
          <a:stretch/>
        </p:blipFill>
        <p:spPr>
          <a:xfrm>
            <a:off x="-2" y="0"/>
            <a:ext cx="12192001" cy="68580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67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I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53722BE-0F73-47FB-8E53-DED44C4182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0436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H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53722BE-0F73-47FB-8E53-DED44C4182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7981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Smart 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9350" y="0"/>
            <a:ext cx="7232650" cy="68580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066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4248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Aut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836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NuDeveloper Ecosystem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028716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slide_NuDeveloper Ecosystem_B2_Section Divider slide_Aut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BE7AB7C-DAFF-4B4D-B55B-05409FE2B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814622"/>
            <a:ext cx="5861913" cy="1668999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Edit Divider Page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293A2F-19D5-4F50-9797-DFCAE9A97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56574"/>
            <a:ext cx="5861913" cy="415320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907992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Developer Ecosystem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569DCAAA-3AB4-CA71-C3A4-C91D9791C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0109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Developer Ecosystem_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BA6B7701-0EC5-68F8-C155-9B65FE5C0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334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Developer Ecosystem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8103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5600"/>
            <a:ext cx="5328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245600"/>
            <a:ext cx="5328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BDE449A8-E4DC-4634-A199-6CF6A11D9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3019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593173"/>
            <a:ext cx="5328000" cy="45837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593172"/>
            <a:ext cx="5328000" cy="45837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B40520E4-0138-48EE-9AB4-E240298B8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3836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7642" y="1773718"/>
            <a:ext cx="5328000" cy="440324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13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773718"/>
            <a:ext cx="5328000" cy="440324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8DAF06-C3FA-44B7-89ED-D0B60B97640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7643" y="1234574"/>
            <a:ext cx="5328000" cy="514903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5FD14B-590A-4C0E-A141-086044AF96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7001" y="1234574"/>
            <a:ext cx="5328002" cy="514903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F2BC82B3-96AB-467F-8272-268924870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3744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+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5600"/>
            <a:ext cx="5328000" cy="244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245600"/>
            <a:ext cx="5328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674D9F5-6ABB-419C-B3B1-B082E83A751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7642" y="3729600"/>
            <a:ext cx="5328000" cy="244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D4448000-C536-47E5-9FDD-DA874EDB6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7229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Narrow &amp;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5600"/>
            <a:ext cx="3760942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14369" y="1245600"/>
            <a:ext cx="7040634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2CAAF8C9-1115-4841-A234-2EA2CBC22BA8}"/>
              </a:ext>
            </a:extLst>
          </p:cNvPr>
          <p:cNvCxnSpPr/>
          <p:nvPr/>
        </p:nvCxnSpPr>
        <p:spPr>
          <a:xfrm>
            <a:off x="4436477" y="1245600"/>
            <a:ext cx="0" cy="4932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AD952F02-657D-4DB1-87AE-2B5CD1B63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26002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_Wide &amp;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7642" y="1245600"/>
            <a:ext cx="7090943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7912" y="1245600"/>
            <a:ext cx="3637091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2CAAF8C9-1115-4841-A234-2EA2CBC22BA8}"/>
              </a:ext>
            </a:extLst>
          </p:cNvPr>
          <p:cNvCxnSpPr/>
          <p:nvPr/>
        </p:nvCxnSpPr>
        <p:spPr>
          <a:xfrm>
            <a:off x="7803249" y="1245600"/>
            <a:ext cx="0" cy="4932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97156610-B3A9-45EE-821E-E28613A76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8720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32F9ACB-66D7-4C30-A2E2-7C359B455C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7642" y="1245600"/>
            <a:ext cx="3420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B05D73E3-7AD3-4D7F-ADEC-F4CD4CC2C6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59578" y="1245600"/>
            <a:ext cx="3420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9" name="內容版面配置區 6">
            <a:extLst>
              <a:ext uri="{FF2B5EF4-FFF2-40B4-BE49-F238E27FC236}">
                <a16:creationId xmlns:a16="http://schemas.microsoft.com/office/drawing/2014/main" id="{F7B33BF8-2CD3-4C85-9760-4E5A3805C17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35003" y="1245600"/>
            <a:ext cx="3420000" cy="4932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B0A62C31-8AFB-4D59-8233-972D505A1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3169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F18B1B-5C60-4BE8-B7ED-D048689753F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7642" y="1246290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72B99-057C-48F6-963F-267463F12D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03" y="1246290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674D9F5-6ABB-419C-B3B1-B082E83A751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7642" y="3806921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707BD5B9-91F2-421E-A8E9-C6444AD5786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27003" y="3806921"/>
            <a:ext cx="5328000" cy="237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22C62981-E64C-448C-80D5-29C05DCFF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3080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32F9ACB-66D7-4C30-A2E2-7C359B455C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7642" y="1244933"/>
            <a:ext cx="2520000" cy="493202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</p:txBody>
      </p:sp>
      <p:sp>
        <p:nvSpPr>
          <p:cNvPr id="9" name="內容版面配置區 6">
            <a:extLst>
              <a:ext uri="{FF2B5EF4-FFF2-40B4-BE49-F238E27FC236}">
                <a16:creationId xmlns:a16="http://schemas.microsoft.com/office/drawing/2014/main" id="{F7B33BF8-2CD3-4C85-9760-4E5A3805C17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22550" y="1244907"/>
            <a:ext cx="2520000" cy="49313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2FA7D46A-803C-446B-AA11-836050D8F1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0096" y="1244907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0" name="圖片版面配置區 3">
            <a:extLst>
              <a:ext uri="{FF2B5EF4-FFF2-40B4-BE49-F238E27FC236}">
                <a16:creationId xmlns:a16="http://schemas.microsoft.com/office/drawing/2014/main" id="{CC42CAF4-103D-42E8-8CF6-B19EF1F88EB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10096" y="3734026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1" name="圖片版面配置區 3">
            <a:extLst>
              <a:ext uri="{FF2B5EF4-FFF2-40B4-BE49-F238E27FC236}">
                <a16:creationId xmlns:a16="http://schemas.microsoft.com/office/drawing/2014/main" id="{95406CC7-8CFF-4327-9DC7-19E3B2055FA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35003" y="1244907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2" name="圖片版面配置區 3">
            <a:extLst>
              <a:ext uri="{FF2B5EF4-FFF2-40B4-BE49-F238E27FC236}">
                <a16:creationId xmlns:a16="http://schemas.microsoft.com/office/drawing/2014/main" id="{03E3BC20-3791-49AA-845A-DDA6EF605E2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35003" y="3734026"/>
            <a:ext cx="2520000" cy="2448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altLang="zh-TW" dirty="0"/>
              <a:t>Click icon to add picture</a:t>
            </a:r>
            <a:endParaRPr lang="zh-TW" altLang="en-US" dirty="0"/>
          </a:p>
        </p:txBody>
      </p:sp>
      <p:sp>
        <p:nvSpPr>
          <p:cNvPr id="16" name="投影片編號版面配置區 5">
            <a:extLst>
              <a:ext uri="{FF2B5EF4-FFF2-40B4-BE49-F238E27FC236}">
                <a16:creationId xmlns:a16="http://schemas.microsoft.com/office/drawing/2014/main" id="{8AAAA608-9EEC-48F2-9E8B-EC3AA6B58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5816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0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53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429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429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9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40FD1-7F9C-4A08-9F6D-48CA8C3A7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905" y="2530134"/>
            <a:ext cx="6631619" cy="854476"/>
          </a:xfrm>
        </p:spPr>
        <p:txBody>
          <a:bodyPr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Click to Edit Mater 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EF8EA-DF01-4195-ABD3-385C4F7A1A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905" y="3429000"/>
            <a:ext cx="6631619" cy="8544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5EEC03FC-D52A-4480-B1D3-5EB0DFF46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350" y="4572000"/>
            <a:ext cx="3506788" cy="44388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8E79375-274F-43DE-B2A2-2A1C1852E8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5033963"/>
            <a:ext cx="3516313" cy="3635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BC90045-30A5-491B-87E6-3CFE2A34FE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3570"/>
            <a:ext cx="12185650" cy="6850859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2012719" y="6544420"/>
            <a:ext cx="155337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zh-TW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TW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 by Jeffery Cheng</a:t>
            </a:r>
            <a:endParaRPr lang="zh-TW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4882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Page_w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F61DD94-B449-42CC-9B36-FC488E844CD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7642" y="1116774"/>
            <a:ext cx="10957361" cy="324000"/>
          </a:xfrm>
        </p:spPr>
        <p:txBody>
          <a:bodyPr anchor="ctr">
            <a:noAutofit/>
          </a:bodyPr>
          <a:lstStyle>
            <a:lvl1pPr marL="0" indent="0">
              <a:buFont typeface="Wingdings" panose="05000000000000000000" pitchFamily="2" charset="2"/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Click to Edit Subtitle</a:t>
            </a:r>
            <a:endParaRPr lang="zh-TW" altLang="en-US" dirty="0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9BA48E2-E83D-4D3A-A2D6-CE5BD1D01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ED455B6-A58D-49AB-93AA-B6F9D5F76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42" y="511200"/>
            <a:ext cx="10957361" cy="51490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966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1714"/>
            <a:ext cx="12188952" cy="6856286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D2440D-877F-44FA-AED5-6390A0F0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42" y="511142"/>
            <a:ext cx="10957361" cy="5149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dirty="0"/>
              <a:t>Click to Edit Master 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4678F6-E637-40A5-AAC9-63D16BE7A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642" y="1245600"/>
            <a:ext cx="10957361" cy="493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Click to Edit Master Text Style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  <a:p>
            <a:pPr lvl="3"/>
            <a:r>
              <a:rPr lang="en-US" altLang="zh-TW" dirty="0"/>
              <a:t>Fourth Level</a:t>
            </a:r>
            <a:endParaRPr lang="zh-TW" altLang="en-US" dirty="0"/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5BEEE7-7DE1-4B64-90D6-23048016A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1053" y="6418610"/>
            <a:ext cx="363244" cy="294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+mj-lt"/>
              </a:defRPr>
            </a:lvl1pPr>
          </a:lstStyle>
          <a:p>
            <a:fld id="{C5C9BD60-7D2E-4E28-BFCB-15797064C7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828681" y="6419241"/>
            <a:ext cx="4310924" cy="3154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50" dirty="0"/>
              <a:t>NuDeveloper Ecosystem</a:t>
            </a:r>
            <a:r>
              <a:rPr lang="zh-TW" altLang="en-US" sz="1450" dirty="0"/>
              <a:t> </a:t>
            </a:r>
            <a:r>
              <a:rPr lang="en-US" altLang="zh-TW" sz="1450" dirty="0"/>
              <a:t>–</a:t>
            </a:r>
            <a:r>
              <a:rPr lang="zh-TW" altLang="en-US" sz="1450" dirty="0"/>
              <a:t> </a:t>
            </a:r>
            <a:r>
              <a:rPr lang="en-US" altLang="zh-TW" sz="1450" dirty="0"/>
              <a:t>Make</a:t>
            </a:r>
            <a:r>
              <a:rPr lang="zh-TW" altLang="en-US" sz="1450" dirty="0"/>
              <a:t> </a:t>
            </a:r>
            <a:r>
              <a:rPr lang="en-US" altLang="zh-TW" sz="1450" dirty="0"/>
              <a:t>engineers’ jobs easier.</a:t>
            </a:r>
            <a:endParaRPr lang="zh-TW" altLang="en-US" sz="1450" dirty="0"/>
          </a:p>
        </p:txBody>
      </p:sp>
      <p:sp>
        <p:nvSpPr>
          <p:cNvPr id="4" name="TextBox 3"/>
          <p:cNvSpPr txBox="1"/>
          <p:nvPr/>
        </p:nvSpPr>
        <p:spPr>
          <a:xfrm>
            <a:off x="496012" y="6479326"/>
            <a:ext cx="2114648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TW" sz="700" b="0" dirty="0"/>
              <a:t>Copyright © 2026 Nuvoton Technology Corporation</a:t>
            </a:r>
            <a:endParaRPr lang="zh-TW" altLang="en-US" sz="700" b="0" dirty="0"/>
          </a:p>
        </p:txBody>
      </p:sp>
    </p:spTree>
    <p:extLst>
      <p:ext uri="{BB962C8B-B14F-4D97-AF65-F5344CB8AC3E}">
        <p14:creationId xmlns:p14="http://schemas.microsoft.com/office/powerpoint/2010/main" val="188473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  <p:sldLayoutId id="2147483835" r:id="rId20"/>
    <p:sldLayoutId id="2147483836" r:id="rId21"/>
    <p:sldLayoutId id="2147483837" r:id="rId22"/>
    <p:sldLayoutId id="2147483838" r:id="rId23"/>
    <p:sldLayoutId id="2147483839" r:id="rId24"/>
    <p:sldLayoutId id="2147483840" r:id="rId25"/>
    <p:sldLayoutId id="2147483841" r:id="rId26"/>
    <p:sldLayoutId id="2147483842" r:id="rId27"/>
    <p:sldLayoutId id="2147483843" r:id="rId28"/>
    <p:sldLayoutId id="2147483844" r:id="rId29"/>
    <p:sldLayoutId id="2147483845" r:id="rId30"/>
    <p:sldLayoutId id="2147483846" r:id="rId31"/>
    <p:sldLayoutId id="2147483847" r:id="rId32"/>
    <p:sldLayoutId id="2147483782" r:id="rId33"/>
    <p:sldLayoutId id="2147483814" r:id="rId3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sz="2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新細明體" panose="02020500000000000000" pitchFamily="18" charset="-120"/>
        <a:buChar char="。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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44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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‒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Nuvoton/Nuvoton_Tools/blob/master/Documents/VSCode_ZephyrIDE.md" TargetMode="External"/><Relationship Id="rId2" Type="http://schemas.openxmlformats.org/officeDocument/2006/relationships/hyperlink" Target="https://docs.zephyrproject.org/latest/develop/getting_started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Introduce Zephyr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14905" y="3429000"/>
            <a:ext cx="6631619" cy="854476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514350" y="4572000"/>
            <a:ext cx="3506788" cy="443883"/>
          </a:xfrm>
        </p:spPr>
        <p:txBody>
          <a:bodyPr/>
          <a:lstStyle/>
          <a:p>
            <a:r>
              <a:rPr lang="en-US" altLang="zh-TW" dirty="0"/>
              <a:t>Chun-Chieh Li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1"/>
          </p:nvPr>
        </p:nvSpPr>
        <p:spPr>
          <a:xfrm>
            <a:off x="514350" y="5033963"/>
            <a:ext cx="3516313" cy="363537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101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r>
              <a:rPr lang="en-US" altLang="zh-TW" dirty="0"/>
              <a:t>Install development environment</a:t>
            </a:r>
          </a:p>
          <a:p>
            <a:r>
              <a:rPr lang="en-US" altLang="zh-TW" dirty="0"/>
              <a:t>Kernel configuration system (</a:t>
            </a:r>
            <a:r>
              <a:rPr lang="en-US" altLang="zh-TW" dirty="0" err="1"/>
              <a:t>Kconfig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Devicetree</a:t>
            </a:r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4258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3ACC88-0124-6ADF-1EB6-A363395F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Open-source RTOS</a:t>
            </a:r>
          </a:p>
          <a:p>
            <a:pPr lvl="1"/>
            <a:r>
              <a:rPr lang="en-US" dirty="0"/>
              <a:t>Target connected, resource-constrained, and embedded system</a:t>
            </a:r>
          </a:p>
          <a:p>
            <a:r>
              <a:rPr lang="en-US" dirty="0"/>
              <a:t>License: Apache 2.0 license</a:t>
            </a:r>
          </a:p>
          <a:p>
            <a:r>
              <a:rPr lang="en-US" dirty="0"/>
              <a:t>Support architecture: </a:t>
            </a:r>
            <a:r>
              <a:rPr lang="pt-BR" dirty="0"/>
              <a:t>Arm Cortex-M, R, A, Intel x86, RISC-V, ARC, and Xtensa</a:t>
            </a:r>
            <a:endParaRPr lang="en-US" dirty="0"/>
          </a:p>
          <a:p>
            <a:r>
              <a:rPr lang="en-US" dirty="0"/>
              <a:t>Support language: C/C++</a:t>
            </a:r>
          </a:p>
          <a:p>
            <a:r>
              <a:rPr lang="en-US" dirty="0"/>
              <a:t>Support toolchain: Cross GCC for Cortex-M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35F7B-3867-81C2-4FE8-3EBC77657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986AE0-7D1D-8F67-30A3-89021BB0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(1/3)</a:t>
            </a:r>
          </a:p>
        </p:txBody>
      </p:sp>
    </p:spTree>
    <p:extLst>
      <p:ext uri="{BB962C8B-B14F-4D97-AF65-F5344CB8AC3E}">
        <p14:creationId xmlns:p14="http://schemas.microsoft.com/office/powerpoint/2010/main" val="221633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6BA0-D381-DFEB-2D1A-0D90941F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EEF40-CDF7-82BB-3171-2261B7B10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 system: </a:t>
            </a:r>
            <a:r>
              <a:rPr lang="en-US" dirty="0" err="1"/>
              <a:t>CMake</a:t>
            </a:r>
            <a:r>
              <a:rPr lang="en-US" dirty="0"/>
              <a:t>-based (</a:t>
            </a:r>
            <a:r>
              <a:rPr lang="en-US" dirty="0" err="1"/>
              <a:t>CMake</a:t>
            </a:r>
            <a:r>
              <a:rPr lang="en-US" dirty="0"/>
              <a:t> + Ninja)</a:t>
            </a:r>
          </a:p>
          <a:p>
            <a:r>
              <a:rPr lang="en-US" dirty="0"/>
              <a:t>Configuration system: </a:t>
            </a:r>
            <a:r>
              <a:rPr lang="en-US" dirty="0" err="1"/>
              <a:t>Kconfig</a:t>
            </a:r>
            <a:r>
              <a:rPr lang="en-US" dirty="0"/>
              <a:t> and </a:t>
            </a:r>
            <a:r>
              <a:rPr lang="en-US" dirty="0" err="1"/>
              <a:t>Devicetree</a:t>
            </a:r>
            <a:endParaRPr lang="en-US" dirty="0"/>
          </a:p>
          <a:p>
            <a:pPr lvl="1"/>
            <a:r>
              <a:rPr lang="en-US" dirty="0"/>
              <a:t>Inherited from Linux kernel but re-implemented in Python for portability to non-Unix OS</a:t>
            </a:r>
          </a:p>
          <a:p>
            <a:r>
              <a:rPr lang="en-US" dirty="0"/>
              <a:t>West tool, a versatile meta-tool for</a:t>
            </a:r>
          </a:p>
          <a:p>
            <a:pPr lvl="1"/>
            <a:r>
              <a:rPr lang="en-US" dirty="0"/>
              <a:t>Managing external projects (Git repositories)</a:t>
            </a:r>
          </a:p>
          <a:p>
            <a:pPr lvl="1"/>
            <a:r>
              <a:rPr lang="en-US" dirty="0"/>
              <a:t>Building projects</a:t>
            </a:r>
          </a:p>
          <a:p>
            <a:pPr lvl="1"/>
            <a:r>
              <a:rPr lang="en-US" dirty="0"/>
              <a:t>Flashing hardware (</a:t>
            </a:r>
            <a:r>
              <a:rPr lang="en-US" dirty="0" err="1"/>
              <a:t>pyOCD</a:t>
            </a:r>
            <a:r>
              <a:rPr lang="en-US" dirty="0"/>
              <a:t> or </a:t>
            </a:r>
            <a:r>
              <a:rPr lang="en-US" dirty="0" err="1"/>
              <a:t>OpenOCD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A211F-1F45-51D2-F376-633CE87D7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06EA4C-173A-3CFB-A00F-1093E77A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(2/3)</a:t>
            </a:r>
          </a:p>
        </p:txBody>
      </p:sp>
    </p:spTree>
    <p:extLst>
      <p:ext uri="{BB962C8B-B14F-4D97-AF65-F5344CB8AC3E}">
        <p14:creationId xmlns:p14="http://schemas.microsoft.com/office/powerpoint/2010/main" val="12877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83D3-24E0-075E-BD0E-83DB7857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05948D-74B9-68B5-AE61-F19CE4C1D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development environment</a:t>
            </a:r>
          </a:p>
          <a:p>
            <a:pPr lvl="1"/>
            <a:r>
              <a:rPr lang="en-US" dirty="0"/>
              <a:t>CLI</a:t>
            </a:r>
          </a:p>
          <a:p>
            <a:pPr lvl="2"/>
            <a:r>
              <a:rPr lang="en-US" dirty="0">
                <a:hlinkClick r:id="rId2"/>
              </a:rPr>
              <a:t>https://docs.zephyrproject.org/latest/develop/getting_started/index.html</a:t>
            </a:r>
            <a:endParaRPr lang="en-US" dirty="0"/>
          </a:p>
          <a:p>
            <a:pPr lvl="1"/>
            <a:r>
              <a:rPr lang="en-US" dirty="0"/>
              <a:t>VS Code</a:t>
            </a:r>
          </a:p>
          <a:p>
            <a:pPr lvl="2"/>
            <a:r>
              <a:rPr lang="en-US" dirty="0">
                <a:hlinkClick r:id="rId3"/>
              </a:rPr>
              <a:t>https://github.com/OpenNuvoton/Nuvoton_Tools/blob/master/Documents/VSCode_ZephyrIDE.md</a:t>
            </a:r>
            <a:endParaRPr lang="en-US" dirty="0"/>
          </a:p>
          <a:p>
            <a:r>
              <a:rPr lang="en-US" dirty="0"/>
              <a:t>Host environment</a:t>
            </a:r>
          </a:p>
          <a:p>
            <a:pPr lvl="1"/>
            <a:r>
              <a:rPr lang="en-US" dirty="0"/>
              <a:t>Can develop on Windows, Linux, and macOS</a:t>
            </a:r>
          </a:p>
          <a:p>
            <a:pPr lvl="1"/>
            <a:r>
              <a:rPr lang="en-US" dirty="0"/>
              <a:t>Git Bash for Windows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DE784-D9A6-C17B-5028-13E6B049C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17822F-249F-7830-3BDD-057311994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(3/3)</a:t>
            </a:r>
          </a:p>
        </p:txBody>
      </p:sp>
    </p:spTree>
    <p:extLst>
      <p:ext uri="{BB962C8B-B14F-4D97-AF65-F5344CB8AC3E}">
        <p14:creationId xmlns:p14="http://schemas.microsoft.com/office/powerpoint/2010/main" val="103788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0CB5A8-0E3B-AD09-3320-9658FA99E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5C5F37-B1BB-685C-F94F-D94D7B27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ports: Support boards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DBAA7B-B802-40EC-A256-D684E62CC545}"/>
              </a:ext>
            </a:extLst>
          </p:cNvPr>
          <p:cNvSpPr txBox="1"/>
          <p:nvPr/>
        </p:nvSpPr>
        <p:spPr>
          <a:xfrm>
            <a:off x="4839101" y="1864316"/>
            <a:ext cx="3429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|-- numaker_gai_m55m1</a:t>
            </a:r>
          </a:p>
          <a:p>
            <a:r>
              <a:rPr lang="en-US" sz="2400" dirty="0"/>
              <a:t>|-- numaker_m2l31ki</a:t>
            </a:r>
          </a:p>
          <a:p>
            <a:r>
              <a:rPr lang="en-US" sz="2400" dirty="0"/>
              <a:t>|-- numaker_m3334ki</a:t>
            </a:r>
          </a:p>
          <a:p>
            <a:r>
              <a:rPr lang="en-US" sz="2400" dirty="0"/>
              <a:t>|-- numaker_m5531</a:t>
            </a:r>
          </a:p>
          <a:p>
            <a:r>
              <a:rPr lang="en-US" sz="2400" dirty="0"/>
              <a:t>|-- numaker_m55m1</a:t>
            </a:r>
          </a:p>
          <a:p>
            <a:r>
              <a:rPr lang="en-US" sz="2400" dirty="0"/>
              <a:t>|-- numaker_pfm_m467</a:t>
            </a:r>
          </a:p>
          <a:p>
            <a:r>
              <a:rPr lang="en-US" sz="2400" strike="sngStrike" dirty="0"/>
              <a:t>`-- numaker_pfm_m487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A48FA-1212-AF24-23B7-75E135F72643}"/>
              </a:ext>
            </a:extLst>
          </p:cNvPr>
          <p:cNvSpPr txBox="1"/>
          <p:nvPr/>
        </p:nvSpPr>
        <p:spPr>
          <a:xfrm>
            <a:off x="1045143" y="1864316"/>
            <a:ext cx="3429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zephyr/boards/</a:t>
            </a:r>
            <a:r>
              <a:rPr lang="en-US" sz="2400" dirty="0" err="1"/>
              <a:t>nuvoton</a:t>
            </a:r>
            <a:r>
              <a:rPr lang="en-US" sz="2400" dirty="0"/>
              <a:t>/</a:t>
            </a:r>
          </a:p>
          <a:p>
            <a:r>
              <a:rPr lang="en-US" sz="2400" dirty="0"/>
              <a:t>|-- </a:t>
            </a:r>
            <a:r>
              <a:rPr lang="en-US" sz="2400" dirty="0" err="1"/>
              <a:t>index.rst</a:t>
            </a:r>
            <a:endParaRPr lang="en-US" sz="2400" dirty="0"/>
          </a:p>
          <a:p>
            <a:r>
              <a:rPr lang="en-US" sz="2400" strike="sngStrike" dirty="0"/>
              <a:t>|-- npck3m8k_evb</a:t>
            </a:r>
          </a:p>
          <a:p>
            <a:r>
              <a:rPr lang="en-US" sz="2400" strike="sngStrike" dirty="0"/>
              <a:t>|-- npcm400_evb</a:t>
            </a:r>
          </a:p>
          <a:p>
            <a:r>
              <a:rPr lang="en-US" sz="2400" strike="sngStrike" dirty="0"/>
              <a:t>|-- npcx4m8f_evb</a:t>
            </a:r>
          </a:p>
          <a:p>
            <a:r>
              <a:rPr lang="en-US" sz="2400" strike="sngStrike" dirty="0"/>
              <a:t>|-- npcx7m6fb_evb</a:t>
            </a:r>
          </a:p>
          <a:p>
            <a:r>
              <a:rPr lang="en-US" sz="2400" strike="sngStrike" dirty="0"/>
              <a:t>|-- npcx9m6f_evb</a:t>
            </a:r>
          </a:p>
        </p:txBody>
      </p:sp>
    </p:spTree>
    <p:extLst>
      <p:ext uri="{BB962C8B-B14F-4D97-AF65-F5344CB8AC3E}">
        <p14:creationId xmlns:p14="http://schemas.microsoft.com/office/powerpoint/2010/main" val="150439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F8ADB-F0C7-25B0-5082-2E9120C5A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FFF285-E88B-8FE7-3CA4-FA085466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ports: Support peripherals (1/2)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9223B-F3C7-B4AE-E51F-3B514D3D8746}"/>
              </a:ext>
            </a:extLst>
          </p:cNvPr>
          <p:cNvSpPr txBox="1"/>
          <p:nvPr/>
        </p:nvSpPr>
        <p:spPr>
          <a:xfrm>
            <a:off x="1045142" y="1524837"/>
            <a:ext cx="79929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zephyr/drivers/</a:t>
            </a:r>
            <a:r>
              <a:rPr lang="en-US" sz="2400" dirty="0" err="1"/>
              <a:t>adc</a:t>
            </a:r>
            <a:r>
              <a:rPr lang="en-US" sz="2400" dirty="0"/>
              <a:t>/</a:t>
            </a:r>
            <a:r>
              <a:rPr lang="en-US" sz="2400" dirty="0" err="1"/>
              <a:t>adc_numaker.c</a:t>
            </a:r>
            <a:endParaRPr lang="en-US" sz="2400" dirty="0"/>
          </a:p>
          <a:p>
            <a:r>
              <a:rPr lang="en-US" sz="2400" dirty="0"/>
              <a:t>zephyr/drivers/can/</a:t>
            </a:r>
            <a:r>
              <a:rPr lang="en-US" sz="2400" dirty="0" err="1"/>
              <a:t>can_numaker.c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clock_control</a:t>
            </a:r>
            <a:r>
              <a:rPr lang="en-US" sz="2400" dirty="0"/>
              <a:t>/</a:t>
            </a:r>
            <a:r>
              <a:rPr lang="en-US" sz="2400" dirty="0" err="1"/>
              <a:t>clock_control_numaker_scc.c</a:t>
            </a:r>
            <a:endParaRPr lang="en-US" sz="2400" dirty="0"/>
          </a:p>
          <a:p>
            <a:r>
              <a:rPr lang="en-US" sz="2400" dirty="0"/>
              <a:t>zephyr/drivers/ethernet/</a:t>
            </a:r>
            <a:r>
              <a:rPr lang="en-US" sz="2400" dirty="0" err="1"/>
              <a:t>eth_numaker.c</a:t>
            </a:r>
            <a:endParaRPr lang="en-US" sz="2400" dirty="0"/>
          </a:p>
          <a:p>
            <a:r>
              <a:rPr lang="en-US" sz="2400" dirty="0"/>
              <a:t>zephyr/drivers/flash/</a:t>
            </a:r>
            <a:r>
              <a:rPr lang="en-US" sz="2400" dirty="0" err="1"/>
              <a:t>soc_flash_numaker.c</a:t>
            </a:r>
            <a:endParaRPr lang="en-US" sz="2400" dirty="0"/>
          </a:p>
          <a:p>
            <a:r>
              <a:rPr lang="en-US" sz="2400" dirty="0"/>
              <a:t>zephyr/drivers/flash/</a:t>
            </a:r>
            <a:r>
              <a:rPr lang="en-US" sz="2400" dirty="0" err="1"/>
              <a:t>soc_flash_numaker_rmc.c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gpio</a:t>
            </a:r>
            <a:r>
              <a:rPr lang="en-US" sz="2400" dirty="0"/>
              <a:t>/</a:t>
            </a:r>
            <a:r>
              <a:rPr lang="en-US" sz="2400" dirty="0" err="1"/>
              <a:t>gpio_numaker.c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hwinfo</a:t>
            </a:r>
            <a:r>
              <a:rPr lang="en-US" sz="2400" dirty="0"/>
              <a:t>/</a:t>
            </a:r>
            <a:r>
              <a:rPr lang="en-US" sz="2400" dirty="0" err="1"/>
              <a:t>hwinfo_numaker.c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hwinfo</a:t>
            </a:r>
            <a:r>
              <a:rPr lang="en-US" sz="2400" dirty="0"/>
              <a:t>/</a:t>
            </a:r>
            <a:r>
              <a:rPr lang="en-US" sz="2400" dirty="0" err="1"/>
              <a:t>hwinfo_numaker_rmc.c</a:t>
            </a:r>
            <a:endParaRPr lang="en-US" sz="2400" dirty="0"/>
          </a:p>
          <a:p>
            <a:r>
              <a:rPr lang="en-US" sz="2400" dirty="0"/>
              <a:t>zephyr/drivers/i2c/i2c_numaker.c</a:t>
            </a:r>
          </a:p>
          <a:p>
            <a:r>
              <a:rPr lang="en-US" sz="2400" dirty="0"/>
              <a:t>zephyr/drivers/</a:t>
            </a:r>
            <a:r>
              <a:rPr lang="en-US" sz="2400" dirty="0" err="1"/>
              <a:t>misc</a:t>
            </a:r>
            <a:r>
              <a:rPr lang="en-US" sz="2400" dirty="0"/>
              <a:t>/</a:t>
            </a:r>
            <a:r>
              <a:rPr lang="en-US" sz="2400" dirty="0" err="1"/>
              <a:t>ethos_u</a:t>
            </a:r>
            <a:r>
              <a:rPr lang="en-US" sz="2400" dirty="0"/>
              <a:t>/</a:t>
            </a:r>
            <a:r>
              <a:rPr lang="en-US" sz="2400" dirty="0" err="1"/>
              <a:t>ethos_u_numaker.c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pinctrl</a:t>
            </a:r>
            <a:r>
              <a:rPr lang="en-US" sz="2400" dirty="0"/>
              <a:t>/</a:t>
            </a:r>
            <a:r>
              <a:rPr lang="en-US" sz="2400" dirty="0" err="1"/>
              <a:t>pinctrl_numaker.c</a:t>
            </a:r>
            <a:endParaRPr lang="en-US" sz="2400" strike="sngStrike" dirty="0"/>
          </a:p>
        </p:txBody>
      </p:sp>
    </p:spTree>
    <p:extLst>
      <p:ext uri="{BB962C8B-B14F-4D97-AF65-F5344CB8AC3E}">
        <p14:creationId xmlns:p14="http://schemas.microsoft.com/office/powerpoint/2010/main" val="2775580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BC89-E4CB-EE10-FC5C-17934595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AE6B00-C576-8BF9-51DC-B680D015B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3E816F-57CA-7FFD-9703-9FB8E5B9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ports: Support peripherals (2/2)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15D0A-936F-974A-76E1-90192FB10DE5}"/>
              </a:ext>
            </a:extLst>
          </p:cNvPr>
          <p:cNvSpPr txBox="1"/>
          <p:nvPr/>
        </p:nvSpPr>
        <p:spPr>
          <a:xfrm>
            <a:off x="1045142" y="1646073"/>
            <a:ext cx="79929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zephyr/drivers/</a:t>
            </a:r>
            <a:r>
              <a:rPr lang="en-US" sz="2400" dirty="0" err="1"/>
              <a:t>pwm</a:t>
            </a:r>
            <a:r>
              <a:rPr lang="en-US" sz="2400" dirty="0"/>
              <a:t>/</a:t>
            </a:r>
            <a:r>
              <a:rPr lang="en-US" sz="2400" dirty="0" err="1"/>
              <a:t>pwm_numaker.c</a:t>
            </a:r>
            <a:endParaRPr lang="en-US" sz="2400" dirty="0"/>
          </a:p>
          <a:p>
            <a:r>
              <a:rPr lang="en-US" sz="2400" dirty="0"/>
              <a:t>zephyr/drivers/reset/</a:t>
            </a:r>
            <a:r>
              <a:rPr lang="en-US" sz="2400" dirty="0" err="1"/>
              <a:t>reset_numaker.c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rtc</a:t>
            </a:r>
            <a:r>
              <a:rPr lang="en-US" sz="2400" dirty="0"/>
              <a:t>/</a:t>
            </a:r>
            <a:r>
              <a:rPr lang="en-US" sz="2400" dirty="0" err="1"/>
              <a:t>rtc_numaker.c</a:t>
            </a:r>
            <a:endParaRPr lang="en-US" sz="2400" dirty="0"/>
          </a:p>
          <a:p>
            <a:r>
              <a:rPr lang="en-US" sz="2400" dirty="0"/>
              <a:t>zephyr/drivers/serial/</a:t>
            </a:r>
            <a:r>
              <a:rPr lang="en-US" sz="2400" dirty="0" err="1"/>
              <a:t>uart_numaker.c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spi</a:t>
            </a:r>
            <a:r>
              <a:rPr lang="en-US" sz="2400" dirty="0"/>
              <a:t>/</a:t>
            </a:r>
            <a:r>
              <a:rPr lang="en-US" sz="2400" dirty="0" err="1"/>
              <a:t>spi_numaker.c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usb</a:t>
            </a:r>
            <a:r>
              <a:rPr lang="en-US" sz="2400" dirty="0"/>
              <a:t>/device/</a:t>
            </a:r>
            <a:r>
              <a:rPr lang="en-US" sz="2400" dirty="0" err="1"/>
              <a:t>usb_dc_numaker.c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usb</a:t>
            </a:r>
            <a:r>
              <a:rPr lang="en-US" sz="2400" dirty="0"/>
              <a:t>/</a:t>
            </a:r>
            <a:r>
              <a:rPr lang="en-US" sz="2400" dirty="0" err="1"/>
              <a:t>udc</a:t>
            </a:r>
            <a:r>
              <a:rPr lang="en-US" sz="2400" dirty="0"/>
              <a:t>/</a:t>
            </a:r>
            <a:r>
              <a:rPr lang="en-US" sz="2400" dirty="0" err="1"/>
              <a:t>udc_numaker.c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usb_c</a:t>
            </a:r>
            <a:r>
              <a:rPr lang="en-US" sz="2400" dirty="0"/>
              <a:t>/</a:t>
            </a:r>
            <a:r>
              <a:rPr lang="en-US" sz="2400" dirty="0" err="1"/>
              <a:t>ppc</a:t>
            </a:r>
            <a:r>
              <a:rPr lang="en-US" sz="2400" dirty="0"/>
              <a:t>/</a:t>
            </a:r>
            <a:r>
              <a:rPr lang="en-US" sz="2400" dirty="0" err="1"/>
              <a:t>usbc_ppc_numaker.c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usb_c</a:t>
            </a:r>
            <a:r>
              <a:rPr lang="en-US" sz="2400" dirty="0"/>
              <a:t>/</a:t>
            </a:r>
            <a:r>
              <a:rPr lang="en-US" sz="2400" dirty="0" err="1"/>
              <a:t>tcpc</a:t>
            </a:r>
            <a:r>
              <a:rPr lang="en-US" sz="2400" dirty="0"/>
              <a:t>/</a:t>
            </a:r>
            <a:r>
              <a:rPr lang="en-US" sz="2400" dirty="0" err="1"/>
              <a:t>ucpd_numaker.c</a:t>
            </a:r>
            <a:endParaRPr lang="en-US" sz="2400" dirty="0"/>
          </a:p>
          <a:p>
            <a:r>
              <a:rPr lang="en-US" sz="2400" dirty="0"/>
              <a:t>zephyr/drivers/</a:t>
            </a:r>
            <a:r>
              <a:rPr lang="en-US" sz="2400" dirty="0" err="1"/>
              <a:t>usb_c</a:t>
            </a:r>
            <a:r>
              <a:rPr lang="en-US" sz="2400" dirty="0"/>
              <a:t>/</a:t>
            </a:r>
            <a:r>
              <a:rPr lang="en-US" sz="2400" dirty="0" err="1"/>
              <a:t>vbus</a:t>
            </a:r>
            <a:r>
              <a:rPr lang="en-US" sz="2400" dirty="0"/>
              <a:t>/</a:t>
            </a:r>
            <a:r>
              <a:rPr lang="en-US" sz="2400" dirty="0" err="1"/>
              <a:t>usbc_vbus_numaker.c</a:t>
            </a:r>
            <a:endParaRPr lang="en-US" sz="2400" dirty="0"/>
          </a:p>
          <a:p>
            <a:r>
              <a:rPr lang="en-US" sz="2400" dirty="0"/>
              <a:t>zephyr/drivers/watchdog/</a:t>
            </a:r>
            <a:r>
              <a:rPr lang="en-US" sz="2400" dirty="0" err="1"/>
              <a:t>wdt_wwdt_numaker.c</a:t>
            </a:r>
            <a:endParaRPr lang="en-US" sz="2400" strike="sngStrike" dirty="0"/>
          </a:p>
        </p:txBody>
      </p:sp>
    </p:spTree>
    <p:extLst>
      <p:ext uri="{BB962C8B-B14F-4D97-AF65-F5344CB8AC3E}">
        <p14:creationId xmlns:p14="http://schemas.microsoft.com/office/powerpoint/2010/main" val="355754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843D6E-B382-3FD2-2FA5-483BB2A52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(3.10)</a:t>
            </a:r>
          </a:p>
          <a:p>
            <a:pPr lvl="1"/>
            <a:r>
              <a:rPr lang="en-US" dirty="0"/>
              <a:t>Add into PATH</a:t>
            </a:r>
          </a:p>
          <a:p>
            <a:r>
              <a:rPr lang="en-US" dirty="0"/>
              <a:t>Git</a:t>
            </a:r>
          </a:p>
          <a:p>
            <a:pPr lvl="1"/>
            <a:r>
              <a:rPr lang="en-US" dirty="0"/>
              <a:t>Add into PATH</a:t>
            </a:r>
          </a:p>
          <a:p>
            <a:pPr lvl="1"/>
            <a:r>
              <a:rPr lang="en-US" dirty="0"/>
              <a:t>Git Bash as CLI</a:t>
            </a:r>
          </a:p>
          <a:p>
            <a:r>
              <a:rPr lang="en-US" dirty="0" err="1"/>
              <a:t>CMake</a:t>
            </a:r>
            <a:r>
              <a:rPr lang="en-US" dirty="0"/>
              <a:t> (3.20.5) &amp; Ninja</a:t>
            </a:r>
          </a:p>
          <a:p>
            <a:pPr lvl="1"/>
            <a:r>
              <a:rPr lang="en-US" dirty="0"/>
              <a:t>Add into PATH</a:t>
            </a:r>
          </a:p>
          <a:p>
            <a:r>
              <a:rPr lang="en-US" dirty="0"/>
              <a:t>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</a:t>
            </a:r>
            <a:r>
              <a:rPr lang="en-US" dirty="0" err="1">
                <a:highlight>
                  <a:srgbClr val="FFFF00"/>
                </a:highlight>
              </a:rPr>
              <a:t>mkdir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$ python -m 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/.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$ source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/.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r>
              <a:rPr lang="en-US" dirty="0">
                <a:highlight>
                  <a:srgbClr val="FFFF00"/>
                </a:highlight>
              </a:rPr>
              <a:t>/Scripts/activate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F0C381-25AF-16CA-8C3A-DE9E2ADCB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0A4EC-BA19-AD0F-A891-CAE24B51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139745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679FA9-BF1E-3799-68D7-153430323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West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pip install --upgrade west</a:t>
            </a:r>
          </a:p>
          <a:p>
            <a:r>
              <a:rPr lang="en-US" dirty="0"/>
              <a:t>Example code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unzip -d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 EC_M55M1_Zephyr_ML_KWS_V1.00.zip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mv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/EC_M55M1_Zephyr_ML_KWS_V1.00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/EC_M55M1_Zephyr_ML_KWS</a:t>
            </a:r>
          </a:p>
          <a:p>
            <a:r>
              <a:rPr lang="en-US" dirty="0"/>
              <a:t>West workspace ‘</a:t>
            </a:r>
            <a:r>
              <a:rPr lang="en-US" dirty="0" err="1"/>
              <a:t>zephyrproject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Manifest repository: EC_M55M1_Zephyr_ML_KWS/</a:t>
            </a:r>
            <a:r>
              <a:rPr lang="en-US" dirty="0" err="1"/>
              <a:t>west.yml</a:t>
            </a:r>
            <a:r>
              <a:rPr lang="en-US" dirty="0"/>
              <a:t> vs. zephyr/</a:t>
            </a:r>
            <a:r>
              <a:rPr lang="en-US" dirty="0" err="1"/>
              <a:t>west.yml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$ cd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</a:t>
            </a:r>
            <a:r>
              <a:rPr lang="en-US" dirty="0" err="1">
                <a:highlight>
                  <a:srgbClr val="FFFF00"/>
                </a:highlight>
              </a:rPr>
              <a:t>init</a:t>
            </a:r>
            <a:r>
              <a:rPr lang="en-US" dirty="0">
                <a:highlight>
                  <a:srgbClr val="FFFF00"/>
                </a:highlight>
              </a:rPr>
              <a:t> --local EC_M55M1_Zephyr_ML_KWS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F32A7-198A-6642-E0E9-D0BC4C040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75DA4E-5B5C-A59B-76F6-7640D8BA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258304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61FF-C1A4-8BDC-2F20-7220D505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E49D27-4ACF-5577-54CA-8316D36F8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1218467"/>
          </a:xfrm>
        </p:spPr>
        <p:txBody>
          <a:bodyPr>
            <a:normAutofit/>
          </a:bodyPr>
          <a:lstStyle/>
          <a:p>
            <a:r>
              <a:rPr lang="en-US" dirty="0"/>
              <a:t>Pull in external dependencies (EC_M55M1_Zephyr_ML_KWS/</a:t>
            </a:r>
            <a:r>
              <a:rPr lang="en-US" dirty="0" err="1"/>
              <a:t>west.yml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update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F58BB-DA6A-3E65-9F42-62880F7B5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3ACEBA-C958-5666-3CCB-FFD4AC56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2C09B-AD62-F268-BA17-3E87E722D087}"/>
              </a:ext>
            </a:extLst>
          </p:cNvPr>
          <p:cNvSpPr txBox="1"/>
          <p:nvPr/>
        </p:nvSpPr>
        <p:spPr>
          <a:xfrm>
            <a:off x="952901" y="2464067"/>
            <a:ext cx="370572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</a:t>
            </a:r>
          </a:p>
          <a:p>
            <a:r>
              <a:rPr lang="en-US" sz="2400" dirty="0"/>
              <a:t>|-- EC_M55M1_Zephyr_ML_KWS</a:t>
            </a:r>
          </a:p>
          <a:p>
            <a:r>
              <a:rPr lang="en-US" sz="2400" dirty="0"/>
              <a:t>|-- modules</a:t>
            </a:r>
          </a:p>
          <a:p>
            <a:r>
              <a:rPr lang="en-US" sz="2400" dirty="0"/>
              <a:t>|-- optional</a:t>
            </a:r>
          </a:p>
          <a:p>
            <a:r>
              <a:rPr lang="en-US" sz="2400" dirty="0"/>
              <a:t>`-- zephyr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2670E-0546-149F-3B34-F548E12052A8}"/>
              </a:ext>
            </a:extLst>
          </p:cNvPr>
          <p:cNvSpPr txBox="1"/>
          <p:nvPr/>
        </p:nvSpPr>
        <p:spPr>
          <a:xfrm>
            <a:off x="4888029" y="2464067"/>
            <a:ext cx="3274193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/modules/</a:t>
            </a:r>
          </a:p>
          <a:p>
            <a:r>
              <a:rPr lang="en-US" sz="2400" dirty="0"/>
              <a:t>|-- </a:t>
            </a:r>
            <a:r>
              <a:rPr lang="en-US" sz="2400" dirty="0" err="1"/>
              <a:t>hal</a:t>
            </a:r>
            <a:endParaRPr lang="en-US" sz="2400" dirty="0"/>
          </a:p>
          <a:p>
            <a:r>
              <a:rPr lang="en-US" sz="2400" dirty="0"/>
              <a:t>|   |-- cmsis_6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ethos_u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nuvoton</a:t>
            </a:r>
            <a:endParaRPr lang="en-US" sz="2400" dirty="0"/>
          </a:p>
          <a:p>
            <a:r>
              <a:rPr lang="en-US" sz="2400" dirty="0"/>
              <a:t>`-- lib</a:t>
            </a:r>
          </a:p>
          <a:p>
            <a:r>
              <a:rPr lang="en-US" sz="2400" dirty="0"/>
              <a:t>    |-- </a:t>
            </a:r>
            <a:r>
              <a:rPr lang="en-US" sz="2400" dirty="0" err="1"/>
              <a:t>cmsis</a:t>
            </a:r>
            <a:r>
              <a:rPr lang="en-US" sz="2400" dirty="0"/>
              <a:t>-dsp</a:t>
            </a:r>
          </a:p>
          <a:p>
            <a:r>
              <a:rPr lang="en-US" sz="2400" dirty="0"/>
              <a:t>    `-- </a:t>
            </a:r>
            <a:r>
              <a:rPr lang="en-US" sz="2400" dirty="0" err="1"/>
              <a:t>cmsis-nn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9C55A-029D-5067-C376-0A04605041CE}"/>
              </a:ext>
            </a:extLst>
          </p:cNvPr>
          <p:cNvSpPr txBox="1"/>
          <p:nvPr/>
        </p:nvSpPr>
        <p:spPr>
          <a:xfrm>
            <a:off x="8280810" y="2464067"/>
            <a:ext cx="3274193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/optional/</a:t>
            </a:r>
          </a:p>
          <a:p>
            <a:r>
              <a:rPr lang="en-US" sz="2400" dirty="0"/>
              <a:t>`-- modules</a:t>
            </a:r>
          </a:p>
          <a:p>
            <a:r>
              <a:rPr lang="en-US" sz="2400" dirty="0"/>
              <a:t>    `-- lib</a:t>
            </a:r>
          </a:p>
          <a:p>
            <a:r>
              <a:rPr lang="en-US" sz="2400" dirty="0"/>
              <a:t>        `-- </a:t>
            </a:r>
            <a:r>
              <a:rPr lang="en-US" sz="2400" dirty="0" err="1"/>
              <a:t>tflite</a:t>
            </a:r>
            <a:r>
              <a:rPr lang="en-US" sz="2400" dirty="0"/>
              <a:t>-micro</a:t>
            </a:r>
          </a:p>
        </p:txBody>
      </p:sp>
    </p:spTree>
    <p:extLst>
      <p:ext uri="{BB962C8B-B14F-4D97-AF65-F5344CB8AC3E}">
        <p14:creationId xmlns:p14="http://schemas.microsoft.com/office/powerpoint/2010/main" val="3927051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7959-AE88-11F7-BF62-51CED96C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7F3373-6D52-4043-98C4-DED18900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1218467"/>
          </a:xfrm>
        </p:spPr>
        <p:txBody>
          <a:bodyPr>
            <a:normAutofit/>
          </a:bodyPr>
          <a:lstStyle/>
          <a:p>
            <a:r>
              <a:rPr lang="en-US" dirty="0"/>
              <a:t>Pull in external dependencies (zephyr/</a:t>
            </a:r>
            <a:r>
              <a:rPr lang="en-US" dirty="0" err="1"/>
              <a:t>west.yml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update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438AE-4840-4A7D-FFC4-62DD14EB5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4A6140-C0F9-C3B6-E9C8-503F8CFF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A442A-95E1-951B-0EC8-D4A4DB5B8ED8}"/>
              </a:ext>
            </a:extLst>
          </p:cNvPr>
          <p:cNvSpPr txBox="1"/>
          <p:nvPr/>
        </p:nvSpPr>
        <p:spPr>
          <a:xfrm>
            <a:off x="952902" y="2464067"/>
            <a:ext cx="3426594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zephyrproject</a:t>
            </a:r>
            <a:r>
              <a:rPr lang="en-US" sz="2400" dirty="0"/>
              <a:t>/modules/</a:t>
            </a:r>
          </a:p>
          <a:p>
            <a:r>
              <a:rPr lang="en-US" sz="2400" dirty="0"/>
              <a:t>|-- </a:t>
            </a:r>
            <a:r>
              <a:rPr lang="en-US" sz="2400" dirty="0" err="1"/>
              <a:t>bsim_hw_models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nrf_hw_models</a:t>
            </a:r>
            <a:endParaRPr lang="en-US" sz="2400" dirty="0"/>
          </a:p>
          <a:p>
            <a:r>
              <a:rPr lang="en-US" sz="2400" dirty="0"/>
              <a:t>|-- crypto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mbedtls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tinycrypt</a:t>
            </a:r>
            <a:endParaRPr lang="en-US" sz="2400" dirty="0"/>
          </a:p>
          <a:p>
            <a:r>
              <a:rPr lang="en-US" sz="2400" dirty="0"/>
              <a:t>|-- debug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mipi</a:t>
            </a:r>
            <a:r>
              <a:rPr lang="en-US" sz="2400" dirty="0"/>
              <a:t>-sys-t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percepio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segger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17F9E-4C99-6754-BCC1-06470BD48F99}"/>
              </a:ext>
            </a:extLst>
          </p:cNvPr>
          <p:cNvSpPr txBox="1"/>
          <p:nvPr/>
        </p:nvSpPr>
        <p:spPr>
          <a:xfrm>
            <a:off x="4836696" y="2464067"/>
            <a:ext cx="277368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|-- fs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fatfs</a:t>
            </a:r>
            <a:endParaRPr lang="en-US" sz="2400" dirty="0"/>
          </a:p>
          <a:p>
            <a:r>
              <a:rPr lang="en-US" sz="2400" dirty="0"/>
              <a:t>|   `-- </a:t>
            </a:r>
            <a:r>
              <a:rPr lang="en-US" sz="2400" dirty="0" err="1"/>
              <a:t>littlefs</a:t>
            </a:r>
            <a:endParaRPr lang="en-US" sz="2400" dirty="0"/>
          </a:p>
          <a:p>
            <a:r>
              <a:rPr lang="en-US" sz="2400" dirty="0"/>
              <a:t>|-- </a:t>
            </a:r>
            <a:r>
              <a:rPr lang="en-US" sz="2400" dirty="0" err="1"/>
              <a:t>hal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adi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afbr</a:t>
            </a:r>
            <a:endParaRPr lang="en-US" sz="2400" dirty="0"/>
          </a:p>
          <a:p>
            <a:r>
              <a:rPr lang="en-US" sz="2400" dirty="0"/>
              <a:t>|   |-- altera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ambiq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atmel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bouffalolab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D519F-4849-BAF6-80BA-531B99DC7456}"/>
              </a:ext>
            </a:extLst>
          </p:cNvPr>
          <p:cNvSpPr txBox="1"/>
          <p:nvPr/>
        </p:nvSpPr>
        <p:spPr>
          <a:xfrm>
            <a:off x="8781322" y="2464067"/>
            <a:ext cx="277368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|   |-- </a:t>
            </a:r>
            <a:r>
              <a:rPr lang="en-US" sz="2400" dirty="0" err="1"/>
              <a:t>cmsis</a:t>
            </a:r>
            <a:endParaRPr lang="en-US" sz="2400" dirty="0"/>
          </a:p>
          <a:p>
            <a:r>
              <a:rPr lang="en-US" sz="2400" dirty="0"/>
              <a:t>|   |-- cmsis_6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espressif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ethos_u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gigadevice</a:t>
            </a:r>
            <a:endParaRPr lang="en-US" sz="2400" dirty="0"/>
          </a:p>
          <a:p>
            <a:r>
              <a:rPr lang="en-US" sz="2400" dirty="0"/>
              <a:t>|   |-- </a:t>
            </a:r>
            <a:r>
              <a:rPr lang="en-US" sz="2400" dirty="0" err="1"/>
              <a:t>infineon</a:t>
            </a:r>
            <a:endParaRPr lang="en-US" sz="2400" dirty="0"/>
          </a:p>
          <a:p>
            <a:r>
              <a:rPr lang="en-US" sz="2400" dirty="0"/>
              <a:t>|   |-- intel</a:t>
            </a:r>
          </a:p>
          <a:p>
            <a:r>
              <a:rPr lang="en-US" sz="2400" dirty="0"/>
              <a:t>|   |-- </a:t>
            </a:r>
            <a:r>
              <a:rPr lang="en-US" sz="2400" dirty="0" err="1"/>
              <a:t>libmetal</a:t>
            </a:r>
            <a:endParaRPr lang="en-US" sz="2400" dirty="0"/>
          </a:p>
          <a:p>
            <a:r>
              <a:rPr lang="en-US" sz="2400" dirty="0"/>
              <a:t>|   |-- microchip</a:t>
            </a:r>
          </a:p>
        </p:txBody>
      </p:sp>
    </p:spTree>
    <p:extLst>
      <p:ext uri="{BB962C8B-B14F-4D97-AF65-F5344CB8AC3E}">
        <p14:creationId xmlns:p14="http://schemas.microsoft.com/office/powerpoint/2010/main" val="367791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135EA9-E90E-4DA8-4E1C-F39D470C2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dependencies, including </a:t>
            </a:r>
            <a:r>
              <a:rPr lang="en-US" dirty="0" err="1"/>
              <a:t>pyOCD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packages pip –install</a:t>
            </a:r>
          </a:p>
          <a:p>
            <a:r>
              <a:rPr lang="en-US" dirty="0"/>
              <a:t>Zephyr SDK toolchain</a:t>
            </a:r>
          </a:p>
          <a:p>
            <a:pPr lvl="1"/>
            <a:r>
              <a:rPr lang="en-US" dirty="0"/>
              <a:t>arm-zephyr-</a:t>
            </a:r>
            <a:r>
              <a:rPr lang="en-US" dirty="0" err="1"/>
              <a:t>eabi</a:t>
            </a:r>
            <a:r>
              <a:rPr lang="en-US" dirty="0"/>
              <a:t> vs. arm-none-</a:t>
            </a:r>
            <a:r>
              <a:rPr lang="en-US" dirty="0" err="1"/>
              <a:t>eabi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</a:t>
            </a:r>
            <a:r>
              <a:rPr lang="en-US" dirty="0" err="1">
                <a:highlight>
                  <a:srgbClr val="FFFF00"/>
                </a:highlight>
              </a:rPr>
              <a:t>sdk</a:t>
            </a:r>
            <a:r>
              <a:rPr lang="en-US" dirty="0">
                <a:highlight>
                  <a:srgbClr val="FFFF00"/>
                </a:highlight>
              </a:rPr>
              <a:t> install --install-base toolchains --toolchains arm-zephyr-</a:t>
            </a:r>
            <a:r>
              <a:rPr lang="en-US" dirty="0" err="1">
                <a:highlight>
                  <a:srgbClr val="FFFF00"/>
                </a:highlight>
              </a:rPr>
              <a:t>eabi</a:t>
            </a:r>
            <a:r>
              <a:rPr lang="en-US" dirty="0">
                <a:highlight>
                  <a:srgbClr val="FFFF00"/>
                </a:highlight>
              </a:rPr>
              <a:t> --no-</a:t>
            </a:r>
            <a:r>
              <a:rPr lang="en-US" dirty="0" err="1">
                <a:highlight>
                  <a:srgbClr val="FFFF00"/>
                </a:highlight>
              </a:rPr>
              <a:t>hosttools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Support </a:t>
            </a:r>
            <a:r>
              <a:rPr lang="en-US" dirty="0" err="1"/>
              <a:t>pyOCD</a:t>
            </a:r>
            <a:r>
              <a:rPr lang="en-US" dirty="0"/>
              <a:t> flash for M55M1</a:t>
            </a:r>
          </a:p>
          <a:p>
            <a:pPr lvl="1"/>
            <a:r>
              <a:rPr lang="en-US" dirty="0"/>
              <a:t>Download Nuvoton.NuMicroM55_DFP.x.y.z.pack</a:t>
            </a:r>
          </a:p>
          <a:p>
            <a:pPr lvl="1"/>
            <a:r>
              <a:rPr lang="en-US" dirty="0"/>
              <a:t>Create </a:t>
            </a:r>
            <a:r>
              <a:rPr lang="en-US" dirty="0" err="1"/>
              <a:t>zephyrproject</a:t>
            </a:r>
            <a:r>
              <a:rPr lang="en-US" dirty="0"/>
              <a:t>/</a:t>
            </a:r>
            <a:r>
              <a:rPr lang="en-US" dirty="0" err="1"/>
              <a:t>pyocd.yaml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749C7C-4975-90E2-9B49-6E33547E5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698AF0-F5D8-7A62-FB10-762DF894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CB365-270B-5C26-7851-00FDF7AD4026}"/>
              </a:ext>
            </a:extLst>
          </p:cNvPr>
          <p:cNvSpPr txBox="1"/>
          <p:nvPr/>
        </p:nvSpPr>
        <p:spPr>
          <a:xfrm>
            <a:off x="1678004" y="5398650"/>
            <a:ext cx="8120514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hangingPunct="0"/>
            <a:r>
              <a:rPr lang="en-US" sz="2000" dirty="0"/>
              <a:t>pack:</a:t>
            </a:r>
          </a:p>
          <a:p>
            <a:pPr hangingPunct="0"/>
            <a:r>
              <a:rPr lang="en-US" sz="2000" dirty="0"/>
              <a:t>  - C:\Users\&lt;USER&gt;\Downloads\Nuvoton.NuMicroM55_DFP.&lt;x.y.z&gt;.pack</a:t>
            </a:r>
          </a:p>
        </p:txBody>
      </p:sp>
    </p:spTree>
    <p:extLst>
      <p:ext uri="{BB962C8B-B14F-4D97-AF65-F5344CB8AC3E}">
        <p14:creationId xmlns:p14="http://schemas.microsoft.com/office/powerpoint/2010/main" val="244075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9C11D6-2654-D72E-A018-F52CD1CA2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Vela compiler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pip install --upgrade ethos-u-vela</a:t>
            </a:r>
          </a:p>
          <a:p>
            <a:r>
              <a:rPr lang="en-US" dirty="0"/>
              <a:t>Leave 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deactivate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CED358-2FB2-6749-5F39-BE2E1DD20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2AB658-D7E9-6B6E-FEE1-DF0F22EE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3975298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B8AC0F-4E70-C521-BECC-DF2D93AF2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Enter 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source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r>
              <a:rPr lang="en-US" dirty="0">
                <a:highlight>
                  <a:srgbClr val="FFFF00"/>
                </a:highlight>
              </a:rPr>
              <a:t>/.</a:t>
            </a:r>
            <a:r>
              <a:rPr lang="en-US" dirty="0" err="1">
                <a:highlight>
                  <a:srgbClr val="FFFF00"/>
                </a:highlight>
              </a:rPr>
              <a:t>venv</a:t>
            </a:r>
            <a:r>
              <a:rPr lang="en-US" dirty="0">
                <a:highlight>
                  <a:srgbClr val="FFFF00"/>
                </a:highlight>
              </a:rPr>
              <a:t>/Scripts/activate</a:t>
            </a:r>
          </a:p>
          <a:p>
            <a:r>
              <a:rPr lang="en-US" dirty="0"/>
              <a:t>Enter West workspace ‘</a:t>
            </a:r>
            <a:r>
              <a:rPr lang="en-US" dirty="0" err="1"/>
              <a:t>zephyrproject</a:t>
            </a:r>
            <a:r>
              <a:rPr lang="en-US" dirty="0"/>
              <a:t>’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cd </a:t>
            </a:r>
            <a:r>
              <a:rPr lang="en-US" dirty="0" err="1">
                <a:highlight>
                  <a:srgbClr val="FFFF00"/>
                </a:highlight>
              </a:rPr>
              <a:t>zephyrproject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Compile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-v build -b numaker_m55m1 EC_M55M1_Zephyr_ML_KWS/</a:t>
            </a:r>
            <a:r>
              <a:rPr lang="en-US" dirty="0" err="1">
                <a:highlight>
                  <a:srgbClr val="FFFF00"/>
                </a:highlight>
              </a:rPr>
              <a:t>SampleCode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ExampleCode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Zephyr_ML_KWS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Flash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west flash</a:t>
            </a:r>
          </a:p>
          <a:p>
            <a:r>
              <a:rPr lang="en-US" dirty="0"/>
              <a:t>Leave Python virtual environment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deactivate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E449E-707E-5760-746F-E6B7A9538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DA4DE8-F30B-C06F-581E-58CF8BD9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example code</a:t>
            </a:r>
          </a:p>
        </p:txBody>
      </p:sp>
    </p:spTree>
    <p:extLst>
      <p:ext uri="{BB962C8B-B14F-4D97-AF65-F5344CB8AC3E}">
        <p14:creationId xmlns:p14="http://schemas.microsoft.com/office/powerpoint/2010/main" val="421107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88DBB-F4B8-D124-E99D-AB044B6D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F546FDD-3D90-23C6-D9F6-A0469D986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599"/>
            <a:ext cx="10957361" cy="4949717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Purpose: Allow to enable, disable, and parameterize software components, drivers, and OS features without having to change any source code</a:t>
            </a:r>
          </a:p>
          <a:p>
            <a:pPr lvl="1"/>
            <a:r>
              <a:rPr lang="en-US" altLang="zh-TW" dirty="0"/>
              <a:t>Can tailor </a:t>
            </a:r>
            <a:r>
              <a:rPr lang="en-US" altLang="zh-TW" dirty="0" err="1"/>
              <a:t>CMake</a:t>
            </a:r>
            <a:r>
              <a:rPr lang="en-US" altLang="zh-TW" dirty="0"/>
              <a:t> files, C/C++ files, linker script files</a:t>
            </a:r>
          </a:p>
          <a:p>
            <a:r>
              <a:rPr lang="en-US" altLang="zh-TW" dirty="0"/>
              <a:t>Constituent files</a:t>
            </a:r>
          </a:p>
          <a:p>
            <a:pPr lvl="1"/>
            <a:r>
              <a:rPr lang="en-US" altLang="zh-TW" dirty="0" err="1"/>
              <a:t>Kconfig</a:t>
            </a:r>
            <a:r>
              <a:rPr lang="en-US" altLang="zh-TW" dirty="0"/>
              <a:t>* files: Define configuration options (</a:t>
            </a:r>
            <a:r>
              <a:rPr lang="en-US" altLang="zh-TW" dirty="0" err="1"/>
              <a:t>Kconfig</a:t>
            </a:r>
            <a:r>
              <a:rPr lang="en-US" altLang="zh-TW" dirty="0"/>
              <a:t> symbols)</a:t>
            </a:r>
          </a:p>
          <a:p>
            <a:pPr lvl="1"/>
            <a:r>
              <a:rPr lang="en-US" altLang="zh-TW" dirty="0"/>
              <a:t>*.conf files: Set configuration values (</a:t>
            </a:r>
            <a:r>
              <a:rPr lang="en-US" altLang="zh-TW" dirty="0" err="1"/>
              <a:t>Kconfig</a:t>
            </a:r>
            <a:r>
              <a:rPr lang="en-US" altLang="zh-TW" dirty="0"/>
              <a:t> fragments)</a:t>
            </a:r>
          </a:p>
          <a:p>
            <a:pPr lvl="1"/>
            <a:r>
              <a:rPr lang="en-US" altLang="zh-TW" dirty="0"/>
              <a:t>.config file: Generated merged configuration file</a:t>
            </a:r>
          </a:p>
          <a:p>
            <a:pPr lvl="1"/>
            <a:r>
              <a:rPr lang="en-US" altLang="zh-TW" dirty="0" err="1"/>
              <a:t>autoconf.h</a:t>
            </a:r>
            <a:r>
              <a:rPr lang="en-US" altLang="zh-TW" dirty="0"/>
              <a:t>: Generated C macro file per above </a:t>
            </a:r>
          </a:p>
          <a:p>
            <a:r>
              <a:rPr lang="en-US" altLang="zh-TW" dirty="0" err="1"/>
              <a:t>Kconfig</a:t>
            </a:r>
            <a:r>
              <a:rPr lang="en-US" altLang="zh-TW" dirty="0"/>
              <a:t> search</a:t>
            </a:r>
          </a:p>
          <a:p>
            <a:pPr lvl="1"/>
            <a:r>
              <a:rPr lang="en-US" altLang="zh-TW" dirty="0"/>
              <a:t>https://docs.zephyrproject.org/latest/kconfig.html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B1B458-0DB4-D556-6669-A37524593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6C82ACA7-DD1D-403B-A404-0EB6F7C9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Kernal configuration system (</a:t>
            </a:r>
            <a:r>
              <a:rPr lang="en-US" altLang="zh-TW" dirty="0" err="1"/>
              <a:t>Kconfig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5035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5902-CB2C-2BD0-A745-0AE4E06E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157AA82-0CBD-160B-39F5-15CD078F8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5AC91BCB-26EC-CD02-B218-4570A338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Define configuration options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79F02-4D62-F8F6-60FA-F0F2E04694C8}"/>
              </a:ext>
            </a:extLst>
          </p:cNvPr>
          <p:cNvSpPr txBox="1"/>
          <p:nvPr/>
        </p:nvSpPr>
        <p:spPr>
          <a:xfrm>
            <a:off x="585629" y="1127596"/>
            <a:ext cx="1121937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zephyr/samples/modules/</a:t>
            </a:r>
            <a:r>
              <a:rPr lang="en-US" sz="2400" b="1" dirty="0" err="1"/>
              <a:t>tflite</a:t>
            </a:r>
            <a:r>
              <a:rPr lang="en-US" sz="2400" b="1" dirty="0"/>
              <a:t>-micro/</a:t>
            </a:r>
            <a:r>
              <a:rPr lang="en-US" sz="2400" b="1" dirty="0" err="1"/>
              <a:t>tflm_ethosu</a:t>
            </a:r>
            <a:r>
              <a:rPr lang="en-US" sz="2400" b="1" dirty="0"/>
              <a:t>/</a:t>
            </a:r>
            <a:r>
              <a:rPr lang="en-US" sz="2400" b="1" dirty="0" err="1"/>
              <a:t>Kconfig</a:t>
            </a:r>
            <a:endParaRPr lang="en-US" sz="2400" b="1" dirty="0"/>
          </a:p>
          <a:p>
            <a:r>
              <a:rPr lang="en-US" sz="2000" dirty="0"/>
              <a:t>config </a:t>
            </a:r>
            <a:r>
              <a:rPr lang="en-US" sz="2000" dirty="0">
                <a:highlight>
                  <a:srgbClr val="FFFF00"/>
                </a:highlight>
              </a:rPr>
              <a:t>TAINT_BLOBS_TFLM</a:t>
            </a:r>
          </a:p>
          <a:p>
            <a:r>
              <a:rPr lang="en-US" sz="2000" dirty="0"/>
              <a:t>	bool</a:t>
            </a:r>
          </a:p>
          <a:p>
            <a:r>
              <a:rPr lang="en-US" sz="2000" dirty="0"/>
              <a:t>	default y</a:t>
            </a:r>
          </a:p>
          <a:p>
            <a:r>
              <a:rPr lang="en-US" sz="2000" dirty="0"/>
              <a:t>	select TAINT_BLOBS</a:t>
            </a:r>
          </a:p>
          <a:p>
            <a:endParaRPr lang="en-US" sz="2000" dirty="0"/>
          </a:p>
          <a:p>
            <a:r>
              <a:rPr lang="en-US" sz="2000" dirty="0"/>
              <a:t>config TAINT_BLOBS_TFLM_ETHOSU</a:t>
            </a:r>
          </a:p>
          <a:p>
            <a:r>
              <a:rPr lang="en-US" sz="2000" dirty="0"/>
              <a:t>	bool "Choose Vela-compiled model targeting Ethos-U"</a:t>
            </a:r>
          </a:p>
          <a:p>
            <a:r>
              <a:rPr lang="en-US" sz="2000" dirty="0"/>
              <a:t>	default y</a:t>
            </a:r>
          </a:p>
          <a:p>
            <a:r>
              <a:rPr lang="en-US" sz="2000" dirty="0"/>
              <a:t>	depends on ETHOS_U_ARM || ETHOS_U_NUMAKER || ETHOS_U_RENESAS</a:t>
            </a:r>
          </a:p>
          <a:p>
            <a:r>
              <a:rPr lang="en-US" sz="2000" dirty="0"/>
              <a:t>	select TAINT_BLOBS_TFLM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A6D5BA-AB23-63E7-86DF-C10838404B94}"/>
              </a:ext>
            </a:extLst>
          </p:cNvPr>
          <p:cNvSpPr txBox="1"/>
          <p:nvPr/>
        </p:nvSpPr>
        <p:spPr>
          <a:xfrm>
            <a:off x="585629" y="4770721"/>
            <a:ext cx="11219378" cy="2000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zephyr/samples/modules/</a:t>
            </a:r>
            <a:r>
              <a:rPr lang="en-US" sz="2400" b="1" dirty="0" err="1"/>
              <a:t>tflite</a:t>
            </a:r>
            <a:r>
              <a:rPr lang="en-US" sz="2400" b="1" dirty="0"/>
              <a:t>-micro/</a:t>
            </a:r>
            <a:r>
              <a:rPr lang="en-US" sz="2400" b="1" dirty="0" err="1"/>
              <a:t>tflm_ethosu</a:t>
            </a:r>
            <a:r>
              <a:rPr lang="en-US" sz="2400" b="1" dirty="0"/>
              <a:t>/</a:t>
            </a:r>
            <a:r>
              <a:rPr lang="en-US" sz="2400" b="1" dirty="0" err="1"/>
              <a:t>src</a:t>
            </a:r>
            <a:r>
              <a:rPr lang="en-US" sz="2400" b="1" dirty="0"/>
              <a:t>/inference_process.cpp</a:t>
            </a:r>
          </a:p>
          <a:p>
            <a:r>
              <a:rPr lang="en-US" sz="2000" dirty="0"/>
              <a:t>#ifdef </a:t>
            </a:r>
            <a:r>
              <a:rPr lang="en-US" sz="2000" dirty="0">
                <a:highlight>
                  <a:srgbClr val="FFFF00"/>
                </a:highlight>
              </a:rPr>
              <a:t>CONFIG_TAINT_BLOBS_TFLM_ETHOSU</a:t>
            </a:r>
          </a:p>
          <a:p>
            <a:r>
              <a:rPr lang="en-US" sz="2000" dirty="0"/>
              <a:t>	...</a:t>
            </a:r>
          </a:p>
          <a:p>
            <a:r>
              <a:rPr lang="en-US" sz="2000" dirty="0"/>
              <a:t>#else</a:t>
            </a:r>
          </a:p>
          <a:p>
            <a:r>
              <a:rPr lang="en-US" sz="2000" dirty="0"/>
              <a:t>	..</a:t>
            </a:r>
          </a:p>
          <a:p>
            <a:r>
              <a:rPr lang="en-US" sz="2000" dirty="0"/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951248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13FE-0238-58FD-41E8-F12AAD54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8689E65-D4D5-A8E7-6359-8362BD08E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32200DA1-563E-342D-E701-428F8B27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Define configuration options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101E4-0EA9-B577-3F05-AF265A452B3D}"/>
              </a:ext>
            </a:extLst>
          </p:cNvPr>
          <p:cNvSpPr txBox="1"/>
          <p:nvPr/>
        </p:nvSpPr>
        <p:spPr>
          <a:xfrm>
            <a:off x="585628" y="1250884"/>
            <a:ext cx="1095736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zephyr/samples/modules/</a:t>
            </a:r>
            <a:r>
              <a:rPr lang="en-US" sz="2400" b="1" dirty="0" err="1"/>
              <a:t>tflite</a:t>
            </a:r>
            <a:r>
              <a:rPr lang="en-US" sz="2400" b="1" dirty="0"/>
              <a:t>-micro/</a:t>
            </a:r>
            <a:r>
              <a:rPr lang="en-US" sz="2400" b="1" dirty="0" err="1"/>
              <a:t>tflm_ethosu</a:t>
            </a:r>
            <a:r>
              <a:rPr lang="en-US" sz="2400" b="1" dirty="0"/>
              <a:t>/</a:t>
            </a:r>
            <a:r>
              <a:rPr lang="en-US" sz="2400" b="1" dirty="0" err="1"/>
              <a:t>Kconfig</a:t>
            </a:r>
            <a:endParaRPr lang="en-US" sz="2400" b="1" dirty="0"/>
          </a:p>
          <a:p>
            <a:r>
              <a:rPr lang="en-US" sz="2000" dirty="0"/>
              <a:t>config </a:t>
            </a:r>
            <a:r>
              <a:rPr lang="en-US" sz="2000" dirty="0">
                <a:highlight>
                  <a:srgbClr val="FFFF00"/>
                </a:highlight>
              </a:rPr>
              <a:t>SAMPLE_TFLM_ETHOSU_PMU</a:t>
            </a:r>
          </a:p>
          <a:p>
            <a:r>
              <a:rPr lang="en-US" sz="2000" dirty="0"/>
              <a:t>	bool "Enable PMU counters in sample"</a:t>
            </a:r>
          </a:p>
          <a:p>
            <a:r>
              <a:rPr lang="en-US" sz="2000" dirty="0"/>
              <a:t>	depends on ETHOS_U</a:t>
            </a:r>
          </a:p>
          <a:p>
            <a:r>
              <a:rPr lang="en-US" sz="2000" dirty="0"/>
              <a:t>	help</a:t>
            </a:r>
          </a:p>
          <a:p>
            <a:r>
              <a:rPr lang="en-US" sz="2000" dirty="0"/>
              <a:t>	  Enable PMU counters for this sample. When enabled,</a:t>
            </a:r>
          </a:p>
          <a:p>
            <a:r>
              <a:rPr lang="en-US" sz="2000" dirty="0"/>
              <a:t>	  the sample collects cycle and selected event counters per inference.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67DC5-DCBA-BC5D-072D-784FA295C768}"/>
              </a:ext>
            </a:extLst>
          </p:cNvPr>
          <p:cNvSpPr txBox="1"/>
          <p:nvPr/>
        </p:nvSpPr>
        <p:spPr>
          <a:xfrm>
            <a:off x="462675" y="3783989"/>
            <a:ext cx="10957361" cy="16927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zephyr/samples/modules/</a:t>
            </a:r>
            <a:r>
              <a:rPr lang="en-US" sz="2400" b="1" dirty="0" err="1"/>
              <a:t>tflite</a:t>
            </a:r>
            <a:r>
              <a:rPr lang="en-US" sz="2400" b="1" dirty="0"/>
              <a:t>-micro/</a:t>
            </a:r>
            <a:r>
              <a:rPr lang="en-US" sz="2400" b="1" dirty="0" err="1"/>
              <a:t>tflm_ethosu</a:t>
            </a:r>
            <a:r>
              <a:rPr lang="en-US" sz="2400" b="1" dirty="0"/>
              <a:t>/CMakeLists.txt</a:t>
            </a:r>
            <a:endParaRPr lang="en-US" sz="2000" dirty="0"/>
          </a:p>
          <a:p>
            <a:r>
              <a:rPr lang="en-US" sz="2000" dirty="0"/>
              <a:t>if(</a:t>
            </a:r>
            <a:r>
              <a:rPr lang="en-US" sz="2000" dirty="0">
                <a:highlight>
                  <a:srgbClr val="FFFF00"/>
                </a:highlight>
              </a:rPr>
              <a:t>CONFIG_SAMPLE_TFLM_ETHOSU_PMU</a:t>
            </a:r>
            <a:r>
              <a:rPr lang="en-US" sz="2000" dirty="0"/>
              <a:t>)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target_sources</a:t>
            </a:r>
            <a:r>
              <a:rPr lang="en-US" sz="2000" dirty="0"/>
              <a:t>(app PRIVATE </a:t>
            </a:r>
            <a:r>
              <a:rPr lang="en-US" sz="2000" dirty="0" err="1"/>
              <a:t>src</a:t>
            </a:r>
            <a:r>
              <a:rPr lang="en-US" sz="2000" dirty="0"/>
              <a:t>/ethosu_pmu_monitor.cpp)</a:t>
            </a:r>
          </a:p>
          <a:p>
            <a:r>
              <a:rPr lang="en-US" sz="2000" dirty="0"/>
              <a:t>  ...</a:t>
            </a:r>
          </a:p>
          <a:p>
            <a:r>
              <a:rPr lang="en-US" sz="2000" dirty="0"/>
              <a:t>Endif()</a:t>
            </a:r>
          </a:p>
        </p:txBody>
      </p:sp>
    </p:spTree>
    <p:extLst>
      <p:ext uri="{BB962C8B-B14F-4D97-AF65-F5344CB8AC3E}">
        <p14:creationId xmlns:p14="http://schemas.microsoft.com/office/powerpoint/2010/main" val="2040819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51A6-096F-BD0D-6CC3-C4203889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71DCBC-2EBE-B34E-8A50-9DC3C1813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32585718-9283-D198-4210-5A39CB2B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Define configuration options</a:t>
            </a:r>
            <a:r>
              <a:rPr lang="zh-TW" altLang="en-US" dirty="0"/>
              <a:t>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407A8-FE28-97EF-98CE-7AA6B965C58E}"/>
              </a:ext>
            </a:extLst>
          </p:cNvPr>
          <p:cNvSpPr txBox="1"/>
          <p:nvPr/>
        </p:nvSpPr>
        <p:spPr>
          <a:xfrm>
            <a:off x="606176" y="1528284"/>
            <a:ext cx="10957361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zephyr/samples/modules/</a:t>
            </a:r>
            <a:r>
              <a:rPr lang="en-US" sz="2400" b="1" dirty="0" err="1"/>
              <a:t>tflite</a:t>
            </a:r>
            <a:r>
              <a:rPr lang="en-US" sz="2400" b="1" dirty="0"/>
              <a:t>-micro/</a:t>
            </a:r>
            <a:r>
              <a:rPr lang="en-US" sz="2400" b="1" dirty="0" err="1"/>
              <a:t>tflm_ethosu</a:t>
            </a:r>
            <a:r>
              <a:rPr lang="en-US" sz="2400" b="1" dirty="0"/>
              <a:t>/</a:t>
            </a:r>
            <a:r>
              <a:rPr lang="en-US" sz="2400" b="1" dirty="0" err="1"/>
              <a:t>Kconfig</a:t>
            </a:r>
            <a:endParaRPr lang="en-US" sz="2400" b="1" dirty="0"/>
          </a:p>
          <a:p>
            <a:r>
              <a:rPr lang="en-US" sz="2000" dirty="0"/>
              <a:t>source "</a:t>
            </a:r>
            <a:r>
              <a:rPr lang="en-US" sz="2000" dirty="0" err="1"/>
              <a:t>Kconfig.zephyr</a:t>
            </a:r>
            <a:r>
              <a:rPr lang="en-US" sz="2000" dirty="0"/>
              <a:t>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29F0B1-284D-471B-8609-FC5CD2428754}"/>
              </a:ext>
            </a:extLst>
          </p:cNvPr>
          <p:cNvSpPr txBox="1"/>
          <p:nvPr/>
        </p:nvSpPr>
        <p:spPr>
          <a:xfrm>
            <a:off x="1991476" y="2562288"/>
            <a:ext cx="5919626" cy="2000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/>
              <a:t>Kconfig</a:t>
            </a:r>
            <a:r>
              <a:rPr lang="en-US" sz="2400" b="1" dirty="0"/>
              <a:t> include tree</a:t>
            </a:r>
          </a:p>
          <a:p>
            <a:r>
              <a:rPr lang="en-US" sz="2000" dirty="0"/>
              <a:t>&lt;PROJECT&gt;/</a:t>
            </a:r>
            <a:r>
              <a:rPr lang="en-US" sz="2000" dirty="0" err="1"/>
              <a:t>Kconfig</a:t>
            </a:r>
            <a:endParaRPr lang="en-US" sz="2000" dirty="0"/>
          </a:p>
          <a:p>
            <a:r>
              <a:rPr lang="en-US" sz="2000" dirty="0"/>
              <a:t>zephyr/</a:t>
            </a:r>
            <a:r>
              <a:rPr lang="en-US" sz="2000" dirty="0" err="1"/>
              <a:t>Kconfig.zephyr</a:t>
            </a:r>
            <a:endParaRPr lang="en-US" sz="2000" dirty="0"/>
          </a:p>
          <a:p>
            <a:r>
              <a:rPr lang="en-US" sz="2000" dirty="0"/>
              <a:t>...</a:t>
            </a:r>
          </a:p>
          <a:p>
            <a:r>
              <a:rPr lang="en-US" sz="2000" dirty="0"/>
              <a:t>zephyr/boards/&lt;VENDOR&gt;/&lt;BOARD&gt;/</a:t>
            </a:r>
            <a:r>
              <a:rPr lang="en-US" sz="2000" dirty="0" err="1"/>
              <a:t>Kconfig</a:t>
            </a:r>
            <a:r>
              <a:rPr lang="en-US" sz="2000" dirty="0"/>
              <a:t>*</a:t>
            </a:r>
          </a:p>
          <a:p>
            <a:r>
              <a:rPr lang="en-US" sz="20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154075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E806-79CF-D2CF-D66E-6C46BCE8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CF9CA61-426A-20E2-9A63-6EEBFEBDF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128578" cy="1446230"/>
          </a:xfrm>
        </p:spPr>
        <p:txBody>
          <a:bodyPr>
            <a:normAutofit/>
          </a:bodyPr>
          <a:lstStyle/>
          <a:p>
            <a:r>
              <a:rPr lang="en-US" altLang="zh-TW" dirty="0"/>
              <a:t>Board/SoC specific default (*_</a:t>
            </a:r>
            <a:r>
              <a:rPr lang="en-US" altLang="zh-TW" dirty="0" err="1"/>
              <a:t>defconfig</a:t>
            </a:r>
            <a:r>
              <a:rPr lang="en-US" altLang="zh-TW" dirty="0"/>
              <a:t> files)</a:t>
            </a:r>
          </a:p>
          <a:p>
            <a:pPr lvl="1"/>
            <a:r>
              <a:rPr lang="en-US" altLang="zh-TW" dirty="0"/>
              <a:t>zephyr/boards/&lt;VENDOR&gt;/&lt;BOARD&gt;/&lt;BOARD&gt;_</a:t>
            </a:r>
            <a:r>
              <a:rPr lang="en-US" altLang="zh-TW" dirty="0" err="1"/>
              <a:t>defconfig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40E02FA-84AE-85CE-FE43-95AE7E24F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A4442D66-79E8-411C-6991-FE89487E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Set configuration values (1/3)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F864C-30F9-C5A6-21CC-E200CEE5D5C7}"/>
              </a:ext>
            </a:extLst>
          </p:cNvPr>
          <p:cNvSpPr txBox="1"/>
          <p:nvPr/>
        </p:nvSpPr>
        <p:spPr>
          <a:xfrm>
            <a:off x="1017144" y="2668715"/>
            <a:ext cx="9808396" cy="3231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zephyr/boards/</a:t>
            </a:r>
            <a:r>
              <a:rPr lang="en-US" sz="2400" b="1" dirty="0" err="1"/>
              <a:t>nuvoton</a:t>
            </a:r>
            <a:r>
              <a:rPr lang="en-US" sz="2400" b="1" dirty="0"/>
              <a:t>/numaker_m55m1/numaker_m55m1_defconfig</a:t>
            </a:r>
          </a:p>
          <a:p>
            <a:r>
              <a:rPr lang="en-US" sz="2000" dirty="0"/>
              <a:t>CONFIG_GPIO=y</a:t>
            </a:r>
          </a:p>
          <a:p>
            <a:endParaRPr lang="en-US" sz="2000" dirty="0"/>
          </a:p>
          <a:p>
            <a:r>
              <a:rPr lang="en-US" sz="2000" dirty="0"/>
              <a:t># Enable system clock controller driver</a:t>
            </a:r>
          </a:p>
          <a:p>
            <a:r>
              <a:rPr lang="en-US" sz="2000" dirty="0"/>
              <a:t>CONFIG_CLOCK_CONTROL=y</a:t>
            </a:r>
          </a:p>
          <a:p>
            <a:r>
              <a:rPr lang="en-US" sz="2000" dirty="0"/>
              <a:t>CONFIG_CLOCK_CONTROL_NUMAKER_SCC=y</a:t>
            </a:r>
          </a:p>
          <a:p>
            <a:endParaRPr lang="en-US" sz="2000" dirty="0"/>
          </a:p>
          <a:p>
            <a:r>
              <a:rPr lang="en-US" sz="2000" dirty="0"/>
              <a:t># Enable MPU</a:t>
            </a:r>
          </a:p>
          <a:p>
            <a:r>
              <a:rPr lang="en-US" sz="2000" dirty="0"/>
              <a:t>CONFIG_ARM_MPU=y</a:t>
            </a:r>
          </a:p>
          <a:p>
            <a:r>
              <a:rPr lang="en-US" sz="2000" dirty="0"/>
              <a:t>CONFIG_SYS_CLOCK_HW_CYCLES_PER_SEC=220000000</a:t>
            </a:r>
          </a:p>
        </p:txBody>
      </p:sp>
    </p:spTree>
    <p:extLst>
      <p:ext uri="{BB962C8B-B14F-4D97-AF65-F5344CB8AC3E}">
        <p14:creationId xmlns:p14="http://schemas.microsoft.com/office/powerpoint/2010/main" val="3917529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A97B-E303-AA62-51EE-9033620D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91182F4-AAC6-A0A7-5D6B-F58124063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128578" cy="1713358"/>
          </a:xfrm>
        </p:spPr>
        <p:txBody>
          <a:bodyPr>
            <a:normAutofit/>
          </a:bodyPr>
          <a:lstStyle/>
          <a:p>
            <a:r>
              <a:rPr lang="en-US" altLang="zh-TW" dirty="0"/>
              <a:t>Application specific (*.conf files) (</a:t>
            </a:r>
            <a:r>
              <a:rPr lang="en-US" altLang="zh-TW" dirty="0" err="1"/>
              <a:t>Kconfig</a:t>
            </a:r>
            <a:r>
              <a:rPr lang="en-US" altLang="zh-TW" dirty="0"/>
              <a:t> fragments)</a:t>
            </a:r>
          </a:p>
          <a:p>
            <a:pPr lvl="1"/>
            <a:r>
              <a:rPr lang="en-US" altLang="zh-TW" dirty="0"/>
              <a:t>&lt;PROJECT&gt;/</a:t>
            </a:r>
            <a:r>
              <a:rPr lang="en-US" altLang="zh-TW" dirty="0" err="1"/>
              <a:t>prj.conf</a:t>
            </a:r>
            <a:endParaRPr lang="en-US" altLang="zh-TW" dirty="0"/>
          </a:p>
          <a:p>
            <a:pPr lvl="1"/>
            <a:r>
              <a:rPr lang="en-US" altLang="zh-TW" dirty="0"/>
              <a:t>&lt;PROJECT&gt;/boards/&lt;BOARD&gt;.conf</a:t>
            </a:r>
          </a:p>
          <a:p>
            <a:pPr lvl="1"/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98F2B42-6685-00DB-BF6D-3EB387643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3A64836-8346-359C-F634-B38D69534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Set configuration values (2/3)</a:t>
            </a:r>
            <a:endParaRPr lang="zh-TW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3973D-282D-E671-CB7F-3E181CBB4E1A}"/>
              </a:ext>
            </a:extLst>
          </p:cNvPr>
          <p:cNvSpPr txBox="1"/>
          <p:nvPr/>
        </p:nvSpPr>
        <p:spPr>
          <a:xfrm>
            <a:off x="260279" y="2941023"/>
            <a:ext cx="6839165" cy="2923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zephyr/tests/drivers/i2c/i2c_target_api/</a:t>
            </a:r>
            <a:r>
              <a:rPr lang="en-US" sz="2400" b="1" dirty="0" err="1"/>
              <a:t>prj.conf</a:t>
            </a:r>
            <a:endParaRPr lang="en-US" sz="2400" b="1" dirty="0"/>
          </a:p>
          <a:p>
            <a:r>
              <a:rPr lang="en-US" sz="2000" dirty="0"/>
              <a:t>CONFIG_LOG=y</a:t>
            </a:r>
          </a:p>
          <a:p>
            <a:r>
              <a:rPr lang="en-US" sz="2000" dirty="0"/>
              <a:t>CONFIG_I2C_LOG_LEVEL_INF=y</a:t>
            </a:r>
          </a:p>
          <a:p>
            <a:r>
              <a:rPr lang="en-US" sz="2000" dirty="0"/>
              <a:t>CONFIG_BOOT_BANNER=y</a:t>
            </a:r>
          </a:p>
          <a:p>
            <a:r>
              <a:rPr lang="en-US" sz="2000" dirty="0"/>
              <a:t>CONFIG_ZTEST=y</a:t>
            </a:r>
          </a:p>
          <a:p>
            <a:r>
              <a:rPr lang="en-US" sz="2000" dirty="0"/>
              <a:t>CONFIG_I2C=y</a:t>
            </a:r>
          </a:p>
          <a:p>
            <a:r>
              <a:rPr lang="en-US" sz="2000" dirty="0"/>
              <a:t>CONFIG_I2C_TARGET=y</a:t>
            </a:r>
          </a:p>
          <a:p>
            <a:r>
              <a:rPr lang="en-US" sz="2000" dirty="0"/>
              <a:t>CONFIG_I2C_EEPROM_TARGET=y</a:t>
            </a:r>
          </a:p>
          <a:p>
            <a:r>
              <a:rPr lang="en-US" sz="2000" dirty="0"/>
              <a:t>CONFIG_I2C_VIRTUAL=y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9DE15-6AC4-DC34-0C76-35445F5BE2D3}"/>
              </a:ext>
            </a:extLst>
          </p:cNvPr>
          <p:cNvSpPr txBox="1"/>
          <p:nvPr/>
        </p:nvSpPr>
        <p:spPr>
          <a:xfrm>
            <a:off x="4234676" y="3997549"/>
            <a:ext cx="7642248" cy="1446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zephyr/tests/drivers/i2c/i2c_target_api/boards/numaker_m55m1.conf</a:t>
            </a:r>
          </a:p>
          <a:p>
            <a:r>
              <a:rPr lang="es-ES" sz="2000" dirty="0"/>
              <a:t>CONFIG_I2C=y</a:t>
            </a:r>
          </a:p>
          <a:p>
            <a:r>
              <a:rPr lang="es-ES" sz="2000" dirty="0"/>
              <a:t>CONFIG_I2C_TARGET=y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2969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4206F-2401-2629-D030-F8EE1E12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9DF7E5B-5C0A-6453-1911-2F39F836F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599"/>
            <a:ext cx="9625145" cy="850329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CMake</a:t>
            </a:r>
            <a:r>
              <a:rPr lang="en-US" altLang="zh-TW" dirty="0"/>
              <a:t> cache variables (CONFIG_*)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6DC94B-925B-618E-BFDB-3A4706C2A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CEB437A0-044B-E040-0DBB-E931D333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Set configuration values (3/3)</a:t>
            </a:r>
            <a:endParaRPr lang="zh-TW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1E7C0-864A-EA5D-C5C0-1E2337024E8F}"/>
              </a:ext>
            </a:extLst>
          </p:cNvPr>
          <p:cNvSpPr txBox="1"/>
          <p:nvPr/>
        </p:nvSpPr>
        <p:spPr>
          <a:xfrm>
            <a:off x="1102760" y="2427314"/>
            <a:ext cx="6839165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$ west -v build \</a:t>
            </a:r>
          </a:p>
          <a:p>
            <a:r>
              <a:rPr lang="en-US" sz="2000" dirty="0">
                <a:highlight>
                  <a:srgbClr val="FFFF00"/>
                </a:highlight>
              </a:rPr>
              <a:t>-b numaker_m55m1 \</a:t>
            </a:r>
          </a:p>
          <a:p>
            <a:r>
              <a:rPr lang="en-US" sz="2000" dirty="0">
                <a:highlight>
                  <a:srgbClr val="FFFF00"/>
                </a:highlight>
              </a:rPr>
              <a:t>zephyr/tests/drivers/i2c/i2c_target_api \</a:t>
            </a:r>
          </a:p>
          <a:p>
            <a:r>
              <a:rPr lang="en-US" sz="2000" dirty="0">
                <a:highlight>
                  <a:srgbClr val="FFFF00"/>
                </a:highlight>
              </a:rPr>
              <a:t>-- \</a:t>
            </a:r>
          </a:p>
          <a:p>
            <a:r>
              <a:rPr lang="en-US" sz="2000" b="1" dirty="0">
                <a:highlight>
                  <a:srgbClr val="FFFF00"/>
                </a:highlight>
              </a:rPr>
              <a:t>-DCONFIG_SPEED_OPTIMIZATIONS=y</a:t>
            </a:r>
          </a:p>
        </p:txBody>
      </p:sp>
    </p:spTree>
    <p:extLst>
      <p:ext uri="{BB962C8B-B14F-4D97-AF65-F5344CB8AC3E}">
        <p14:creationId xmlns:p14="http://schemas.microsoft.com/office/powerpoint/2010/main" val="3339414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89C6-6FA8-8F28-7BEE-EB0BF86E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C30484-AB15-2BE8-5A47-60DDEBAE7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Generated combined configuration file</a:t>
            </a:r>
          </a:p>
          <a:p>
            <a:pPr lvl="1"/>
            <a:r>
              <a:rPr lang="en-US" altLang="zh-TW" dirty="0"/>
              <a:t>&lt;BUILD&gt;/zephyr/.config</a:t>
            </a:r>
          </a:p>
          <a:p>
            <a:r>
              <a:rPr lang="en-US" altLang="zh-TW" dirty="0"/>
              <a:t>Generated C header file</a:t>
            </a:r>
          </a:p>
          <a:p>
            <a:pPr lvl="1"/>
            <a:r>
              <a:rPr lang="en-US" altLang="zh-TW" dirty="0"/>
              <a:t>&lt;BUILD&gt;/zephyr/include/generated/zephyr/</a:t>
            </a:r>
            <a:r>
              <a:rPr lang="en-US" altLang="zh-TW" dirty="0" err="1"/>
              <a:t>autoconf.h</a:t>
            </a:r>
            <a:endParaRPr lang="en-US" altLang="zh-TW" dirty="0"/>
          </a:p>
          <a:p>
            <a:pPr lvl="1"/>
            <a:r>
              <a:rPr lang="en-US" altLang="zh-TW" dirty="0"/>
              <a:t>Auto-included via ‘-</a:t>
            </a:r>
            <a:r>
              <a:rPr lang="en-US" altLang="zh-TW" dirty="0" err="1"/>
              <a:t>imacros</a:t>
            </a:r>
            <a:r>
              <a:rPr lang="en-US" altLang="zh-TW" dirty="0"/>
              <a:t> </a:t>
            </a:r>
            <a:r>
              <a:rPr lang="en-US" altLang="zh-TW" dirty="0" err="1"/>
              <a:t>autoconf.h</a:t>
            </a:r>
            <a:r>
              <a:rPr lang="en-US" altLang="zh-TW" dirty="0"/>
              <a:t>’</a:t>
            </a:r>
          </a:p>
          <a:p>
            <a:pPr lvl="1"/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552AAB5-68BC-A5E4-DF0E-B1F5651F8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DE307E7E-8572-8D51-9CF6-D1F5FFB7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Kconfig</a:t>
            </a:r>
            <a:r>
              <a:rPr lang="en-US" altLang="zh-TW" dirty="0"/>
              <a:t>: Generated merged files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9909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01DC0-410B-4EFF-BC4B-21879EFB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168990F-044F-3397-8829-8DDBF58F4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Cache</a:t>
            </a:r>
          </a:p>
          <a:p>
            <a:pPr lvl="1"/>
            <a:r>
              <a:rPr lang="en-US" altLang="zh-TW" dirty="0"/>
              <a:t>CONFIG_CACHE_MANAGEMENT</a:t>
            </a:r>
          </a:p>
          <a:p>
            <a:r>
              <a:rPr lang="en-US" altLang="zh-TW" dirty="0"/>
              <a:t>FPU</a:t>
            </a:r>
          </a:p>
          <a:p>
            <a:pPr lvl="1"/>
            <a:r>
              <a:rPr lang="es-ES" altLang="zh-TW" dirty="0"/>
              <a:t>CONFIG_FPU</a:t>
            </a:r>
          </a:p>
          <a:p>
            <a:pPr lvl="1"/>
            <a:r>
              <a:rPr lang="es-ES" altLang="zh-TW" dirty="0"/>
              <a:t>CONFIG_FPU_SHARING</a:t>
            </a:r>
          </a:p>
          <a:p>
            <a:pPr lvl="1"/>
            <a:r>
              <a:rPr lang="es-ES" altLang="zh-TW" dirty="0"/>
              <a:t>CONFIG_FP_HARDABI</a:t>
            </a:r>
            <a:endParaRPr lang="en-US" altLang="zh-TW" dirty="0"/>
          </a:p>
          <a:p>
            <a:r>
              <a:rPr lang="en-US" altLang="zh-TW" dirty="0"/>
              <a:t>Compiler optimization level</a:t>
            </a:r>
          </a:p>
          <a:p>
            <a:pPr lvl="1"/>
            <a:r>
              <a:rPr lang="en-US" altLang="zh-TW" dirty="0"/>
              <a:t>CONFIG_SIZE_OPTIMIZATIONS (-</a:t>
            </a:r>
            <a:r>
              <a:rPr lang="en-US" altLang="zh-TW" dirty="0" err="1"/>
              <a:t>Os</a:t>
            </a:r>
            <a:r>
              <a:rPr lang="en-US" altLang="zh-TW" dirty="0"/>
              <a:t>) (default)</a:t>
            </a:r>
          </a:p>
          <a:p>
            <a:pPr lvl="1"/>
            <a:r>
              <a:rPr lang="en-US" altLang="zh-TW" dirty="0"/>
              <a:t>CONFIG_SIZE_OPTIMIZATIONS_AGGRESSIVE (-Oz)</a:t>
            </a:r>
          </a:p>
          <a:p>
            <a:pPr lvl="1"/>
            <a:r>
              <a:rPr lang="en-US" altLang="zh-TW" dirty="0"/>
              <a:t>CONFIG_SPEED_OPTIMIZATIONS (-O2)</a:t>
            </a:r>
          </a:p>
          <a:p>
            <a:pPr lvl="1"/>
            <a:r>
              <a:rPr lang="en-US" altLang="zh-TW" dirty="0"/>
              <a:t>CONFIG_DEBUG_OPTIMIZATIONS (-Og)</a:t>
            </a:r>
          </a:p>
          <a:p>
            <a:pPr lvl="1"/>
            <a:r>
              <a:rPr lang="en-US" altLang="zh-TW" dirty="0"/>
              <a:t>CONFIG_NO_OPTIMIZATIONS (-O0) (stack overflow)</a:t>
            </a:r>
          </a:p>
          <a:p>
            <a:pPr lvl="1"/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92C65C-ECE7-B8ED-1A88-32A0BA49A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24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41A3F176-240F-7985-6630-39667A05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Common </a:t>
            </a:r>
            <a:r>
              <a:rPr lang="en-US" altLang="zh-TW" dirty="0" err="1"/>
              <a:t>Kconfig</a:t>
            </a:r>
            <a:r>
              <a:rPr lang="en-US" altLang="zh-TW" dirty="0"/>
              <a:t> options (1/3)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1284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F683C-4A2F-746C-8D06-7E1435EF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2899F12-84BB-8D9A-C06D-B2FEE241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Main stack</a:t>
            </a:r>
          </a:p>
          <a:p>
            <a:pPr lvl="1"/>
            <a:r>
              <a:rPr lang="en-US" altLang="zh-TW" dirty="0"/>
              <a:t>CONFIG_MAIN_STACK_SIZE</a:t>
            </a:r>
          </a:p>
          <a:p>
            <a:r>
              <a:rPr lang="en-US" altLang="zh-TW" dirty="0"/>
              <a:t>Logging</a:t>
            </a:r>
          </a:p>
          <a:p>
            <a:pPr lvl="1"/>
            <a:r>
              <a:rPr lang="en-US" altLang="zh-TW" dirty="0"/>
              <a:t>CONFIG_LOG</a:t>
            </a:r>
          </a:p>
          <a:p>
            <a:pPr lvl="1"/>
            <a:r>
              <a:rPr lang="en-US" altLang="zh-TW" dirty="0"/>
              <a:t>CONFIG_REQUIRES_FLOAT_PRINTF  (floating-point)</a:t>
            </a:r>
          </a:p>
          <a:p>
            <a:pPr lvl="1"/>
            <a:r>
              <a:rPr lang="en-US" altLang="zh-TW" dirty="0"/>
              <a:t>CONFIG_LOG_BLOCK_IN_THREAD (few messages dropped)</a:t>
            </a:r>
          </a:p>
          <a:p>
            <a:r>
              <a:rPr lang="en-US" altLang="zh-TW" dirty="0"/>
              <a:t>C++ language</a:t>
            </a:r>
          </a:p>
          <a:p>
            <a:pPr lvl="1"/>
            <a:r>
              <a:rPr lang="es-ES" altLang="zh-TW" dirty="0"/>
              <a:t>CONFIG_CPP</a:t>
            </a:r>
          </a:p>
          <a:p>
            <a:pPr lvl="1"/>
            <a:r>
              <a:rPr lang="es-ES" altLang="zh-TW" dirty="0"/>
              <a:t>CONFIG_STD_CPP17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EE358B5-4BE7-64D2-933D-08D626C74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5E81E8F1-D760-8317-D373-95638F6B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Common </a:t>
            </a:r>
            <a:r>
              <a:rPr lang="en-US" altLang="zh-TW" dirty="0" err="1"/>
              <a:t>Kconfig</a:t>
            </a:r>
            <a:r>
              <a:rPr lang="en-US" altLang="zh-TW" dirty="0"/>
              <a:t> options (2/3)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2596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561CB-A9B1-8333-9E5C-E241F45E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CF9FA07-CAA4-197A-BF9B-5AF74A01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CMSIS DSP</a:t>
            </a:r>
          </a:p>
          <a:p>
            <a:pPr lvl="1"/>
            <a:r>
              <a:rPr lang="en-US" altLang="zh-TW" dirty="0"/>
              <a:t>CONFIG_CMSIS_DSP</a:t>
            </a:r>
          </a:p>
          <a:p>
            <a:pPr lvl="1"/>
            <a:r>
              <a:rPr lang="en-US" altLang="zh-TW" dirty="0"/>
              <a:t>CONFIG_CMSIS_DSP_COMPLEXMATH, CONFIG_CMSIS_DSP_FASTMATH, CONFIG_CMSIS_DSP_TRANSFORM, etc.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54BB46-17F4-B981-3FD8-FCBD15E2D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DF45C5A9-0D15-2118-4455-97152673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Common </a:t>
            </a:r>
            <a:r>
              <a:rPr lang="en-US" altLang="zh-TW" dirty="0" err="1"/>
              <a:t>Kconfig</a:t>
            </a:r>
            <a:r>
              <a:rPr lang="en-US" altLang="zh-TW" dirty="0"/>
              <a:t> options (3/3)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5091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DA4E73-C977-678E-81F6-EA50A6932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7" y="1245600"/>
            <a:ext cx="11351203" cy="4932000"/>
          </a:xfrm>
        </p:spPr>
        <p:txBody>
          <a:bodyPr>
            <a:normAutofit/>
          </a:bodyPr>
          <a:lstStyle/>
          <a:p>
            <a:r>
              <a:rPr lang="en-US" dirty="0"/>
              <a:t>A hierarchical data structure used to describe H/W and its boot-time configuration</a:t>
            </a:r>
          </a:p>
          <a:p>
            <a:pPr lvl="1"/>
            <a:r>
              <a:rPr lang="en-US" dirty="0"/>
              <a:t>For system,  memory base/size (Flash, SRAM), CPU frequency, etc.</a:t>
            </a:r>
          </a:p>
          <a:p>
            <a:pPr lvl="1"/>
            <a:r>
              <a:rPr lang="en-US" dirty="0"/>
              <a:t>For peripheral, register base, interrupt, pins, etc.</a:t>
            </a:r>
          </a:p>
          <a:p>
            <a:r>
              <a:rPr lang="en-US" dirty="0"/>
              <a:t>Unlike Linux, Zephyr parses the DTS at compile time and generates C language macros, rather than blob.</a:t>
            </a:r>
          </a:p>
          <a:p>
            <a:r>
              <a:rPr lang="en-US" dirty="0"/>
              <a:t>Separate H/W specifics from application logic</a:t>
            </a:r>
          </a:p>
          <a:p>
            <a:pPr lvl="1"/>
            <a:r>
              <a:rPr lang="en-US" dirty="0"/>
              <a:t>No hardcode</a:t>
            </a:r>
          </a:p>
          <a:p>
            <a:pPr lvl="1"/>
            <a:r>
              <a:rPr lang="en-US" dirty="0"/>
              <a:t>Retarget without change to C/C++ code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5C20F-BDBE-6842-BD0B-A89B4372B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27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F12425-F7A9-B65C-6413-D3019370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 (1/4)</a:t>
            </a:r>
          </a:p>
        </p:txBody>
      </p:sp>
    </p:spTree>
    <p:extLst>
      <p:ext uri="{BB962C8B-B14F-4D97-AF65-F5344CB8AC3E}">
        <p14:creationId xmlns:p14="http://schemas.microsoft.com/office/powerpoint/2010/main" val="79500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DC70-071B-0117-470F-3D9EFA78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D3B5A7-191B-7FBB-8D32-EB522D2D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7" y="1245600"/>
            <a:ext cx="11351203" cy="4932000"/>
          </a:xfrm>
        </p:spPr>
        <p:txBody>
          <a:bodyPr>
            <a:normAutofit/>
          </a:bodyPr>
          <a:lstStyle/>
          <a:p>
            <a:r>
              <a:rPr lang="en-US" dirty="0"/>
              <a:t>Constituent files</a:t>
            </a:r>
          </a:p>
          <a:p>
            <a:pPr lvl="1"/>
            <a:r>
              <a:rPr lang="en-US" dirty="0"/>
              <a:t>DTS files (*.</a:t>
            </a:r>
            <a:r>
              <a:rPr lang="en-US" dirty="0" err="1"/>
              <a:t>dts</a:t>
            </a:r>
            <a:r>
              <a:rPr lang="en-US" dirty="0"/>
              <a:t>): Contain board-level definitions and configuration</a:t>
            </a:r>
          </a:p>
          <a:p>
            <a:pPr lvl="1"/>
            <a:r>
              <a:rPr lang="en-US" dirty="0"/>
              <a:t>DTS include files (*.</a:t>
            </a:r>
            <a:r>
              <a:rPr lang="en-US" dirty="0" err="1"/>
              <a:t>dtsi</a:t>
            </a:r>
            <a:r>
              <a:rPr lang="en-US" dirty="0"/>
              <a:t>): Contain SoC-level or board-level definitions and configurations to be included</a:t>
            </a:r>
          </a:p>
          <a:p>
            <a:pPr lvl="1"/>
            <a:r>
              <a:rPr lang="en-US" dirty="0"/>
              <a:t>DTS overlay files (*.overlay): Allow customizing or overriding H/W configurations</a:t>
            </a:r>
          </a:p>
          <a:p>
            <a:pPr lvl="1"/>
            <a:r>
              <a:rPr lang="en-US" dirty="0"/>
              <a:t>DTS binding files (*.</a:t>
            </a:r>
            <a:r>
              <a:rPr lang="en-US" dirty="0" err="1"/>
              <a:t>yaml</a:t>
            </a:r>
            <a:r>
              <a:rPr lang="en-US" dirty="0"/>
              <a:t>): Define which properties are valid within a node and link H/W device to S/</a:t>
            </a:r>
            <a:r>
              <a:rPr lang="en-US"/>
              <a:t>W driver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55363-D3E6-0CCB-E7C1-81709E413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28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45E3FD-FF72-6D45-3E9F-7E13B28C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 (2/4)</a:t>
            </a:r>
          </a:p>
        </p:txBody>
      </p:sp>
    </p:spTree>
    <p:extLst>
      <p:ext uri="{BB962C8B-B14F-4D97-AF65-F5344CB8AC3E}">
        <p14:creationId xmlns:p14="http://schemas.microsoft.com/office/powerpoint/2010/main" val="2068650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7067-E270-090D-FD03-DF424F40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9E687C-1E3B-7373-BE57-DB839930A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Include </a:t>
            </a:r>
            <a:r>
              <a:rPr lang="en-US" dirty="0"/>
              <a:t>tree:</a:t>
            </a:r>
          </a:p>
          <a:p>
            <a:pPr lvl="1"/>
            <a:r>
              <a:rPr lang="en-US" dirty="0"/>
              <a:t>Board DTS file (--board)</a:t>
            </a:r>
          </a:p>
          <a:p>
            <a:pPr lvl="2"/>
            <a:r>
              <a:rPr lang="en-US" dirty="0"/>
              <a:t>zephyr/boards/&lt;VENDOR&gt;/&lt;BOARD&gt;/&lt;BOARD&gt;.</a:t>
            </a:r>
            <a:r>
              <a:rPr lang="en-US" dirty="0" err="1"/>
              <a:t>dts</a:t>
            </a:r>
            <a:endParaRPr lang="en-US" dirty="0"/>
          </a:p>
          <a:p>
            <a:pPr lvl="1"/>
            <a:r>
              <a:rPr lang="en-US" dirty="0"/>
              <a:t>Included SoC-level DTSI file (#include)</a:t>
            </a:r>
          </a:p>
          <a:p>
            <a:pPr lvl="2"/>
            <a:r>
              <a:rPr lang="en-US" dirty="0"/>
              <a:t>Zephyr/</a:t>
            </a:r>
            <a:r>
              <a:rPr lang="en-US" dirty="0" err="1"/>
              <a:t>dts</a:t>
            </a:r>
            <a:r>
              <a:rPr lang="en-US" dirty="0"/>
              <a:t>/arm/</a:t>
            </a:r>
            <a:r>
              <a:rPr lang="en-US" dirty="0" err="1"/>
              <a:t>nuvoton</a:t>
            </a:r>
            <a:r>
              <a:rPr lang="en-US" dirty="0"/>
              <a:t>/&lt;SOC&gt;.</a:t>
            </a:r>
            <a:r>
              <a:rPr lang="en-US" dirty="0" err="1"/>
              <a:t>dtsi</a:t>
            </a:r>
            <a:endParaRPr lang="en-US" dirty="0"/>
          </a:p>
          <a:p>
            <a:pPr lvl="1"/>
            <a:r>
              <a:rPr lang="en-US" dirty="0"/>
              <a:t>Included C header file (#include)</a:t>
            </a:r>
          </a:p>
          <a:p>
            <a:pPr lvl="2"/>
            <a:r>
              <a:rPr lang="en-US" dirty="0"/>
              <a:t>*.h</a:t>
            </a:r>
          </a:p>
          <a:p>
            <a:pPr lvl="1"/>
            <a:r>
              <a:rPr lang="en-US" dirty="0"/>
              <a:t>Board overlay file</a:t>
            </a:r>
          </a:p>
          <a:p>
            <a:pPr lvl="2"/>
            <a:r>
              <a:rPr lang="en-US" dirty="0"/>
              <a:t>&lt;PROJECT&gt;/boards/&lt;BOARD&gt;.overlay</a:t>
            </a:r>
          </a:p>
          <a:p>
            <a:pPr lvl="2"/>
            <a:r>
              <a:rPr lang="en-US" dirty="0"/>
              <a:t>&lt;PROJECT&gt;/</a:t>
            </a:r>
            <a:r>
              <a:rPr lang="en-US" dirty="0" err="1"/>
              <a:t>app.overlay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7B7EB-6D13-9172-F4C3-EA04FE77E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29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EA4301-8CC7-2738-09DB-F9882577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 (3/4)</a:t>
            </a:r>
          </a:p>
        </p:txBody>
      </p:sp>
    </p:spTree>
    <p:extLst>
      <p:ext uri="{BB962C8B-B14F-4D97-AF65-F5344CB8AC3E}">
        <p14:creationId xmlns:p14="http://schemas.microsoft.com/office/powerpoint/2010/main" val="4195626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DC59C4-52C1-BDEB-7E65-F18AB959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Generated combined DTS file</a:t>
            </a:r>
          </a:p>
          <a:p>
            <a:pPr lvl="1"/>
            <a:r>
              <a:rPr lang="en-US" dirty="0"/>
              <a:t>&lt;BUILD&gt;/zephyr/</a:t>
            </a:r>
            <a:r>
              <a:rPr lang="en-US" dirty="0" err="1"/>
              <a:t>zephyr.dts</a:t>
            </a:r>
            <a:endParaRPr lang="en-US" dirty="0"/>
          </a:p>
          <a:p>
            <a:r>
              <a:rPr lang="en-US" dirty="0"/>
              <a:t>Generated C macro header file</a:t>
            </a:r>
          </a:p>
          <a:p>
            <a:pPr lvl="1"/>
            <a:r>
              <a:rPr lang="en-US" dirty="0"/>
              <a:t>build/zephyr/include/generated/zephyr/</a:t>
            </a:r>
            <a:r>
              <a:rPr lang="en-US" dirty="0" err="1"/>
              <a:t>devicetree_generated.h</a:t>
            </a:r>
            <a:endParaRPr lang="en-US" dirty="0"/>
          </a:p>
          <a:p>
            <a:pPr lvl="1"/>
            <a:r>
              <a:rPr lang="en-US" dirty="0"/>
              <a:t>Access via </a:t>
            </a:r>
            <a:r>
              <a:rPr lang="en-US" dirty="0" err="1"/>
              <a:t>Devicetree</a:t>
            </a:r>
            <a:r>
              <a:rPr lang="en-US" dirty="0"/>
              <a:t> API instead of directly</a:t>
            </a:r>
          </a:p>
          <a:p>
            <a:pPr lvl="1"/>
            <a:r>
              <a:rPr lang="en-US" dirty="0"/>
              <a:t>https://docs.zephyrproject.org/latest/build/dts/api/api.html</a:t>
            </a:r>
          </a:p>
          <a:p>
            <a:r>
              <a:rPr lang="en-US" dirty="0"/>
              <a:t>Example: DT_N_S_soc_S_serial_4024d000_P_current_speed</a:t>
            </a:r>
          </a:p>
          <a:p>
            <a:pPr lvl="1"/>
            <a:r>
              <a:rPr lang="en-US" dirty="0"/>
              <a:t>DT_: Common prefix for </a:t>
            </a:r>
            <a:r>
              <a:rPr lang="en-US" dirty="0" err="1"/>
              <a:t>Devicetree</a:t>
            </a:r>
            <a:r>
              <a:rPr lang="en-US" dirty="0"/>
              <a:t> macros</a:t>
            </a:r>
          </a:p>
          <a:p>
            <a:pPr lvl="1"/>
            <a:r>
              <a:rPr lang="en-US" dirty="0"/>
              <a:t>_S_ : Forward slash ‘/’</a:t>
            </a:r>
          </a:p>
          <a:p>
            <a:pPr lvl="1"/>
            <a:r>
              <a:rPr lang="en-US" dirty="0"/>
              <a:t>_N_ :  Node</a:t>
            </a:r>
          </a:p>
          <a:p>
            <a:pPr lvl="1"/>
            <a:r>
              <a:rPr lang="en-US" dirty="0"/>
              <a:t>_P_: Property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85942-1C98-CFB1-2BB3-4B02F1082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30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186A82-F615-74F8-7427-1303DE36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 (4/4)</a:t>
            </a:r>
          </a:p>
        </p:txBody>
      </p:sp>
    </p:spTree>
    <p:extLst>
      <p:ext uri="{BB962C8B-B14F-4D97-AF65-F5344CB8AC3E}">
        <p14:creationId xmlns:p14="http://schemas.microsoft.com/office/powerpoint/2010/main" val="764801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24D46-A9FF-44E2-FE14-DD211ED85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31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AF918E-8A0D-1726-3C74-08BED421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System Clock Controller (1/3)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3A928-0E00-C25F-B399-224AFB53B08B}"/>
              </a:ext>
            </a:extLst>
          </p:cNvPr>
          <p:cNvSpPr txBox="1"/>
          <p:nvPr/>
        </p:nvSpPr>
        <p:spPr>
          <a:xfrm>
            <a:off x="597642" y="1433192"/>
            <a:ext cx="9172875" cy="4462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zephyr/dts/arm/nuvoton/m55m1x.dtsi</a:t>
            </a:r>
            <a:endParaRPr lang="en-US" sz="2000" dirty="0"/>
          </a:p>
          <a:p>
            <a:r>
              <a:rPr lang="en-US" sz="2000" dirty="0" err="1">
                <a:highlight>
                  <a:srgbClr val="FFFF00"/>
                </a:highlight>
              </a:rPr>
              <a:t>scc</a:t>
            </a:r>
            <a:r>
              <a:rPr lang="en-US" sz="2000" dirty="0"/>
              <a:t>: system-clock-controller@40001000 {</a:t>
            </a:r>
          </a:p>
          <a:p>
            <a:r>
              <a:rPr lang="en-US" sz="2000" dirty="0"/>
              <a:t>	compatible = "</a:t>
            </a:r>
            <a:r>
              <a:rPr lang="en-US" sz="2000" dirty="0" err="1"/>
              <a:t>nuvoton,numaker-scc</a:t>
            </a:r>
            <a:r>
              <a:rPr lang="en-US" sz="2000" dirty="0"/>
              <a:t>";</a:t>
            </a:r>
          </a:p>
          <a:p>
            <a:r>
              <a:rPr lang="en-US" sz="2000" dirty="0"/>
              <a:t>	reg = &lt;0x40001000 0x100&gt;;</a:t>
            </a:r>
          </a:p>
          <a:p>
            <a:r>
              <a:rPr lang="en-US" sz="2000" dirty="0"/>
              <a:t>	#clock-cells = &lt;0&gt;;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lxt</a:t>
            </a:r>
            <a:r>
              <a:rPr lang="en-US" sz="2000" dirty="0"/>
              <a:t> = "enable";</a:t>
            </a:r>
          </a:p>
          <a:p>
            <a:r>
              <a:rPr lang="en-US" sz="2000" dirty="0"/>
              <a:t>	hirc48m = "enable";</a:t>
            </a:r>
          </a:p>
          <a:p>
            <a:r>
              <a:rPr lang="en-US" sz="2000" dirty="0"/>
              <a:t>	</a:t>
            </a:r>
            <a:r>
              <a:rPr lang="en-US" sz="2000" dirty="0" err="1">
                <a:highlight>
                  <a:srgbClr val="FFFF00"/>
                </a:highlight>
              </a:rPr>
              <a:t>clk-pclkdiv</a:t>
            </a:r>
            <a:r>
              <a:rPr lang="en-US" sz="2000" dirty="0"/>
              <a:t> = &lt;(NUMAKER_CLK_PCLKDIV_PCLK0DIV(2) |</a:t>
            </a:r>
          </a:p>
          <a:p>
            <a:r>
              <a:rPr lang="en-US" sz="2000" dirty="0"/>
              <a:t>		       NUMAKER_CLK_PCLKDIV_PCLK1DIV(2) |</a:t>
            </a:r>
          </a:p>
          <a:p>
            <a:r>
              <a:rPr lang="en-US" sz="2000" dirty="0"/>
              <a:t>		       NUMAKER_CLK_PCLKDIV_PCLK2DIV(2) |</a:t>
            </a:r>
          </a:p>
          <a:p>
            <a:r>
              <a:rPr lang="en-US" sz="2000" dirty="0"/>
              <a:t>		       NUMAKER_CLK_PCLKDIV_PCLK3DIV(2) |</a:t>
            </a:r>
          </a:p>
          <a:p>
            <a:r>
              <a:rPr lang="en-US" sz="2000" dirty="0"/>
              <a:t>		       NUMAKER_CLK_PCLKDIV_PCLK4DIV(2))&gt;;</a:t>
            </a:r>
          </a:p>
          <a:p>
            <a:r>
              <a:rPr lang="en-US" sz="2000" dirty="0"/>
              <a:t>	</a:t>
            </a:r>
            <a:r>
              <a:rPr lang="en-US" sz="2000" dirty="0">
                <a:highlight>
                  <a:srgbClr val="FFFF00"/>
                </a:highlight>
              </a:rPr>
              <a:t>core-clock</a:t>
            </a:r>
            <a:r>
              <a:rPr lang="en-US" sz="2000" dirty="0"/>
              <a:t> = &lt;DT_FREQ_M(220)&gt;;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powerdown</a:t>
            </a:r>
            <a:r>
              <a:rPr lang="en-US" sz="2000" dirty="0"/>
              <a:t>-mode = &lt;NUMAKER_PMC_SPD0&gt;;</a:t>
            </a:r>
          </a:p>
        </p:txBody>
      </p:sp>
    </p:spTree>
    <p:extLst>
      <p:ext uri="{BB962C8B-B14F-4D97-AF65-F5344CB8AC3E}">
        <p14:creationId xmlns:p14="http://schemas.microsoft.com/office/powerpoint/2010/main" val="3295601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E9EA-E367-415B-1F57-FF1F60142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AA3BA-EAFD-AC57-7D3B-3FCE77BA5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32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3DCBB8-AD39-537C-56C7-354AE8DB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System Clock Controller (2/3)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53551-8745-D479-2F17-D90A58FD7F62}"/>
              </a:ext>
            </a:extLst>
          </p:cNvPr>
          <p:cNvSpPr txBox="1"/>
          <p:nvPr/>
        </p:nvSpPr>
        <p:spPr>
          <a:xfrm>
            <a:off x="597642" y="1289355"/>
            <a:ext cx="9172875" cy="53860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</a:t>
            </a:r>
            <a:r>
              <a:rPr lang="en-US" sz="2400" b="1" dirty="0" err="1"/>
              <a:t>dts</a:t>
            </a:r>
            <a:r>
              <a:rPr lang="en-US" sz="2400" b="1" dirty="0"/>
              <a:t>/bindings/clock/</a:t>
            </a:r>
            <a:r>
              <a:rPr lang="en-US" sz="2400" b="1" dirty="0" err="1"/>
              <a:t>nuvoton,numaker-scc.yaml</a:t>
            </a:r>
            <a:endParaRPr lang="en-US" sz="2400" b="1" dirty="0"/>
          </a:p>
          <a:p>
            <a:r>
              <a:rPr lang="en-US" sz="2000" dirty="0"/>
              <a:t>description: </a:t>
            </a:r>
            <a:r>
              <a:rPr lang="en-US" sz="2000" dirty="0" err="1"/>
              <a:t>Nuvoton</a:t>
            </a:r>
            <a:r>
              <a:rPr lang="en-US" sz="2000" dirty="0"/>
              <a:t> </a:t>
            </a:r>
            <a:r>
              <a:rPr lang="en-US" sz="2000" dirty="0" err="1"/>
              <a:t>NuMaker</a:t>
            </a:r>
            <a:r>
              <a:rPr lang="en-US" sz="2000" dirty="0"/>
              <a:t> System Clock Controller (SCC)</a:t>
            </a:r>
          </a:p>
          <a:p>
            <a:r>
              <a:rPr lang="en-US" sz="2000" dirty="0"/>
              <a:t>compatible: "</a:t>
            </a:r>
            <a:r>
              <a:rPr lang="en-US" sz="2000" dirty="0" err="1"/>
              <a:t>nuvoton,numaker-scc</a:t>
            </a:r>
            <a:r>
              <a:rPr lang="en-US" sz="2000" dirty="0"/>
              <a:t>"</a:t>
            </a:r>
          </a:p>
          <a:p>
            <a:r>
              <a:rPr lang="en-US" sz="2000" dirty="0"/>
              <a:t>include: [clock-</a:t>
            </a:r>
            <a:r>
              <a:rPr lang="en-US" sz="2000" dirty="0" err="1"/>
              <a:t>controller.yaml</a:t>
            </a:r>
            <a:r>
              <a:rPr lang="en-US" sz="2000" dirty="0"/>
              <a:t>, </a:t>
            </a:r>
            <a:r>
              <a:rPr lang="en-US" sz="2000" dirty="0" err="1"/>
              <a:t>base.yaml</a:t>
            </a:r>
            <a:r>
              <a:rPr lang="en-US" sz="2000" dirty="0"/>
              <a:t>]</a:t>
            </a:r>
          </a:p>
          <a:p>
            <a:r>
              <a:rPr lang="en-US" sz="2000" dirty="0"/>
              <a:t>properties:</a:t>
            </a:r>
          </a:p>
          <a:p>
            <a:r>
              <a:rPr lang="en-US" sz="2000" dirty="0"/>
              <a:t>  reg:</a:t>
            </a:r>
          </a:p>
          <a:p>
            <a:r>
              <a:rPr lang="en-US" sz="2000" dirty="0"/>
              <a:t>    required: true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hxt</a:t>
            </a:r>
            <a:r>
              <a:rPr lang="en-US" sz="2000" dirty="0"/>
              <a:t>:</a:t>
            </a:r>
          </a:p>
          <a:p>
            <a:r>
              <a:rPr lang="en-US" sz="2000" dirty="0"/>
              <a:t>    type: string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lxt</a:t>
            </a:r>
            <a:r>
              <a:rPr lang="en-US" sz="2000" dirty="0"/>
              <a:t>:</a:t>
            </a:r>
          </a:p>
          <a:p>
            <a:r>
              <a:rPr lang="en-US" sz="2000" dirty="0"/>
              <a:t>    type: string</a:t>
            </a:r>
          </a:p>
          <a:p>
            <a:r>
              <a:rPr lang="en-US" sz="2000" dirty="0"/>
              <a:t>  hirc48m:</a:t>
            </a:r>
          </a:p>
          <a:p>
            <a:r>
              <a:rPr lang="en-US" sz="2000" dirty="0"/>
              <a:t>    type: string</a:t>
            </a:r>
          </a:p>
          <a:p>
            <a:r>
              <a:rPr lang="en-US" sz="2000" dirty="0"/>
              <a:t>  </a:t>
            </a:r>
            <a:r>
              <a:rPr lang="en-US" sz="2000" dirty="0" err="1">
                <a:highlight>
                  <a:srgbClr val="FFFF00"/>
                </a:highlight>
              </a:rPr>
              <a:t>clk-pclkdiv</a:t>
            </a:r>
            <a:r>
              <a:rPr lang="en-US" sz="2000" dirty="0"/>
              <a:t>:</a:t>
            </a:r>
          </a:p>
          <a:p>
            <a:r>
              <a:rPr lang="en-US" sz="2000" dirty="0"/>
              <a:t>    type: int</a:t>
            </a:r>
          </a:p>
          <a:p>
            <a:r>
              <a:rPr lang="en-US" sz="2000" dirty="0"/>
              <a:t>  </a:t>
            </a:r>
            <a:r>
              <a:rPr lang="en-US" sz="2000" dirty="0">
                <a:highlight>
                  <a:srgbClr val="FFFF00"/>
                </a:highlight>
              </a:rPr>
              <a:t>core-clock</a:t>
            </a:r>
            <a:r>
              <a:rPr lang="en-US" sz="2000" dirty="0"/>
              <a:t>:</a:t>
            </a:r>
          </a:p>
          <a:p>
            <a:r>
              <a:rPr lang="en-US" sz="2000" dirty="0"/>
              <a:t>    type: int</a:t>
            </a:r>
          </a:p>
        </p:txBody>
      </p:sp>
    </p:spTree>
    <p:extLst>
      <p:ext uri="{BB962C8B-B14F-4D97-AF65-F5344CB8AC3E}">
        <p14:creationId xmlns:p14="http://schemas.microsoft.com/office/powerpoint/2010/main" val="2777228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241B-251D-55B3-5AF5-0A81B6846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31A82-1D56-D258-5444-9A496B767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F2FA17-5547-D3AB-B454-924B1978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System Clock Controller (3/3)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DFBEC3-CA62-DAFA-80F5-78D6F8EC3036}"/>
              </a:ext>
            </a:extLst>
          </p:cNvPr>
          <p:cNvSpPr txBox="1"/>
          <p:nvPr/>
        </p:nvSpPr>
        <p:spPr>
          <a:xfrm>
            <a:off x="597642" y="1772240"/>
            <a:ext cx="9172875" cy="3231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zephyr/soc/</a:t>
            </a:r>
            <a:r>
              <a:rPr lang="en-US" sz="2400" b="1" dirty="0" err="1"/>
              <a:t>nuvoton</a:t>
            </a:r>
            <a:r>
              <a:rPr lang="en-US" sz="2400" b="1" dirty="0"/>
              <a:t>/</a:t>
            </a:r>
            <a:r>
              <a:rPr lang="en-US" sz="2400" b="1" dirty="0" err="1"/>
              <a:t>numaker</a:t>
            </a:r>
            <a:r>
              <a:rPr lang="en-US" sz="2400" b="1" dirty="0"/>
              <a:t>/m55m1x/</a:t>
            </a:r>
            <a:r>
              <a:rPr lang="en-US" sz="2400" b="1" dirty="0" err="1"/>
              <a:t>soc.c</a:t>
            </a:r>
            <a:endParaRPr lang="en-US" sz="2400" b="1" dirty="0"/>
          </a:p>
          <a:p>
            <a:r>
              <a:rPr lang="en-US" sz="2000" dirty="0"/>
              <a:t>#if DT_NODE_HAS_PROP(DT_NODELABEL(</a:t>
            </a:r>
            <a:r>
              <a:rPr lang="en-US" sz="2000" dirty="0" err="1">
                <a:highlight>
                  <a:srgbClr val="FFFF00"/>
                </a:highlight>
              </a:rPr>
              <a:t>scc</a:t>
            </a:r>
            <a:r>
              <a:rPr lang="en-US" sz="2000" dirty="0"/>
              <a:t>), </a:t>
            </a:r>
            <a:r>
              <a:rPr lang="en-US" sz="2000" dirty="0" err="1">
                <a:highlight>
                  <a:srgbClr val="FFFF00"/>
                </a:highlight>
              </a:rPr>
              <a:t>clk_pclkdiv</a:t>
            </a:r>
            <a:r>
              <a:rPr lang="en-US" sz="2000" dirty="0"/>
              <a:t>)</a:t>
            </a:r>
          </a:p>
          <a:p>
            <a:r>
              <a:rPr lang="en-US" sz="2000" dirty="0"/>
              <a:t>	/* Set CLK_PCLKDIV register on request */</a:t>
            </a:r>
          </a:p>
          <a:p>
            <a:r>
              <a:rPr lang="en-US" sz="2000" dirty="0"/>
              <a:t>	CLK-&gt;PCLKDIV = DT_PROP(DT_NODELABEL(</a:t>
            </a:r>
            <a:r>
              <a:rPr lang="en-US" sz="2000" dirty="0" err="1">
                <a:highlight>
                  <a:srgbClr val="FFFF00"/>
                </a:highlight>
              </a:rPr>
              <a:t>scc</a:t>
            </a:r>
            <a:r>
              <a:rPr lang="en-US" sz="2000" dirty="0"/>
              <a:t>), </a:t>
            </a:r>
            <a:r>
              <a:rPr lang="en-US" sz="2000" dirty="0" err="1">
                <a:highlight>
                  <a:srgbClr val="FFFF00"/>
                </a:highlight>
              </a:rPr>
              <a:t>clk_pclkdiv</a:t>
            </a:r>
            <a:r>
              <a:rPr lang="en-US" sz="2000" dirty="0"/>
              <a:t>);</a:t>
            </a:r>
          </a:p>
          <a:p>
            <a:r>
              <a:rPr lang="en-US" sz="2000" dirty="0"/>
              <a:t>#endif</a:t>
            </a:r>
          </a:p>
          <a:p>
            <a:endParaRPr lang="en-US" sz="2000" dirty="0"/>
          </a:p>
          <a:p>
            <a:r>
              <a:rPr lang="en-US" sz="2000" dirty="0"/>
              <a:t>#if DT_NODE_HAS_PROP(DT_NODELABEL(</a:t>
            </a:r>
            <a:r>
              <a:rPr lang="en-US" sz="2000" dirty="0" err="1">
                <a:highlight>
                  <a:srgbClr val="FFFF00"/>
                </a:highlight>
              </a:rPr>
              <a:t>scc</a:t>
            </a:r>
            <a:r>
              <a:rPr lang="en-US" sz="2000" dirty="0"/>
              <a:t>), </a:t>
            </a:r>
            <a:r>
              <a:rPr lang="en-US" sz="2000" dirty="0" err="1"/>
              <a:t>c</a:t>
            </a:r>
            <a:r>
              <a:rPr lang="en-US" sz="2000" dirty="0" err="1">
                <a:highlight>
                  <a:srgbClr val="FFFF00"/>
                </a:highlight>
              </a:rPr>
              <a:t>ore_clock</a:t>
            </a:r>
            <a:r>
              <a:rPr lang="en-US" sz="2000" dirty="0"/>
              <a:t>)</a:t>
            </a:r>
          </a:p>
          <a:p>
            <a:r>
              <a:rPr lang="en-US" sz="2000" dirty="0"/>
              <a:t>	/* Set core clock (HCLK) on request */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CLK_SetCoreClock</a:t>
            </a:r>
            <a:r>
              <a:rPr lang="en-US" sz="2000" dirty="0"/>
              <a:t>(DT_PROP(DT_NODELABEL(</a:t>
            </a:r>
            <a:r>
              <a:rPr lang="en-US" sz="2000" dirty="0" err="1">
                <a:highlight>
                  <a:srgbClr val="FFFF00"/>
                </a:highlight>
              </a:rPr>
              <a:t>scc</a:t>
            </a:r>
            <a:r>
              <a:rPr lang="en-US" sz="2000" dirty="0"/>
              <a:t>), </a:t>
            </a:r>
            <a:r>
              <a:rPr lang="en-US" sz="2000" dirty="0" err="1">
                <a:highlight>
                  <a:srgbClr val="FFFF00"/>
                </a:highlight>
              </a:rPr>
              <a:t>core_clock</a:t>
            </a:r>
            <a:r>
              <a:rPr lang="en-US" sz="2000" dirty="0"/>
              <a:t>));</a:t>
            </a:r>
          </a:p>
          <a:p>
            <a:r>
              <a:rPr lang="en-US" sz="2000" dirty="0"/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189074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432F-F423-4206-2FDD-E6641C36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FC0939-F048-DE43-2582-F8AC4F0B8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1072303"/>
          </a:xfrm>
        </p:spPr>
        <p:txBody>
          <a:bodyPr>
            <a:normAutofit/>
          </a:bodyPr>
          <a:lstStyle/>
          <a:p>
            <a:r>
              <a:rPr lang="en-US" dirty="0" err="1"/>
              <a:t>CLK_EnableModuleClock</a:t>
            </a:r>
            <a:endParaRPr lang="en-US" dirty="0"/>
          </a:p>
          <a:p>
            <a:r>
              <a:rPr lang="en-US" dirty="0" err="1"/>
              <a:t>CLK_SetModuleClock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E2B290-2EE7-F918-728D-CF58F02B8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D3F9C2-E561-AD7A-8BEF-FE611F09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Peripheral Clock Controller (1/4)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8B8D1-9A1A-814F-DE87-8B5DD41C3756}"/>
              </a:ext>
            </a:extLst>
          </p:cNvPr>
          <p:cNvSpPr txBox="1"/>
          <p:nvPr/>
        </p:nvSpPr>
        <p:spPr>
          <a:xfrm>
            <a:off x="5116088" y="1364362"/>
            <a:ext cx="684466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zephyr/dts/arm/nuvoton/m55m1x.dtsi</a:t>
            </a:r>
          </a:p>
          <a:p>
            <a:r>
              <a:rPr lang="en-US" sz="2000" dirty="0"/>
              <a:t>uart0: serial@4024d000 {</a:t>
            </a:r>
          </a:p>
          <a:p>
            <a:r>
              <a:rPr lang="en-US" sz="2000" dirty="0"/>
              <a:t>	compatible = "</a:t>
            </a:r>
            <a:r>
              <a:rPr lang="en-US" sz="2000" dirty="0" err="1"/>
              <a:t>nuvoton,numaker-uart</a:t>
            </a:r>
            <a:r>
              <a:rPr lang="en-US" sz="2000" dirty="0"/>
              <a:t>";</a:t>
            </a:r>
          </a:p>
          <a:p>
            <a:r>
              <a:rPr lang="en-US" sz="2000" dirty="0"/>
              <a:t>	reg = &lt;0x4024d000 0x1000&gt;;</a:t>
            </a:r>
          </a:p>
          <a:p>
            <a:r>
              <a:rPr lang="en-US" sz="2000" dirty="0"/>
              <a:t>	interrupts = &lt;75 0&gt;;</a:t>
            </a:r>
          </a:p>
          <a:p>
            <a:r>
              <a:rPr lang="en-US" sz="2000" dirty="0"/>
              <a:t>	resets = &lt;&amp;</a:t>
            </a:r>
            <a:r>
              <a:rPr lang="en-US" sz="2000" dirty="0" err="1"/>
              <a:t>rst</a:t>
            </a:r>
            <a:r>
              <a:rPr lang="en-US" sz="2000" dirty="0"/>
              <a:t> NUMAKER_SYS_UART0RST&gt;;</a:t>
            </a:r>
          </a:p>
          <a:p>
            <a:r>
              <a:rPr lang="en-US" sz="2000" dirty="0"/>
              <a:t>	</a:t>
            </a:r>
            <a:r>
              <a:rPr lang="en-US" sz="2000" b="1" dirty="0"/>
              <a:t>clocks </a:t>
            </a:r>
            <a:r>
              <a:rPr lang="en-US" sz="2000" dirty="0"/>
              <a:t>= &lt;&amp;</a:t>
            </a:r>
            <a:r>
              <a:rPr lang="en-US" sz="2000" dirty="0" err="1">
                <a:highlight>
                  <a:srgbClr val="FFFF00"/>
                </a:highlight>
              </a:rPr>
              <a:t>pcc</a:t>
            </a:r>
            <a:endParaRPr lang="en-US" sz="2000" dirty="0">
              <a:highlight>
                <a:srgbClr val="FFFF00"/>
              </a:highlight>
            </a:endParaRPr>
          </a:p>
          <a:p>
            <a:r>
              <a:rPr lang="en-US" sz="2000" dirty="0"/>
              <a:t>		</a:t>
            </a:r>
            <a:r>
              <a:rPr lang="en-US" sz="2000" dirty="0">
                <a:highlight>
                  <a:srgbClr val="FFFF00"/>
                </a:highlight>
              </a:rPr>
              <a:t>NUMAKER_UART0_MODULE</a:t>
            </a:r>
          </a:p>
          <a:p>
            <a:r>
              <a:rPr lang="en-US" sz="2000" dirty="0"/>
              <a:t>		</a:t>
            </a:r>
            <a:r>
              <a:rPr lang="en-US" sz="2000" dirty="0">
                <a:highlight>
                  <a:srgbClr val="FFFF00"/>
                </a:highlight>
              </a:rPr>
              <a:t>NUMAKER_CLK_UARTSEL0_UART0SEL_HIRC</a:t>
            </a:r>
          </a:p>
          <a:p>
            <a:r>
              <a:rPr lang="en-US" sz="2000" dirty="0"/>
              <a:t>		</a:t>
            </a:r>
            <a:r>
              <a:rPr lang="en-US" sz="2000" dirty="0">
                <a:highlight>
                  <a:srgbClr val="FFFF00"/>
                </a:highlight>
              </a:rPr>
              <a:t>NUMAKER_CLK_UARTDIV0_UART0DIV(1)&gt;</a:t>
            </a:r>
            <a:r>
              <a:rPr lang="en-US" sz="2000" dirty="0"/>
              <a:t>;</a:t>
            </a:r>
          </a:p>
          <a:p>
            <a:r>
              <a:rPr lang="en-US" sz="2000" dirty="0"/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8ED78-F399-B93C-28DC-3B469C92672A}"/>
              </a:ext>
            </a:extLst>
          </p:cNvPr>
          <p:cNvSpPr txBox="1"/>
          <p:nvPr/>
        </p:nvSpPr>
        <p:spPr>
          <a:xfrm>
            <a:off x="456029" y="3806867"/>
            <a:ext cx="6201626" cy="2000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zephyr/dts/arm/nuvoton/m55m1x.dtsi</a:t>
            </a:r>
            <a:endParaRPr lang="en-US" sz="2000" dirty="0"/>
          </a:p>
          <a:p>
            <a:r>
              <a:rPr lang="en-US" sz="2000" dirty="0" err="1"/>
              <a:t>scc</a:t>
            </a:r>
            <a:r>
              <a:rPr lang="en-US" sz="2000" dirty="0"/>
              <a:t>: system-clock-controller@40001000 {</a:t>
            </a:r>
          </a:p>
          <a:p>
            <a:r>
              <a:rPr lang="en-US" sz="2000" dirty="0"/>
              <a:t>	</a:t>
            </a:r>
            <a:r>
              <a:rPr lang="en-US" sz="2000" dirty="0" err="1">
                <a:highlight>
                  <a:srgbClr val="FFFF00"/>
                </a:highlight>
              </a:rPr>
              <a:t>pcc</a:t>
            </a:r>
            <a:r>
              <a:rPr lang="en-US" sz="2000" dirty="0"/>
              <a:t>: peripheral-clock-controller {</a:t>
            </a:r>
          </a:p>
          <a:p>
            <a:r>
              <a:rPr lang="en-US" sz="2000" dirty="0"/>
              <a:t>		compatible = "</a:t>
            </a:r>
            <a:r>
              <a:rPr lang="en-US" sz="2000" dirty="0" err="1"/>
              <a:t>nuvoton,numaker-pcc</a:t>
            </a:r>
            <a:r>
              <a:rPr lang="en-US" sz="2000" dirty="0"/>
              <a:t>";</a:t>
            </a:r>
          </a:p>
          <a:p>
            <a:r>
              <a:rPr lang="en-US" sz="2000" dirty="0"/>
              <a:t>		#clock-cells = &lt;3&gt;;</a:t>
            </a:r>
          </a:p>
          <a:p>
            <a:r>
              <a:rPr lang="en-US" sz="2000" dirty="0"/>
              <a:t>	};</a:t>
            </a:r>
          </a:p>
        </p:txBody>
      </p:sp>
    </p:spTree>
    <p:extLst>
      <p:ext uri="{BB962C8B-B14F-4D97-AF65-F5344CB8AC3E}">
        <p14:creationId xmlns:p14="http://schemas.microsoft.com/office/powerpoint/2010/main" val="2979088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29E3-2015-0F47-E668-68C5CEA4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0392AE-B7C5-81B3-9CB2-4972D8423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1C8CE5-E887-15DB-8425-16A604F3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Peripheral Clock Controller (2/4)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DD59D-C09C-CF6F-D7C5-30F767E4A9A4}"/>
              </a:ext>
            </a:extLst>
          </p:cNvPr>
          <p:cNvSpPr txBox="1"/>
          <p:nvPr/>
        </p:nvSpPr>
        <p:spPr>
          <a:xfrm>
            <a:off x="597642" y="1905802"/>
            <a:ext cx="9172875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zephyr/dts/bindings/clock/nuvoton,numaker-pcc.yaml</a:t>
            </a:r>
          </a:p>
          <a:p>
            <a:r>
              <a:rPr lang="en-US" sz="2000" dirty="0"/>
              <a:t>description: </a:t>
            </a:r>
            <a:r>
              <a:rPr lang="en-US" sz="2000" dirty="0" err="1"/>
              <a:t>Nuvoton</a:t>
            </a:r>
            <a:r>
              <a:rPr lang="en-US" sz="2000" dirty="0"/>
              <a:t> </a:t>
            </a:r>
            <a:r>
              <a:rPr lang="en-US" sz="2000" dirty="0" err="1"/>
              <a:t>NuMaker</a:t>
            </a:r>
            <a:r>
              <a:rPr lang="en-US" sz="2000" dirty="0"/>
              <a:t> Peripheral Clock Controller (PCC)</a:t>
            </a:r>
          </a:p>
          <a:p>
            <a:r>
              <a:rPr lang="en-US" sz="2000" dirty="0"/>
              <a:t>compatible: "</a:t>
            </a:r>
            <a:r>
              <a:rPr lang="en-US" sz="2000" dirty="0" err="1"/>
              <a:t>nuvoton,numaker-pcc</a:t>
            </a:r>
            <a:r>
              <a:rPr lang="en-US" sz="2000" dirty="0"/>
              <a:t>"</a:t>
            </a:r>
          </a:p>
          <a:p>
            <a:r>
              <a:rPr lang="en-US" sz="2000" dirty="0"/>
              <a:t>include: [clock-</a:t>
            </a:r>
            <a:r>
              <a:rPr lang="en-US" sz="2000" dirty="0" err="1"/>
              <a:t>controller.yaml</a:t>
            </a:r>
            <a:r>
              <a:rPr lang="en-US" sz="2000" dirty="0"/>
              <a:t>, </a:t>
            </a:r>
            <a:r>
              <a:rPr lang="en-US" sz="2000" dirty="0" err="1"/>
              <a:t>base.yaml</a:t>
            </a:r>
            <a:r>
              <a:rPr lang="en-US" sz="2000" dirty="0"/>
              <a:t>]</a:t>
            </a:r>
          </a:p>
          <a:p>
            <a:r>
              <a:rPr lang="en-US" sz="2000" dirty="0"/>
              <a:t>properties:</a:t>
            </a:r>
          </a:p>
          <a:p>
            <a:r>
              <a:rPr lang="en-US" sz="2000" dirty="0"/>
              <a:t>  "#clock-cells":</a:t>
            </a:r>
          </a:p>
          <a:p>
            <a:r>
              <a:rPr lang="en-US" sz="2000" dirty="0"/>
              <a:t>    const: 3</a:t>
            </a:r>
          </a:p>
          <a:p>
            <a:r>
              <a:rPr lang="en-US" sz="2000" dirty="0"/>
              <a:t>clock-cells:</a:t>
            </a:r>
          </a:p>
          <a:p>
            <a:r>
              <a:rPr lang="en-US" sz="2000" dirty="0"/>
              <a:t>  - </a:t>
            </a:r>
            <a:r>
              <a:rPr lang="en-US" sz="2000" dirty="0">
                <a:highlight>
                  <a:srgbClr val="FFFF00"/>
                </a:highlight>
              </a:rPr>
              <a:t>clock-module-index</a:t>
            </a:r>
          </a:p>
          <a:p>
            <a:r>
              <a:rPr lang="en-US" sz="2000" dirty="0"/>
              <a:t>  - </a:t>
            </a:r>
            <a:r>
              <a:rPr lang="en-US" sz="2000" dirty="0">
                <a:highlight>
                  <a:srgbClr val="FFFF00"/>
                </a:highlight>
              </a:rPr>
              <a:t>clock-source</a:t>
            </a:r>
          </a:p>
          <a:p>
            <a:r>
              <a:rPr lang="en-US" sz="2000" dirty="0"/>
              <a:t>  - </a:t>
            </a:r>
            <a:r>
              <a:rPr lang="en-US" sz="2000" dirty="0">
                <a:highlight>
                  <a:srgbClr val="FFFF00"/>
                </a:highlight>
              </a:rPr>
              <a:t>clock-divider</a:t>
            </a:r>
          </a:p>
        </p:txBody>
      </p:sp>
    </p:spTree>
    <p:extLst>
      <p:ext uri="{BB962C8B-B14F-4D97-AF65-F5344CB8AC3E}">
        <p14:creationId xmlns:p14="http://schemas.microsoft.com/office/powerpoint/2010/main" val="4189065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2817-04A3-1C6B-3B32-7E97A160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9A395-E22C-C00A-3922-CC8855EB5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36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1E41B1-A6D1-FA26-B7D1-AC60AE8E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Peripheral Clock Controller (3/4)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586E1-C287-3EBC-AD37-2419D81E5EFE}"/>
              </a:ext>
            </a:extLst>
          </p:cNvPr>
          <p:cNvSpPr txBox="1"/>
          <p:nvPr/>
        </p:nvSpPr>
        <p:spPr>
          <a:xfrm>
            <a:off x="597642" y="1381820"/>
            <a:ext cx="9172875" cy="36625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zephyr/drivers/serial/uart_numaker.c</a:t>
            </a:r>
          </a:p>
          <a:p>
            <a:r>
              <a:rPr lang="sv-SE" sz="2400" b="1" dirty="0"/>
              <a:t>Devicetree API</a:t>
            </a:r>
          </a:p>
          <a:p>
            <a:r>
              <a:rPr lang="en-US" sz="2000" dirty="0"/>
              <a:t>.</a:t>
            </a:r>
            <a:r>
              <a:rPr lang="en-US" sz="2000" dirty="0" err="1"/>
              <a:t>clk_modidx</a:t>
            </a:r>
            <a:r>
              <a:rPr lang="en-US" sz="2000" dirty="0"/>
              <a:t> = DT_INST_CLOCKS_CELL(</a:t>
            </a:r>
            <a:r>
              <a:rPr lang="en-US" sz="2000" dirty="0" err="1"/>
              <a:t>inst</a:t>
            </a:r>
            <a:r>
              <a:rPr lang="en-US" sz="2000" dirty="0"/>
              <a:t>, </a:t>
            </a:r>
            <a:r>
              <a:rPr lang="en-US" sz="2000" dirty="0" err="1">
                <a:highlight>
                  <a:srgbClr val="FFFF00"/>
                </a:highlight>
              </a:rPr>
              <a:t>clock_module_index</a:t>
            </a:r>
            <a:r>
              <a:rPr lang="en-US" sz="2000" dirty="0"/>
              <a:t>),</a:t>
            </a:r>
          </a:p>
          <a:p>
            <a:r>
              <a:rPr lang="en-US" sz="2000" dirty="0"/>
              <a:t>.</a:t>
            </a:r>
            <a:r>
              <a:rPr lang="en-US" sz="2000" dirty="0" err="1"/>
              <a:t>clk_src</a:t>
            </a:r>
            <a:r>
              <a:rPr lang="en-US" sz="2000" dirty="0"/>
              <a:t> = DT_INST_CLOCKS_CELL(</a:t>
            </a:r>
            <a:r>
              <a:rPr lang="en-US" sz="2000" dirty="0" err="1"/>
              <a:t>inst</a:t>
            </a:r>
            <a:r>
              <a:rPr lang="en-US" sz="2000" dirty="0"/>
              <a:t>, </a:t>
            </a:r>
            <a:r>
              <a:rPr lang="en-US" sz="2000" dirty="0" err="1">
                <a:highlight>
                  <a:srgbClr val="FFFF00"/>
                </a:highlight>
              </a:rPr>
              <a:t>clock_source</a:t>
            </a:r>
            <a:r>
              <a:rPr lang="en-US" sz="2000" dirty="0"/>
              <a:t>),</a:t>
            </a:r>
          </a:p>
          <a:p>
            <a:r>
              <a:rPr lang="en-US" sz="2000" dirty="0"/>
              <a:t>.</a:t>
            </a:r>
            <a:r>
              <a:rPr lang="en-US" sz="2000" dirty="0" err="1"/>
              <a:t>clk_div</a:t>
            </a:r>
            <a:r>
              <a:rPr lang="en-US" sz="2000" dirty="0"/>
              <a:t> = DT_INST_CLOCKS_CELL(</a:t>
            </a:r>
            <a:r>
              <a:rPr lang="en-US" sz="2000" dirty="0" err="1"/>
              <a:t>inst</a:t>
            </a:r>
            <a:r>
              <a:rPr lang="en-US" sz="2000" dirty="0"/>
              <a:t>, </a:t>
            </a:r>
            <a:r>
              <a:rPr lang="en-US" sz="2000" dirty="0" err="1">
                <a:highlight>
                  <a:srgbClr val="FFFF00"/>
                </a:highlight>
              </a:rPr>
              <a:t>clock_divider</a:t>
            </a:r>
            <a:r>
              <a:rPr lang="en-US" sz="2000" dirty="0"/>
              <a:t>),</a:t>
            </a:r>
          </a:p>
          <a:p>
            <a:r>
              <a:rPr lang="en-US" sz="2400" b="1" dirty="0"/>
              <a:t>Clock Controller API</a:t>
            </a:r>
          </a:p>
          <a:p>
            <a:r>
              <a:rPr lang="en-US" sz="2000" dirty="0" err="1"/>
              <a:t>scc_subsys.pcc.clk_modidx</a:t>
            </a:r>
            <a:r>
              <a:rPr lang="en-US" sz="2000" dirty="0"/>
              <a:t> = config-&gt;</a:t>
            </a:r>
            <a:r>
              <a:rPr lang="en-US" sz="2000" dirty="0" err="1"/>
              <a:t>clk_modidx</a:t>
            </a:r>
            <a:r>
              <a:rPr lang="en-US" sz="2000" dirty="0"/>
              <a:t>;</a:t>
            </a:r>
          </a:p>
          <a:p>
            <a:r>
              <a:rPr lang="en-US" sz="2000" dirty="0" err="1"/>
              <a:t>scc_subsys.pcc.clk_src</a:t>
            </a:r>
            <a:r>
              <a:rPr lang="en-US" sz="2000" dirty="0"/>
              <a:t> = config-&gt;</a:t>
            </a:r>
            <a:r>
              <a:rPr lang="en-US" sz="2000" dirty="0" err="1"/>
              <a:t>clk_src</a:t>
            </a:r>
            <a:r>
              <a:rPr lang="en-US" sz="2000" dirty="0"/>
              <a:t>;</a:t>
            </a:r>
          </a:p>
          <a:p>
            <a:r>
              <a:rPr lang="en-US" sz="2000" dirty="0" err="1"/>
              <a:t>scc_subsys.pcc.clk_div</a:t>
            </a:r>
            <a:r>
              <a:rPr lang="en-US" sz="2000" dirty="0"/>
              <a:t> = config-&gt;</a:t>
            </a:r>
            <a:r>
              <a:rPr lang="en-US" sz="2000" dirty="0" err="1"/>
              <a:t>clk_div</a:t>
            </a:r>
            <a:r>
              <a:rPr lang="en-US" sz="2000" dirty="0"/>
              <a:t>;</a:t>
            </a:r>
          </a:p>
          <a:p>
            <a:r>
              <a:rPr lang="en-US" sz="2000" dirty="0" err="1"/>
              <a:t>clock_control_on</a:t>
            </a:r>
            <a:r>
              <a:rPr lang="en-US" sz="2000" dirty="0"/>
              <a:t>(config-&gt;</a:t>
            </a:r>
            <a:r>
              <a:rPr lang="en-US" sz="2000" dirty="0" err="1"/>
              <a:t>clk_dev</a:t>
            </a:r>
            <a:r>
              <a:rPr lang="en-US" sz="2000" dirty="0"/>
              <a:t>, (</a:t>
            </a:r>
            <a:r>
              <a:rPr lang="en-US" sz="2000" dirty="0" err="1"/>
              <a:t>clock_control_subsys_t</a:t>
            </a:r>
            <a:r>
              <a:rPr lang="en-US" sz="2000" dirty="0"/>
              <a:t>)&amp;</a:t>
            </a:r>
            <a:r>
              <a:rPr lang="en-US" sz="2000" dirty="0" err="1"/>
              <a:t>scc_subsys</a:t>
            </a:r>
            <a:r>
              <a:rPr lang="en-US" sz="2000" dirty="0"/>
              <a:t>);</a:t>
            </a:r>
          </a:p>
          <a:p>
            <a:r>
              <a:rPr lang="en-US" sz="2000" dirty="0" err="1"/>
              <a:t>clock_control_configure</a:t>
            </a:r>
            <a:r>
              <a:rPr lang="en-US" sz="2000" dirty="0"/>
              <a:t>(config-&gt;</a:t>
            </a:r>
            <a:r>
              <a:rPr lang="en-US" sz="2000" dirty="0" err="1"/>
              <a:t>clk_dev</a:t>
            </a:r>
            <a:r>
              <a:rPr lang="en-US" sz="2000" dirty="0"/>
              <a:t>, (</a:t>
            </a:r>
            <a:r>
              <a:rPr lang="en-US" sz="2000" dirty="0" err="1"/>
              <a:t>clock_control_subsys_t</a:t>
            </a:r>
            <a:r>
              <a:rPr lang="en-US" sz="2000" dirty="0"/>
              <a:t>)&amp;</a:t>
            </a:r>
            <a:r>
              <a:rPr lang="en-US" sz="2000" dirty="0" err="1"/>
              <a:t>scc_subsys</a:t>
            </a:r>
            <a:r>
              <a:rPr lang="en-US" sz="2000" dirty="0"/>
              <a:t>, NULL);</a:t>
            </a:r>
          </a:p>
        </p:txBody>
      </p:sp>
    </p:spTree>
    <p:extLst>
      <p:ext uri="{BB962C8B-B14F-4D97-AF65-F5344CB8AC3E}">
        <p14:creationId xmlns:p14="http://schemas.microsoft.com/office/powerpoint/2010/main" val="624677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D13DE-9821-84BB-4D2A-BC92F994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8478B5-6DFC-7074-748D-C891C1A73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37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322FD4-623F-A913-9074-B1B875A6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Peripheral Clock Controller (4/4)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6358A-C3C0-9993-072A-82878CFF1A5F}"/>
              </a:ext>
            </a:extLst>
          </p:cNvPr>
          <p:cNvSpPr txBox="1"/>
          <p:nvPr/>
        </p:nvSpPr>
        <p:spPr>
          <a:xfrm>
            <a:off x="281054" y="1628404"/>
            <a:ext cx="11523954" cy="3847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zephyr/drivers/</a:t>
            </a:r>
            <a:r>
              <a:rPr lang="en-US" sz="2400" b="1" dirty="0" err="1"/>
              <a:t>clock_control</a:t>
            </a:r>
            <a:r>
              <a:rPr lang="en-US" sz="2400" b="1" dirty="0"/>
              <a:t>/</a:t>
            </a:r>
            <a:r>
              <a:rPr lang="en-US" sz="2400" b="1" dirty="0" err="1"/>
              <a:t>clock_control_numaker_scc.c</a:t>
            </a:r>
            <a:endParaRPr lang="en-US" sz="2400" b="1" dirty="0"/>
          </a:p>
          <a:p>
            <a:r>
              <a:rPr lang="en-US" sz="2000" dirty="0"/>
              <a:t>static inline int </a:t>
            </a:r>
            <a:r>
              <a:rPr lang="en-US" sz="2000" dirty="0" err="1"/>
              <a:t>numaker_scc_configure</a:t>
            </a:r>
            <a:r>
              <a:rPr lang="en-US" sz="2000" dirty="0"/>
              <a:t>(const struct device *dev, </a:t>
            </a:r>
            <a:r>
              <a:rPr lang="en-US" sz="2000" dirty="0" err="1"/>
              <a:t>clock_control_subsys_t</a:t>
            </a:r>
            <a:r>
              <a:rPr lang="en-US" sz="2000" dirty="0"/>
              <a:t> </a:t>
            </a:r>
            <a:r>
              <a:rPr lang="en-US" sz="2000" dirty="0" err="1"/>
              <a:t>subsys</a:t>
            </a:r>
            <a:r>
              <a:rPr lang="en-US" sz="2000" dirty="0"/>
              <a:t>,</a:t>
            </a:r>
          </a:p>
          <a:p>
            <a:r>
              <a:rPr lang="en-US" sz="2000" dirty="0"/>
              <a:t>					void *data)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	struct </a:t>
            </a:r>
            <a:r>
              <a:rPr lang="en-US" sz="2000" dirty="0" err="1"/>
              <a:t>numaker_scc_subsys</a:t>
            </a:r>
            <a:r>
              <a:rPr lang="en-US" sz="2000" dirty="0"/>
              <a:t> *</a:t>
            </a:r>
            <a:r>
              <a:rPr lang="en-US" sz="2000" dirty="0" err="1"/>
              <a:t>scc_subsys</a:t>
            </a:r>
            <a:r>
              <a:rPr lang="en-US" sz="2000" dirty="0"/>
              <a:t> = (struct </a:t>
            </a:r>
            <a:r>
              <a:rPr lang="en-US" sz="2000" dirty="0" err="1"/>
              <a:t>numaker_scc_subsys</a:t>
            </a:r>
            <a:r>
              <a:rPr lang="en-US" sz="2000" dirty="0"/>
              <a:t> *)</a:t>
            </a:r>
            <a:r>
              <a:rPr lang="en-US" sz="2000" dirty="0" err="1"/>
              <a:t>subsys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r>
              <a:rPr lang="en-US" sz="2000" dirty="0"/>
              <a:t>	if (</a:t>
            </a:r>
            <a:r>
              <a:rPr lang="en-US" sz="2000" dirty="0" err="1"/>
              <a:t>scc_subsys</a:t>
            </a:r>
            <a:r>
              <a:rPr lang="en-US" sz="2000" dirty="0"/>
              <a:t>-&gt;</a:t>
            </a:r>
            <a:r>
              <a:rPr lang="en-US" sz="2000" dirty="0" err="1"/>
              <a:t>subsys_id</a:t>
            </a:r>
            <a:r>
              <a:rPr lang="en-US" sz="2000" dirty="0"/>
              <a:t> == NUMAKER_SCC_SUBSYS_ID_PCC) {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SYS_UnlockReg</a:t>
            </a:r>
            <a:r>
              <a:rPr lang="en-US" sz="2000" dirty="0"/>
              <a:t>();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CLK_SetModuleClock</a:t>
            </a:r>
            <a:r>
              <a:rPr lang="en-US" sz="2000" dirty="0"/>
              <a:t>(</a:t>
            </a:r>
            <a:r>
              <a:rPr lang="en-US" sz="2000" dirty="0" err="1"/>
              <a:t>scc_subsys</a:t>
            </a:r>
            <a:r>
              <a:rPr lang="en-US" sz="2000" dirty="0"/>
              <a:t>-&gt;</a:t>
            </a:r>
            <a:r>
              <a:rPr lang="en-US" sz="2000" dirty="0" err="1"/>
              <a:t>pcc.</a:t>
            </a:r>
            <a:r>
              <a:rPr lang="en-US" sz="2000" dirty="0" err="1">
                <a:highlight>
                  <a:srgbClr val="FFFF00"/>
                </a:highlight>
              </a:rPr>
              <a:t>clk_modidx</a:t>
            </a:r>
            <a:r>
              <a:rPr lang="en-US" sz="2000" dirty="0"/>
              <a:t>, </a:t>
            </a:r>
            <a:r>
              <a:rPr lang="en-US" sz="2000" dirty="0" err="1"/>
              <a:t>scc_subsys</a:t>
            </a:r>
            <a:r>
              <a:rPr lang="en-US" sz="2000" dirty="0"/>
              <a:t>-&gt;</a:t>
            </a:r>
            <a:r>
              <a:rPr lang="en-US" sz="2000" dirty="0" err="1"/>
              <a:t>pcc.</a:t>
            </a:r>
            <a:r>
              <a:rPr lang="en-US" sz="2000" dirty="0" err="1">
                <a:highlight>
                  <a:srgbClr val="FFFF00"/>
                </a:highlight>
              </a:rPr>
              <a:t>clk_src</a:t>
            </a:r>
            <a:r>
              <a:rPr lang="en-US" sz="2000" dirty="0"/>
              <a:t>,</a:t>
            </a:r>
          </a:p>
          <a:p>
            <a:r>
              <a:rPr lang="en-US" sz="2000" dirty="0"/>
              <a:t>				   </a:t>
            </a:r>
            <a:r>
              <a:rPr lang="en-US" sz="2000" dirty="0" err="1"/>
              <a:t>scc_subsys</a:t>
            </a:r>
            <a:r>
              <a:rPr lang="en-US" sz="2000" dirty="0"/>
              <a:t>-&gt;</a:t>
            </a:r>
            <a:r>
              <a:rPr lang="en-US" sz="2000" dirty="0" err="1"/>
              <a:t>pcc.</a:t>
            </a:r>
            <a:r>
              <a:rPr lang="en-US" sz="2000" dirty="0" err="1">
                <a:highlight>
                  <a:srgbClr val="FFFF00"/>
                </a:highlight>
              </a:rPr>
              <a:t>clk_div</a:t>
            </a:r>
            <a:r>
              <a:rPr lang="en-US" sz="2000" dirty="0"/>
              <a:t>);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SYS_LockReg</a:t>
            </a:r>
            <a:r>
              <a:rPr lang="en-US" sz="2000" dirty="0"/>
              <a:t>();</a:t>
            </a:r>
          </a:p>
          <a:p>
            <a:r>
              <a:rPr lang="en-US" sz="2000" dirty="0"/>
              <a:t>	} else {</a:t>
            </a:r>
          </a:p>
        </p:txBody>
      </p:sp>
    </p:spTree>
    <p:extLst>
      <p:ext uri="{BB962C8B-B14F-4D97-AF65-F5344CB8AC3E}">
        <p14:creationId xmlns:p14="http://schemas.microsoft.com/office/powerpoint/2010/main" val="3592850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598F-6C51-3360-5995-B82B1582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3D5441-27AF-6532-0BDF-96B7DD726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599"/>
            <a:ext cx="10957361" cy="1292117"/>
          </a:xfrm>
        </p:spPr>
        <p:txBody>
          <a:bodyPr/>
          <a:lstStyle/>
          <a:p>
            <a:r>
              <a:rPr lang="en-US" dirty="0" err="1"/>
              <a:t>SYS_ResetModule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1A3F6D-7027-5000-A18D-60B0759B0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38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C54AAD-1D08-45FB-D27A-28A4CDED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Reset Controller (1/5)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FF88E-E6B7-37A6-9991-328590560038}"/>
              </a:ext>
            </a:extLst>
          </p:cNvPr>
          <p:cNvSpPr txBox="1"/>
          <p:nvPr/>
        </p:nvSpPr>
        <p:spPr>
          <a:xfrm>
            <a:off x="5116088" y="1919167"/>
            <a:ext cx="684466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zephyr/dts/arm/nuvoton/m55m1x.dtsi</a:t>
            </a:r>
          </a:p>
          <a:p>
            <a:r>
              <a:rPr lang="en-US" sz="2000" dirty="0"/>
              <a:t>uart0: serial@4024d000 {</a:t>
            </a:r>
          </a:p>
          <a:p>
            <a:r>
              <a:rPr lang="en-US" sz="2000" dirty="0"/>
              <a:t>	compatible = "</a:t>
            </a:r>
            <a:r>
              <a:rPr lang="en-US" sz="2000" dirty="0" err="1"/>
              <a:t>nuvoton,numaker-uart</a:t>
            </a:r>
            <a:r>
              <a:rPr lang="en-US" sz="2000" dirty="0"/>
              <a:t>";</a:t>
            </a:r>
          </a:p>
          <a:p>
            <a:r>
              <a:rPr lang="en-US" sz="2000" dirty="0"/>
              <a:t>	reg = &lt;0x4024d000 0x1000&gt;;</a:t>
            </a:r>
          </a:p>
          <a:p>
            <a:r>
              <a:rPr lang="en-US" sz="2000" dirty="0"/>
              <a:t>	interrupts = &lt;75 0&gt;;</a:t>
            </a:r>
          </a:p>
          <a:p>
            <a:r>
              <a:rPr lang="en-US" sz="2000" dirty="0"/>
              <a:t>	resets = &lt;&amp;</a:t>
            </a:r>
            <a:r>
              <a:rPr lang="en-US" sz="2000" dirty="0" err="1">
                <a:highlight>
                  <a:srgbClr val="FFFF00"/>
                </a:highlight>
              </a:rPr>
              <a:t>rst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NUMAKER_SYS_UART0RST</a:t>
            </a:r>
            <a:r>
              <a:rPr lang="en-US" sz="2000" dirty="0"/>
              <a:t>&gt;;</a:t>
            </a:r>
          </a:p>
          <a:p>
            <a:r>
              <a:rPr lang="en-US" sz="2000" dirty="0"/>
              <a:t>	clocks = &lt;&amp;</a:t>
            </a:r>
            <a:r>
              <a:rPr lang="en-US" sz="2000" dirty="0" err="1"/>
              <a:t>pcc</a:t>
            </a:r>
            <a:endParaRPr lang="en-US" sz="2000" dirty="0"/>
          </a:p>
          <a:p>
            <a:r>
              <a:rPr lang="en-US" sz="2000" dirty="0"/>
              <a:t>		NUMAKER_UART0_MODULE</a:t>
            </a:r>
          </a:p>
          <a:p>
            <a:r>
              <a:rPr lang="en-US" sz="2000" dirty="0"/>
              <a:t>		NUMAKER_CLK_UARTSEL0_UART0SEL_HIRC</a:t>
            </a:r>
          </a:p>
          <a:p>
            <a:r>
              <a:rPr lang="en-US" sz="2000" dirty="0"/>
              <a:t>		NUMAKER_CLK_UARTDIV0_UART0DIV(1)&gt;;</a:t>
            </a:r>
          </a:p>
          <a:p>
            <a:r>
              <a:rPr lang="en-US" sz="20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029AD-4768-717D-B1A8-6A03A4CF087D}"/>
              </a:ext>
            </a:extLst>
          </p:cNvPr>
          <p:cNvSpPr txBox="1"/>
          <p:nvPr/>
        </p:nvSpPr>
        <p:spPr>
          <a:xfrm>
            <a:off x="456029" y="3210967"/>
            <a:ext cx="5240578" cy="2000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zephyr/dts/arm/nuvoton/m55m1x.dtsi</a:t>
            </a:r>
            <a:endParaRPr lang="en-US" sz="2000" dirty="0"/>
          </a:p>
          <a:p>
            <a:r>
              <a:rPr lang="en-US" sz="2000" dirty="0" err="1">
                <a:highlight>
                  <a:srgbClr val="FFFF00"/>
                </a:highlight>
              </a:rPr>
              <a:t>rst</a:t>
            </a:r>
            <a:r>
              <a:rPr lang="en-US" sz="2000" dirty="0"/>
              <a:t>: reset-controller@40000000 {</a:t>
            </a:r>
          </a:p>
          <a:p>
            <a:r>
              <a:rPr lang="en-US" sz="2000" dirty="0"/>
              <a:t>	compatible = "</a:t>
            </a:r>
            <a:r>
              <a:rPr lang="en-US" sz="2000" dirty="0" err="1"/>
              <a:t>nuvoton,numaker-rst</a:t>
            </a:r>
            <a:r>
              <a:rPr lang="en-US" sz="2000" dirty="0"/>
              <a:t>";</a:t>
            </a:r>
          </a:p>
          <a:p>
            <a:r>
              <a:rPr lang="en-US" sz="2000" dirty="0"/>
              <a:t>	reg = &lt;0x40000000 0x2e0&gt;;</a:t>
            </a:r>
          </a:p>
          <a:p>
            <a:r>
              <a:rPr lang="en-US" sz="2000" dirty="0"/>
              <a:t>	#reset-cells = &lt;1&gt;;</a:t>
            </a:r>
          </a:p>
          <a:p>
            <a:r>
              <a:rPr lang="en-US" sz="20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31915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D890-2947-7B5D-C8CE-C3508793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FB6CE-1306-DFC9-79D3-E270B7D2F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39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534152-F476-95D7-5016-8641CE55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Reset Controller (2/5)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3213E-8492-B5FF-68FB-BCFB32789179}"/>
              </a:ext>
            </a:extLst>
          </p:cNvPr>
          <p:cNvSpPr txBox="1"/>
          <p:nvPr/>
        </p:nvSpPr>
        <p:spPr>
          <a:xfrm>
            <a:off x="938916" y="1606175"/>
            <a:ext cx="8616052" cy="42165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800" b="1" dirty="0"/>
              <a:t>zephyr/dts/bindings/reset/nuvoton,numaker-rst.yaml</a:t>
            </a:r>
          </a:p>
          <a:p>
            <a:r>
              <a:rPr lang="en-US" sz="2400" dirty="0"/>
              <a:t>description: </a:t>
            </a:r>
            <a:r>
              <a:rPr lang="en-US" sz="2400" dirty="0" err="1"/>
              <a:t>Nuvoton</a:t>
            </a:r>
            <a:r>
              <a:rPr lang="en-US" sz="2400" dirty="0"/>
              <a:t>, </a:t>
            </a:r>
            <a:r>
              <a:rPr lang="en-US" sz="2400" dirty="0" err="1"/>
              <a:t>Numaker</a:t>
            </a:r>
            <a:r>
              <a:rPr lang="en-US" sz="2400" dirty="0"/>
              <a:t>-RESET</a:t>
            </a:r>
          </a:p>
          <a:p>
            <a:r>
              <a:rPr lang="en-US" sz="2400" dirty="0"/>
              <a:t>compatible: "</a:t>
            </a:r>
            <a:r>
              <a:rPr lang="en-US" sz="2400" dirty="0" err="1"/>
              <a:t>nuvoton,numaker-rst</a:t>
            </a:r>
            <a:r>
              <a:rPr lang="en-US" sz="2400" dirty="0"/>
              <a:t>"</a:t>
            </a:r>
          </a:p>
          <a:p>
            <a:r>
              <a:rPr lang="en-US" sz="2400" dirty="0"/>
              <a:t>include: [reset-</a:t>
            </a:r>
            <a:r>
              <a:rPr lang="en-US" sz="2400" dirty="0" err="1"/>
              <a:t>controller.yaml</a:t>
            </a:r>
            <a:r>
              <a:rPr lang="en-US" sz="2400" dirty="0"/>
              <a:t>, </a:t>
            </a:r>
            <a:r>
              <a:rPr lang="en-US" sz="2400" dirty="0" err="1"/>
              <a:t>base.yaml</a:t>
            </a:r>
            <a:r>
              <a:rPr lang="en-US" sz="2400" dirty="0"/>
              <a:t>]</a:t>
            </a:r>
          </a:p>
          <a:p>
            <a:r>
              <a:rPr lang="en-US" sz="2400" dirty="0"/>
              <a:t>properties:</a:t>
            </a:r>
          </a:p>
          <a:p>
            <a:r>
              <a:rPr lang="en-US" sz="2400" dirty="0"/>
              <a:t>  reg:</a:t>
            </a:r>
          </a:p>
          <a:p>
            <a:r>
              <a:rPr lang="en-US" sz="2400" dirty="0"/>
              <a:t>    required: true</a:t>
            </a:r>
          </a:p>
          <a:p>
            <a:r>
              <a:rPr lang="en-US" sz="2400" dirty="0"/>
              <a:t>  "#reset-cells":</a:t>
            </a:r>
          </a:p>
          <a:p>
            <a:r>
              <a:rPr lang="en-US" sz="2400" dirty="0"/>
              <a:t>    const: 1</a:t>
            </a:r>
          </a:p>
          <a:p>
            <a:r>
              <a:rPr lang="en-US" sz="2400" dirty="0"/>
              <a:t>reset-cells:</a:t>
            </a:r>
          </a:p>
          <a:p>
            <a:r>
              <a:rPr lang="en-US" sz="2400" dirty="0"/>
              <a:t>- </a:t>
            </a:r>
            <a:r>
              <a:rPr lang="en-US" sz="2400" dirty="0">
                <a:highlight>
                  <a:srgbClr val="FFFF00"/>
                </a:highlight>
              </a:rPr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1919908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B1782-86CB-C787-8303-8566735B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BA32F-BE5E-0199-C8E1-B9CF1067E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40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FFA39B-7292-1A97-9C01-80E15D982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Reset Controller (3/5)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EB9E5-FD9D-CC6F-C58D-2D793273AC81}"/>
              </a:ext>
            </a:extLst>
          </p:cNvPr>
          <p:cNvSpPr txBox="1"/>
          <p:nvPr/>
        </p:nvSpPr>
        <p:spPr>
          <a:xfrm>
            <a:off x="597642" y="1381820"/>
            <a:ext cx="9172875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zephyr/drivers/serial/uart_numaker.c</a:t>
            </a:r>
          </a:p>
          <a:p>
            <a:r>
              <a:rPr lang="sv-SE" sz="2400" dirty="0"/>
              <a:t>static int uart_numaker_init(const struct device *dev)</a:t>
            </a:r>
          </a:p>
          <a:p>
            <a:r>
              <a:rPr lang="sv-SE" sz="2400" dirty="0"/>
              <a:t>{</a:t>
            </a:r>
          </a:p>
          <a:p>
            <a:r>
              <a:rPr lang="sv-SE" sz="2400" dirty="0"/>
              <a:t>	</a:t>
            </a:r>
            <a:r>
              <a:rPr lang="en-US" sz="2400" dirty="0" err="1">
                <a:highlight>
                  <a:srgbClr val="FFFF00"/>
                </a:highlight>
              </a:rPr>
              <a:t>reset_line_toggle_dt</a:t>
            </a:r>
            <a:r>
              <a:rPr lang="en-US" sz="2400" dirty="0"/>
              <a:t>(&amp;config-&gt;reset);</a:t>
            </a:r>
            <a:endParaRPr lang="sv-SE" sz="2400" dirty="0"/>
          </a:p>
          <a:p>
            <a:r>
              <a:rPr lang="sv-SE" sz="2400" dirty="0"/>
              <a:t>}</a:t>
            </a:r>
          </a:p>
          <a:p>
            <a:endParaRPr lang="sv-SE" sz="2400" dirty="0"/>
          </a:p>
          <a:p>
            <a:r>
              <a:rPr lang="en-US" sz="2400" dirty="0"/>
              <a:t>static const struct </a:t>
            </a:r>
            <a:r>
              <a:rPr lang="en-US" sz="2400" dirty="0" err="1"/>
              <a:t>uart_numaker_config</a:t>
            </a:r>
            <a:r>
              <a:rPr lang="en-US" sz="2400" dirty="0"/>
              <a:t> </a:t>
            </a:r>
            <a:r>
              <a:rPr lang="en-US" sz="2400" dirty="0" err="1"/>
              <a:t>uart_numaker_cfg</a:t>
            </a:r>
            <a:r>
              <a:rPr lang="en-US" sz="2400" dirty="0"/>
              <a:t>_##</a:t>
            </a:r>
            <a:r>
              <a:rPr lang="en-US" sz="2400" dirty="0" err="1"/>
              <a:t>inst</a:t>
            </a:r>
            <a:r>
              <a:rPr lang="en-US" sz="2400" dirty="0"/>
              <a:t> = {</a:t>
            </a:r>
          </a:p>
          <a:p>
            <a:r>
              <a:rPr lang="en-US" sz="2400" dirty="0"/>
              <a:t>	</a:t>
            </a:r>
            <a:r>
              <a:rPr lang="nn-NO" sz="2400" dirty="0"/>
              <a:t>.reset = RESET_DT_SPEC_INST_GET(inst),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2615769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6902-9496-3FF8-E7F5-EBAB60295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EA625-FB84-8639-B1FC-DC33E370F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41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2AA054-A79B-B2FE-279D-7FC7FD54D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Reset Controller (4/5)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17709-0FEC-3192-FEFF-0DEE46E7A22B}"/>
              </a:ext>
            </a:extLst>
          </p:cNvPr>
          <p:cNvSpPr txBox="1"/>
          <p:nvPr/>
        </p:nvSpPr>
        <p:spPr>
          <a:xfrm>
            <a:off x="743707" y="1071918"/>
            <a:ext cx="10616087" cy="53245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800" b="1" dirty="0"/>
              <a:t>zephyr/drivers/reset/reset_numaker.c</a:t>
            </a:r>
          </a:p>
          <a:p>
            <a:r>
              <a:rPr lang="en-US" sz="2400" dirty="0"/>
              <a:t>static DEVICE_API(reset, </a:t>
            </a:r>
            <a:r>
              <a:rPr lang="en-US" sz="2400" dirty="0" err="1"/>
              <a:t>reset_numaker_driver_api</a:t>
            </a:r>
            <a:r>
              <a:rPr lang="en-US" sz="2400" dirty="0"/>
              <a:t>) = {</a:t>
            </a:r>
          </a:p>
          <a:p>
            <a:r>
              <a:rPr lang="en-US" sz="2400" dirty="0"/>
              <a:t>	.status = </a:t>
            </a:r>
            <a:r>
              <a:rPr lang="en-US" sz="2400" dirty="0" err="1"/>
              <a:t>reset_numaker_status</a:t>
            </a:r>
            <a:r>
              <a:rPr lang="en-US" sz="2400" dirty="0"/>
              <a:t>,</a:t>
            </a:r>
          </a:p>
          <a:p>
            <a:r>
              <a:rPr lang="en-US" sz="2400" dirty="0"/>
              <a:t>	.</a:t>
            </a:r>
            <a:r>
              <a:rPr lang="en-US" sz="2400" dirty="0" err="1"/>
              <a:t>line_assert</a:t>
            </a:r>
            <a:r>
              <a:rPr lang="en-US" sz="2400" dirty="0"/>
              <a:t> = </a:t>
            </a:r>
            <a:r>
              <a:rPr lang="en-US" sz="2400" dirty="0" err="1">
                <a:highlight>
                  <a:srgbClr val="FFFF00"/>
                </a:highlight>
              </a:rPr>
              <a:t>reset_numaker_line_assert</a:t>
            </a:r>
            <a:r>
              <a:rPr lang="en-US" sz="2400" dirty="0"/>
              <a:t>,</a:t>
            </a:r>
          </a:p>
          <a:p>
            <a:r>
              <a:rPr lang="en-US" sz="2400" dirty="0"/>
              <a:t>	.</a:t>
            </a:r>
            <a:r>
              <a:rPr lang="en-US" sz="2400" dirty="0" err="1"/>
              <a:t>line_deassert</a:t>
            </a:r>
            <a:r>
              <a:rPr lang="en-US" sz="2400" dirty="0"/>
              <a:t> = </a:t>
            </a:r>
            <a:r>
              <a:rPr lang="en-US" sz="2400" dirty="0" err="1">
                <a:highlight>
                  <a:srgbClr val="FFFF00"/>
                </a:highlight>
              </a:rPr>
              <a:t>reset_numaker_line_deassert</a:t>
            </a:r>
            <a:r>
              <a:rPr lang="en-US" sz="2400" dirty="0"/>
              <a:t>,</a:t>
            </a:r>
          </a:p>
          <a:p>
            <a:r>
              <a:rPr lang="en-US" sz="2400" dirty="0"/>
              <a:t>	.</a:t>
            </a:r>
            <a:r>
              <a:rPr lang="en-US" sz="2400" dirty="0" err="1"/>
              <a:t>line_toggle</a:t>
            </a:r>
            <a:r>
              <a:rPr lang="en-US" sz="2400" dirty="0"/>
              <a:t> = </a:t>
            </a:r>
            <a:r>
              <a:rPr lang="en-US" sz="2400" dirty="0" err="1">
                <a:highlight>
                  <a:srgbClr val="FFFF00"/>
                </a:highlight>
              </a:rPr>
              <a:t>reset_numaker_line_toggle</a:t>
            </a:r>
            <a:r>
              <a:rPr lang="en-US" sz="2400" dirty="0"/>
              <a:t>,</a:t>
            </a:r>
          </a:p>
          <a:p>
            <a:r>
              <a:rPr lang="en-US" sz="2400" dirty="0"/>
              <a:t>};</a:t>
            </a:r>
          </a:p>
          <a:p>
            <a:endParaRPr lang="en-US" sz="2400" dirty="0"/>
          </a:p>
          <a:p>
            <a:r>
              <a:rPr lang="en-US" sz="2400" dirty="0"/>
              <a:t>static const struct </a:t>
            </a:r>
            <a:r>
              <a:rPr lang="en-US" sz="2400" dirty="0" err="1"/>
              <a:t>reset_numaker_config</a:t>
            </a:r>
            <a:r>
              <a:rPr lang="en-US" sz="2400" dirty="0"/>
              <a:t> config = {</a:t>
            </a:r>
          </a:p>
          <a:p>
            <a:r>
              <a:rPr lang="en-US" sz="2400" dirty="0"/>
              <a:t>	.base = (uint32_t)DT_INST_REG_ADDR(0),</a:t>
            </a:r>
          </a:p>
          <a:p>
            <a:r>
              <a:rPr lang="en-US" sz="2400" dirty="0"/>
              <a:t>};</a:t>
            </a:r>
          </a:p>
          <a:p>
            <a:endParaRPr lang="en-US" sz="2400" dirty="0"/>
          </a:p>
          <a:p>
            <a:r>
              <a:rPr lang="en-US" sz="2400" dirty="0"/>
              <a:t>DEVICE_DT_INST_DEFINE(0, NULL, NULL, NULL, &amp;config, PRE_KERNEL_1,</a:t>
            </a:r>
          </a:p>
          <a:p>
            <a:r>
              <a:rPr lang="en-US" sz="2400" dirty="0"/>
              <a:t>		      CONFIG_RESET_INIT_PRIORITY, &amp;</a:t>
            </a:r>
            <a:r>
              <a:rPr lang="en-US" sz="2400" dirty="0" err="1"/>
              <a:t>reset_numaker_driver_api</a:t>
            </a:r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38934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BF08-3407-32A4-9457-C327FA6B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1C3353-4552-809B-1BB4-B7D6AB652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42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5B2E8C-ECF2-C11C-CB7E-0A06036E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Reset Controller (5/5)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94500-9296-D314-A42B-589EE6595FF1}"/>
              </a:ext>
            </a:extLst>
          </p:cNvPr>
          <p:cNvSpPr txBox="1"/>
          <p:nvPr/>
        </p:nvSpPr>
        <p:spPr>
          <a:xfrm>
            <a:off x="209449" y="1267127"/>
            <a:ext cx="11513364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800" b="1" dirty="0"/>
              <a:t>zephyr/drivers/reset/reset_numaker.</a:t>
            </a:r>
          </a:p>
          <a:p>
            <a:r>
              <a:rPr lang="sv-SE" sz="2000" dirty="0"/>
              <a:t>static int </a:t>
            </a:r>
            <a:r>
              <a:rPr lang="sv-SE" sz="2000" dirty="0">
                <a:highlight>
                  <a:srgbClr val="FFFF00"/>
                </a:highlight>
              </a:rPr>
              <a:t>reset_numaker_line_assert</a:t>
            </a:r>
            <a:r>
              <a:rPr lang="sv-SE" sz="2000" dirty="0"/>
              <a:t>(const struct device *dev, uint32_t </a:t>
            </a:r>
            <a:r>
              <a:rPr lang="sv-SE" sz="2000" dirty="0">
                <a:highlight>
                  <a:srgbClr val="FFFF00"/>
                </a:highlight>
              </a:rPr>
              <a:t>id</a:t>
            </a:r>
            <a:r>
              <a:rPr lang="sv-SE" sz="2000" dirty="0"/>
              <a:t>)</a:t>
            </a:r>
          </a:p>
          <a:p>
            <a:r>
              <a:rPr lang="sv-SE" sz="2000" dirty="0"/>
              <a:t>{</a:t>
            </a:r>
          </a:p>
          <a:p>
            <a:r>
              <a:rPr lang="sv-SE" sz="2000" dirty="0"/>
              <a:t>	sys_set_bit(config-&gt;base + NUMAKER_RESET_IP_OFFSET(id), NUMAKER_RESET_IP_BIT(</a:t>
            </a:r>
            <a:r>
              <a:rPr lang="sv-SE" sz="2000" dirty="0">
                <a:highlight>
                  <a:srgbClr val="FFFF00"/>
                </a:highlight>
              </a:rPr>
              <a:t>id</a:t>
            </a:r>
            <a:r>
              <a:rPr lang="sv-SE" sz="2000" dirty="0"/>
              <a:t>));</a:t>
            </a:r>
          </a:p>
          <a:p>
            <a:r>
              <a:rPr lang="sv-SE" sz="2000" dirty="0"/>
              <a:t>}</a:t>
            </a:r>
          </a:p>
          <a:p>
            <a:r>
              <a:rPr lang="sv-SE" sz="2000" dirty="0"/>
              <a:t>static int </a:t>
            </a:r>
            <a:r>
              <a:rPr lang="sv-SE" sz="2000" dirty="0">
                <a:highlight>
                  <a:srgbClr val="FFFF00"/>
                </a:highlight>
              </a:rPr>
              <a:t>reset_numaker_line_deassert</a:t>
            </a:r>
            <a:r>
              <a:rPr lang="sv-SE" sz="2000" dirty="0"/>
              <a:t>(const struct device *dev, uint32_t id)</a:t>
            </a:r>
          </a:p>
          <a:p>
            <a:r>
              <a:rPr lang="sv-SE" sz="2000" dirty="0"/>
              <a:t>{</a:t>
            </a:r>
          </a:p>
          <a:p>
            <a:r>
              <a:rPr lang="sv-SE" sz="2000" dirty="0"/>
              <a:t>	sys_clear_bit(config-&gt;base + NUMAKER_RESET_IP_OFFSET(</a:t>
            </a:r>
            <a:r>
              <a:rPr lang="sv-SE" sz="2000" dirty="0">
                <a:highlight>
                  <a:srgbClr val="FFFF00"/>
                </a:highlight>
              </a:rPr>
              <a:t>id</a:t>
            </a:r>
            <a:r>
              <a:rPr lang="sv-SE" sz="2000" dirty="0"/>
              <a:t>), NUMAKER_RESET_IP_BIT(</a:t>
            </a:r>
            <a:r>
              <a:rPr lang="sv-SE" sz="2000" dirty="0">
                <a:highlight>
                  <a:srgbClr val="FFFF00"/>
                </a:highlight>
              </a:rPr>
              <a:t>id</a:t>
            </a:r>
            <a:r>
              <a:rPr lang="sv-SE" sz="2000" dirty="0"/>
              <a:t>));</a:t>
            </a:r>
          </a:p>
          <a:p>
            <a:r>
              <a:rPr lang="sv-SE" sz="2000" dirty="0"/>
              <a:t>}</a:t>
            </a:r>
          </a:p>
          <a:p>
            <a:r>
              <a:rPr lang="sv-SE" sz="2000" dirty="0"/>
              <a:t>static int r</a:t>
            </a:r>
            <a:r>
              <a:rPr lang="sv-SE" sz="2000" dirty="0">
                <a:highlight>
                  <a:srgbClr val="FFFF00"/>
                </a:highlight>
              </a:rPr>
              <a:t>eset_numaker_line_toggle</a:t>
            </a:r>
            <a:r>
              <a:rPr lang="sv-SE" sz="2000" dirty="0"/>
              <a:t>(const struct device *dev, uint32_t id)</a:t>
            </a:r>
          </a:p>
          <a:p>
            <a:r>
              <a:rPr lang="sv-SE" sz="2000" dirty="0"/>
              <a:t>{</a:t>
            </a:r>
          </a:p>
          <a:p>
            <a:r>
              <a:rPr lang="sv-SE" sz="2000" dirty="0"/>
              <a:t>	(void)reset_numaker_line_assert(dev, </a:t>
            </a:r>
            <a:r>
              <a:rPr lang="sv-SE" sz="2000" dirty="0">
                <a:highlight>
                  <a:srgbClr val="FFFF00"/>
                </a:highlight>
              </a:rPr>
              <a:t>id</a:t>
            </a:r>
            <a:r>
              <a:rPr lang="sv-SE" sz="2000" dirty="0"/>
              <a:t>);</a:t>
            </a:r>
          </a:p>
          <a:p>
            <a:r>
              <a:rPr lang="sv-SE" sz="2000" dirty="0"/>
              <a:t>	(void)reset_numaker_line_deassert(dev, </a:t>
            </a:r>
            <a:r>
              <a:rPr lang="sv-SE" sz="2000" dirty="0">
                <a:highlight>
                  <a:srgbClr val="FFFF00"/>
                </a:highlight>
              </a:rPr>
              <a:t>id</a:t>
            </a:r>
            <a:r>
              <a:rPr lang="sv-SE" sz="2000" dirty="0"/>
              <a:t>);</a:t>
            </a:r>
          </a:p>
          <a:p>
            <a:r>
              <a:rPr lang="sv-SE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4259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03880-CB03-36F5-462F-8194D428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52CD70-7C11-1313-9E4E-22EC1413F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42" y="1245600"/>
            <a:ext cx="10957361" cy="716764"/>
          </a:xfrm>
        </p:spPr>
        <p:txBody>
          <a:bodyPr/>
          <a:lstStyle/>
          <a:p>
            <a:r>
              <a:rPr lang="en-US" dirty="0"/>
              <a:t>Pin multi-function (SYS) + partial pin configurations (GPIO)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2CBE5-C1A4-64AF-4802-6EF2556D2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4385AF-B6F8-3390-1A16-223B9369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(1/9)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CA191-7A44-CE77-5536-EF2D10ED07B0}"/>
              </a:ext>
            </a:extLst>
          </p:cNvPr>
          <p:cNvSpPr txBox="1"/>
          <p:nvPr/>
        </p:nvSpPr>
        <p:spPr>
          <a:xfrm>
            <a:off x="5967572" y="2004670"/>
            <a:ext cx="5761753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zephyr/boards/nuvoton/numaker_m55m1/numaker_m55m1.dts</a:t>
            </a:r>
            <a:endParaRPr lang="en-US" sz="2000" dirty="0"/>
          </a:p>
          <a:p>
            <a:r>
              <a:rPr lang="en-US" sz="2000" dirty="0"/>
              <a:t>&amp;</a:t>
            </a:r>
            <a:r>
              <a:rPr lang="en-US" sz="2000" dirty="0" err="1"/>
              <a:t>emac</a:t>
            </a:r>
            <a:r>
              <a:rPr lang="en-US" sz="2000" dirty="0"/>
              <a:t> {</a:t>
            </a:r>
          </a:p>
          <a:p>
            <a:r>
              <a:rPr lang="en-US" sz="2000" dirty="0"/>
              <a:t>	pinctrl-0 = &lt;&amp;</a:t>
            </a:r>
            <a:r>
              <a:rPr lang="en-US" sz="2000" dirty="0" err="1">
                <a:highlight>
                  <a:srgbClr val="FFFF00"/>
                </a:highlight>
              </a:rPr>
              <a:t>emac_default</a:t>
            </a:r>
            <a:r>
              <a:rPr lang="en-US" sz="2000" dirty="0"/>
              <a:t>&gt;;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pinctrl</a:t>
            </a:r>
            <a:r>
              <a:rPr lang="en-US" sz="2000" dirty="0"/>
              <a:t>-names = "default";</a:t>
            </a:r>
          </a:p>
          <a:p>
            <a:r>
              <a:rPr lang="en-US" sz="2000" dirty="0"/>
              <a:t>	status = "okay";</a:t>
            </a:r>
          </a:p>
          <a:p>
            <a:r>
              <a:rPr lang="en-US" sz="20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E1C8D-1FA1-065C-ADFC-EE5E3BFD577D}"/>
              </a:ext>
            </a:extLst>
          </p:cNvPr>
          <p:cNvSpPr txBox="1"/>
          <p:nvPr/>
        </p:nvSpPr>
        <p:spPr>
          <a:xfrm>
            <a:off x="462675" y="3343123"/>
            <a:ext cx="6092238" cy="2000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zephyr/dts/arm/nuvoton/m55m1x.dtsi</a:t>
            </a:r>
            <a:endParaRPr lang="en-US" sz="2000" dirty="0"/>
          </a:p>
          <a:p>
            <a:r>
              <a:rPr lang="en-US" sz="2000" dirty="0" err="1">
                <a:highlight>
                  <a:srgbClr val="FFFF00"/>
                </a:highlight>
              </a:rPr>
              <a:t>pinctrl</a:t>
            </a:r>
            <a:r>
              <a:rPr lang="en-US" sz="2000" dirty="0"/>
              <a:t>: pin-controller@40000080 {</a:t>
            </a:r>
          </a:p>
          <a:p>
            <a:r>
              <a:rPr lang="en-US" sz="2000" dirty="0"/>
              <a:t>	compatible = "</a:t>
            </a:r>
            <a:r>
              <a:rPr lang="en-US" sz="2000" dirty="0" err="1"/>
              <a:t>nuvoton,numaker-pinctrl</a:t>
            </a:r>
            <a:r>
              <a:rPr lang="en-US" sz="2000" dirty="0"/>
              <a:t>";</a:t>
            </a:r>
          </a:p>
          <a:p>
            <a:r>
              <a:rPr lang="en-US" sz="2000" dirty="0"/>
              <a:t>	reg = &lt;0x40000080 0x30 0x40000300 0x100&gt;;</a:t>
            </a:r>
          </a:p>
          <a:p>
            <a:r>
              <a:rPr lang="en-US" sz="2000" dirty="0"/>
              <a:t>	reg-names = "</a:t>
            </a:r>
            <a:r>
              <a:rPr lang="en-US" sz="2000" dirty="0" err="1"/>
              <a:t>mfos</a:t>
            </a:r>
            <a:r>
              <a:rPr lang="en-US" sz="2000" dirty="0"/>
              <a:t>", "</a:t>
            </a:r>
            <a:r>
              <a:rPr lang="en-US" sz="2000" dirty="0" err="1"/>
              <a:t>mfp</a:t>
            </a:r>
            <a:r>
              <a:rPr lang="en-US" sz="2000" dirty="0"/>
              <a:t>";</a:t>
            </a:r>
          </a:p>
          <a:p>
            <a:r>
              <a:rPr lang="en-US" sz="20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009201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3A1DC-AEA3-AA0E-5234-4911AAF23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1C2D7E-8887-60A0-4532-8948D0A86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58B41C-ED4A-AF91-3990-DC1D644A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42" y="131061"/>
            <a:ext cx="10957361" cy="514903"/>
          </a:xfrm>
        </p:spPr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(2/9)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A7D25-40D6-5760-C20C-2CBCC7C4E084}"/>
              </a:ext>
            </a:extLst>
          </p:cNvPr>
          <p:cNvSpPr txBox="1"/>
          <p:nvPr/>
        </p:nvSpPr>
        <p:spPr>
          <a:xfrm>
            <a:off x="695218" y="656238"/>
            <a:ext cx="10770742" cy="57246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zephyr/boards/nuvoton/numaker_m55m1/numaker_m55m1-pinctrl.dtsi</a:t>
            </a:r>
            <a:endParaRPr lang="en-US" sz="2000" dirty="0"/>
          </a:p>
          <a:p>
            <a:r>
              <a:rPr lang="en-US" dirty="0"/>
              <a:t>&amp;</a:t>
            </a:r>
            <a:r>
              <a:rPr lang="en-US" dirty="0" err="1">
                <a:highlight>
                  <a:srgbClr val="FFFF00"/>
                </a:highlight>
              </a:rPr>
              <a:t>pinctrl</a:t>
            </a:r>
            <a:r>
              <a:rPr lang="en-US" dirty="0"/>
              <a:t> {</a:t>
            </a:r>
          </a:p>
          <a:p>
            <a:r>
              <a:rPr lang="en-US" dirty="0"/>
              <a:t>	</a:t>
            </a:r>
            <a:r>
              <a:rPr lang="en-US" dirty="0" err="1">
                <a:highlight>
                  <a:srgbClr val="FFFF00"/>
                </a:highlight>
              </a:rPr>
              <a:t>emac_default</a:t>
            </a:r>
            <a:r>
              <a:rPr lang="en-US" dirty="0"/>
              <a:t>: </a:t>
            </a:r>
            <a:r>
              <a:rPr lang="en-US" dirty="0" err="1"/>
              <a:t>emac_default</a:t>
            </a:r>
            <a:r>
              <a:rPr lang="en-US" dirty="0"/>
              <a:t> {</a:t>
            </a:r>
          </a:p>
          <a:p>
            <a:r>
              <a:rPr lang="en-US" dirty="0"/>
              <a:t>		group0 {</a:t>
            </a:r>
          </a:p>
          <a:p>
            <a:r>
              <a:rPr lang="en-US" dirty="0"/>
              <a:t>			</a:t>
            </a:r>
            <a:r>
              <a:rPr lang="en-US" dirty="0" err="1"/>
              <a:t>pinmux</a:t>
            </a:r>
            <a:r>
              <a:rPr lang="en-US" dirty="0"/>
              <a:t> = &lt;PE8MFP_EMAC0_RMII_MDC&gt;,</a:t>
            </a:r>
          </a:p>
          <a:p>
            <a:r>
              <a:rPr lang="en-US" dirty="0"/>
              <a:t>				 &lt;PE9MFP_EMAC0_RMII_MDIO&gt;,</a:t>
            </a:r>
          </a:p>
          <a:p>
            <a:r>
              <a:rPr lang="en-US" dirty="0"/>
              <a:t>				 &lt;PC8MFP_EMAC0_RMII_REFCLK&gt;,</a:t>
            </a:r>
          </a:p>
          <a:p>
            <a:r>
              <a:rPr lang="en-US" dirty="0"/>
              <a:t>				 &lt;PC7MFP_EMAC0_RMII_RXD0&gt;,</a:t>
            </a:r>
          </a:p>
          <a:p>
            <a:r>
              <a:rPr lang="en-US" dirty="0"/>
              <a:t>				 &lt;PC6MFP_EMAC0_RMII_RXD1&gt;,</a:t>
            </a:r>
          </a:p>
          <a:p>
            <a:r>
              <a:rPr lang="en-US" dirty="0"/>
              <a:t>				 &lt;PA7MFP_EMAC0_RMII_CRSDV&gt;,</a:t>
            </a:r>
          </a:p>
          <a:p>
            <a:r>
              <a:rPr lang="en-US" dirty="0"/>
              <a:t>				 &lt;PA6MFP_EMAC0_RMII_RXERR&gt;;</a:t>
            </a:r>
          </a:p>
          <a:p>
            <a:r>
              <a:rPr lang="en-US" dirty="0"/>
              <a:t>		};</a:t>
            </a:r>
          </a:p>
          <a:p>
            <a:r>
              <a:rPr lang="en-US" dirty="0"/>
              <a:t>		group1 {</a:t>
            </a:r>
          </a:p>
          <a:p>
            <a:r>
              <a:rPr lang="en-US" dirty="0"/>
              <a:t>			</a:t>
            </a:r>
            <a:r>
              <a:rPr lang="en-US" dirty="0" err="1"/>
              <a:t>pinmux</a:t>
            </a:r>
            <a:r>
              <a:rPr lang="en-US" dirty="0"/>
              <a:t> = &lt;PE10MFP_EMAC0_RMII_TXD0&gt;,</a:t>
            </a:r>
          </a:p>
          <a:p>
            <a:r>
              <a:rPr lang="en-US" dirty="0"/>
              <a:t>				 &lt;PE11MFP_EMAC0_RMII_TXD1&gt;,</a:t>
            </a:r>
          </a:p>
          <a:p>
            <a:r>
              <a:rPr lang="en-US" dirty="0"/>
              <a:t>				 &lt;PE12MFP_EMAC0_RMII_TXEN&gt;;</a:t>
            </a:r>
          </a:p>
          <a:p>
            <a:r>
              <a:rPr lang="en-US" dirty="0"/>
              <a:t>			</a:t>
            </a:r>
            <a:r>
              <a:rPr lang="en-US" dirty="0">
                <a:highlight>
                  <a:srgbClr val="FFFF00"/>
                </a:highlight>
              </a:rPr>
              <a:t>slew-rate</a:t>
            </a:r>
            <a:r>
              <a:rPr lang="en-US" dirty="0"/>
              <a:t> = "fast";</a:t>
            </a:r>
          </a:p>
          <a:p>
            <a:r>
              <a:rPr lang="en-US" dirty="0"/>
              <a:t>		};</a:t>
            </a:r>
          </a:p>
          <a:p>
            <a:r>
              <a:rPr lang="en-US" dirty="0"/>
              <a:t>	};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610123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1FD9-494A-63D0-CD67-CE00D9CB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24EDF-6C39-680B-9B1A-0CFE4E74D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45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52266-0E3D-7D4A-77A5-0823BB9B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(3/9)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8F8F8-C6CC-4EB8-F461-81A971E18022}"/>
              </a:ext>
            </a:extLst>
          </p:cNvPr>
          <p:cNvSpPr txBox="1"/>
          <p:nvPr/>
        </p:nvSpPr>
        <p:spPr>
          <a:xfrm>
            <a:off x="462675" y="1606796"/>
            <a:ext cx="9667644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zephyr/dts/bindings/pinctrl/nuvoton,numaker-pinctrl.yaml</a:t>
            </a:r>
          </a:p>
          <a:p>
            <a:r>
              <a:rPr lang="en-US" sz="2000" dirty="0"/>
              <a:t>compatible: "</a:t>
            </a:r>
            <a:r>
              <a:rPr lang="en-US" sz="2000" dirty="0" err="1"/>
              <a:t>nuvoton,numaker-pinctrl</a:t>
            </a:r>
            <a:r>
              <a:rPr lang="en-US" sz="2000" dirty="0"/>
              <a:t>"</a:t>
            </a:r>
          </a:p>
          <a:p>
            <a:r>
              <a:rPr lang="en-US" sz="2000" dirty="0"/>
              <a:t>include: </a:t>
            </a:r>
            <a:r>
              <a:rPr lang="en-US" sz="2000" dirty="0" err="1"/>
              <a:t>base.yaml</a:t>
            </a:r>
            <a:endParaRPr lang="en-US" sz="2000" dirty="0"/>
          </a:p>
          <a:p>
            <a:r>
              <a:rPr lang="en-US" sz="2000" dirty="0"/>
              <a:t>properties:</a:t>
            </a:r>
          </a:p>
          <a:p>
            <a:r>
              <a:rPr lang="en-US" sz="2000" dirty="0"/>
              <a:t>  reg:</a:t>
            </a:r>
          </a:p>
          <a:p>
            <a:r>
              <a:rPr lang="en-US" sz="2000" dirty="0"/>
              <a:t>    required: true</a:t>
            </a:r>
          </a:p>
          <a:p>
            <a:r>
              <a:rPr lang="en-US" sz="2000" dirty="0"/>
              <a:t>child-binding:</a:t>
            </a:r>
          </a:p>
          <a:p>
            <a:r>
              <a:rPr lang="en-US" sz="2000" dirty="0"/>
              <a:t>  child-binding:</a:t>
            </a:r>
          </a:p>
          <a:p>
            <a:r>
              <a:rPr lang="en-US" sz="2000" dirty="0"/>
              <a:t>    include:</a:t>
            </a:r>
          </a:p>
          <a:p>
            <a:r>
              <a:rPr lang="en-US" sz="2000" dirty="0"/>
              <a:t>      - name: </a:t>
            </a:r>
            <a:r>
              <a:rPr lang="en-US" sz="2000" dirty="0" err="1"/>
              <a:t>pincfg-node.yaml</a:t>
            </a:r>
            <a:endParaRPr lang="en-US" sz="2000" dirty="0"/>
          </a:p>
          <a:p>
            <a:r>
              <a:rPr lang="en-US" sz="2000" dirty="0"/>
              <a:t>        property-allowlist:</a:t>
            </a:r>
          </a:p>
          <a:p>
            <a:r>
              <a:rPr lang="en-US" sz="2000" dirty="0"/>
              <a:t>          - </a:t>
            </a:r>
            <a:r>
              <a:rPr lang="en-US" sz="2000" dirty="0">
                <a:highlight>
                  <a:srgbClr val="FFFF00"/>
                </a:highlight>
              </a:rPr>
              <a:t>drive-open-drain</a:t>
            </a:r>
          </a:p>
          <a:p>
            <a:r>
              <a:rPr lang="en-US" sz="2000" dirty="0"/>
              <a:t>          - </a:t>
            </a:r>
            <a:r>
              <a:rPr lang="en-US" sz="2000" dirty="0">
                <a:highlight>
                  <a:srgbClr val="FFFF00"/>
                </a:highlight>
              </a:rPr>
              <a:t>input-</a:t>
            </a:r>
            <a:r>
              <a:rPr lang="en-US" sz="2000" dirty="0" err="1">
                <a:highlight>
                  <a:srgbClr val="FFFF00"/>
                </a:highlight>
              </a:rPr>
              <a:t>schmitt</a:t>
            </a:r>
            <a:r>
              <a:rPr lang="en-US" sz="2000" dirty="0">
                <a:highlight>
                  <a:srgbClr val="FFFF00"/>
                </a:highlight>
              </a:rPr>
              <a:t>-enable</a:t>
            </a:r>
          </a:p>
        </p:txBody>
      </p:sp>
    </p:spTree>
    <p:extLst>
      <p:ext uri="{BB962C8B-B14F-4D97-AF65-F5344CB8AC3E}">
        <p14:creationId xmlns:p14="http://schemas.microsoft.com/office/powerpoint/2010/main" val="25512985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3D93A-113F-AA4E-1F46-2D0C27E1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82519D-3771-7B87-21B3-A153D6909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46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F5EF43-3599-FA7E-B89A-560C2A8F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(4/9)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BB97F-F6B0-2D86-AD89-229823E4DE9E}"/>
              </a:ext>
            </a:extLst>
          </p:cNvPr>
          <p:cNvSpPr txBox="1"/>
          <p:nvPr/>
        </p:nvSpPr>
        <p:spPr>
          <a:xfrm>
            <a:off x="462675" y="1658167"/>
            <a:ext cx="9667644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zephyr/dts/bindings/pinctrl/nuvoton,numaker-pinctrl.yaml</a:t>
            </a:r>
          </a:p>
          <a:p>
            <a:r>
              <a:rPr lang="en-US" sz="2000" dirty="0"/>
              <a:t>child-binding:</a:t>
            </a:r>
          </a:p>
          <a:p>
            <a:r>
              <a:rPr lang="en-US" sz="2000" dirty="0"/>
              <a:t>  child-binding:</a:t>
            </a:r>
          </a:p>
          <a:p>
            <a:r>
              <a:rPr lang="en-US" sz="2000" dirty="0"/>
              <a:t>    properties:</a:t>
            </a:r>
          </a:p>
          <a:p>
            <a:r>
              <a:rPr lang="en-US" sz="2000" dirty="0"/>
              <a:t>      </a:t>
            </a:r>
            <a:r>
              <a:rPr lang="en-US" sz="2000" dirty="0" err="1">
                <a:highlight>
                  <a:srgbClr val="FFFF00"/>
                </a:highlight>
              </a:rPr>
              <a:t>pinmux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required: true</a:t>
            </a:r>
          </a:p>
          <a:p>
            <a:r>
              <a:rPr lang="en-US" sz="2000" dirty="0"/>
              <a:t>        type: array</a:t>
            </a:r>
          </a:p>
          <a:p>
            <a:r>
              <a:rPr lang="en-US" sz="2000" dirty="0"/>
              <a:t>      </a:t>
            </a:r>
            <a:r>
              <a:rPr lang="en-US" sz="2000" dirty="0">
                <a:highlight>
                  <a:srgbClr val="FFFF00"/>
                </a:highlight>
              </a:rPr>
              <a:t>drive-strength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type: string</a:t>
            </a:r>
          </a:p>
          <a:p>
            <a:r>
              <a:rPr lang="en-US" sz="2000" dirty="0"/>
              <a:t>        default: "low"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enum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  - "low"</a:t>
            </a:r>
          </a:p>
          <a:p>
            <a:r>
              <a:rPr lang="en-US" sz="2000" dirty="0"/>
              <a:t>          - "fast"</a:t>
            </a:r>
          </a:p>
        </p:txBody>
      </p:sp>
    </p:spTree>
    <p:extLst>
      <p:ext uri="{BB962C8B-B14F-4D97-AF65-F5344CB8AC3E}">
        <p14:creationId xmlns:p14="http://schemas.microsoft.com/office/powerpoint/2010/main" val="697179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FB9FE-1BF1-77AE-1346-18E5626A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DDDF9D-9F5C-6784-E648-13819FC76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47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35688E-7668-09AE-91E6-CA23D078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(5/9)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925E7-695D-63E4-D484-7AC8C8D18E22}"/>
              </a:ext>
            </a:extLst>
          </p:cNvPr>
          <p:cNvSpPr txBox="1"/>
          <p:nvPr/>
        </p:nvSpPr>
        <p:spPr>
          <a:xfrm>
            <a:off x="462675" y="1688990"/>
            <a:ext cx="9667644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zephyr/dts/bindings/pinctrl/nuvoton,numaker-pinctrl.yaml</a:t>
            </a:r>
          </a:p>
          <a:p>
            <a:r>
              <a:rPr lang="en-US" sz="2000" dirty="0"/>
              <a:t>child-binding:</a:t>
            </a:r>
          </a:p>
          <a:p>
            <a:r>
              <a:rPr lang="en-US" sz="2000" dirty="0"/>
              <a:t>  child-binding:</a:t>
            </a:r>
          </a:p>
          <a:p>
            <a:r>
              <a:rPr lang="en-US" sz="2000" dirty="0"/>
              <a:t>    properties:</a:t>
            </a:r>
          </a:p>
          <a:p>
            <a:r>
              <a:rPr lang="en-US" sz="2000" dirty="0"/>
              <a:t>      </a:t>
            </a:r>
            <a:r>
              <a:rPr lang="en-US" sz="2000" dirty="0">
                <a:highlight>
                  <a:srgbClr val="FFFF00"/>
                </a:highlight>
              </a:rPr>
              <a:t>slew-rate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type: string</a:t>
            </a:r>
          </a:p>
          <a:p>
            <a:r>
              <a:rPr lang="en-US" sz="2000" dirty="0"/>
              <a:t>        default: "low"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enum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  - "low"</a:t>
            </a:r>
          </a:p>
          <a:p>
            <a:r>
              <a:rPr lang="en-US" sz="2000" dirty="0"/>
              <a:t>          - "high"</a:t>
            </a:r>
          </a:p>
          <a:p>
            <a:r>
              <a:rPr lang="en-US" sz="2000" dirty="0"/>
              <a:t>          - "fast"</a:t>
            </a:r>
          </a:p>
          <a:p>
            <a:r>
              <a:rPr lang="en-US" sz="2000" dirty="0"/>
              <a:t>      </a:t>
            </a:r>
            <a:r>
              <a:rPr lang="en-US" sz="2000" dirty="0">
                <a:highlight>
                  <a:srgbClr val="FFFF00"/>
                </a:highlight>
              </a:rPr>
              <a:t>digital-path-disable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type: </a:t>
            </a:r>
            <a:r>
              <a:rPr lang="en-US" sz="2000" dirty="0" err="1"/>
              <a:t>boolean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4749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CE81-6E5A-93F6-AD88-559C5C52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7557F4-F279-992C-89BD-103A3D501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48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922CA8-C894-270F-C553-7264941F7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(6/9)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12D66-432A-FE91-EB44-C24CED41D221}"/>
              </a:ext>
            </a:extLst>
          </p:cNvPr>
          <p:cNvSpPr txBox="1"/>
          <p:nvPr/>
        </p:nvSpPr>
        <p:spPr>
          <a:xfrm>
            <a:off x="462675" y="1915022"/>
            <a:ext cx="9667644" cy="36625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zephyr/drivers/ethernet/eth_numaker.c</a:t>
            </a:r>
          </a:p>
          <a:p>
            <a:r>
              <a:rPr lang="en-US" sz="2400" b="1" dirty="0" err="1"/>
              <a:t>Devicetree</a:t>
            </a:r>
            <a:r>
              <a:rPr lang="en-US" sz="2400" b="1" dirty="0"/>
              <a:t> API</a:t>
            </a:r>
          </a:p>
          <a:p>
            <a:r>
              <a:rPr lang="nn-NO" sz="2000" dirty="0"/>
              <a:t>PINCTRL_DT_INST_DEFINE(0);</a:t>
            </a:r>
          </a:p>
          <a:p>
            <a:r>
              <a:rPr lang="en-US" sz="2000" dirty="0"/>
              <a:t>static struct </a:t>
            </a:r>
            <a:r>
              <a:rPr lang="en-US" sz="2000" dirty="0" err="1"/>
              <a:t>eth_numaker_config</a:t>
            </a:r>
            <a:r>
              <a:rPr lang="en-US" sz="2000" dirty="0"/>
              <a:t> </a:t>
            </a:r>
            <a:r>
              <a:rPr lang="en-US" sz="2000" dirty="0" err="1"/>
              <a:t>eth_numaker_cfg_inst</a:t>
            </a:r>
            <a:r>
              <a:rPr lang="en-US" sz="2000" dirty="0"/>
              <a:t> = {</a:t>
            </a:r>
          </a:p>
          <a:p>
            <a:r>
              <a:rPr lang="en-US" sz="2000" dirty="0"/>
              <a:t>	.</a:t>
            </a:r>
            <a:r>
              <a:rPr lang="en-US" sz="2000" dirty="0" err="1"/>
              <a:t>pincfg</a:t>
            </a:r>
            <a:r>
              <a:rPr lang="en-US" sz="2000" dirty="0"/>
              <a:t> = PINCTRL_DT_INST_DEV_CONFIG_GET(0),</a:t>
            </a:r>
          </a:p>
          <a:p>
            <a:r>
              <a:rPr lang="en-US" sz="2000" dirty="0"/>
              <a:t>};</a:t>
            </a:r>
          </a:p>
          <a:p>
            <a:r>
              <a:rPr lang="en-US" sz="2400" b="1" dirty="0"/>
              <a:t>Pin Controller API</a:t>
            </a:r>
          </a:p>
          <a:p>
            <a:r>
              <a:rPr lang="en-US" sz="2000" dirty="0"/>
              <a:t>static int </a:t>
            </a:r>
            <a:r>
              <a:rPr lang="en-US" sz="2000" dirty="0" err="1"/>
              <a:t>eth_numaker_init</a:t>
            </a:r>
            <a:r>
              <a:rPr lang="en-US" sz="2000" dirty="0"/>
              <a:t>(const struct device *dev)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	ret = </a:t>
            </a:r>
            <a:r>
              <a:rPr lang="en-US" sz="2000" dirty="0" err="1"/>
              <a:t>pinctrl_apply_state</a:t>
            </a:r>
            <a:r>
              <a:rPr lang="en-US" sz="2000" dirty="0"/>
              <a:t>(</a:t>
            </a:r>
            <a:r>
              <a:rPr lang="en-US" sz="2000" dirty="0" err="1"/>
              <a:t>cfg</a:t>
            </a:r>
            <a:r>
              <a:rPr lang="en-US" sz="2000" dirty="0"/>
              <a:t>-&gt;</a:t>
            </a:r>
            <a:r>
              <a:rPr lang="en-US" sz="2000" dirty="0" err="1"/>
              <a:t>pincfg</a:t>
            </a:r>
            <a:r>
              <a:rPr lang="en-US" sz="2000" dirty="0"/>
              <a:t>, PINCTRL_STATE_DEFAULT);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80917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4AA90-F0E0-96B0-3ADB-2CBD707F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9E9CE5-4B54-86A6-8484-1918640FD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49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46E46F-9055-DA9C-631A-911D913D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(7/9)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B3AD8-2FC5-551F-1128-4078A67C1F33}"/>
              </a:ext>
            </a:extLst>
          </p:cNvPr>
          <p:cNvSpPr txBox="1"/>
          <p:nvPr/>
        </p:nvSpPr>
        <p:spPr>
          <a:xfrm>
            <a:off x="462675" y="1380767"/>
            <a:ext cx="9667644" cy="52014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zephyr/drivers/pinctrl/pinctrl_numaker.c</a:t>
            </a:r>
          </a:p>
          <a:p>
            <a:r>
              <a:rPr lang="en-US" sz="2400" b="1" dirty="0" err="1"/>
              <a:t>Devicetree</a:t>
            </a:r>
            <a:r>
              <a:rPr lang="en-US" sz="2400" b="1" dirty="0"/>
              <a:t> API</a:t>
            </a:r>
          </a:p>
          <a:p>
            <a:r>
              <a:rPr lang="en-US" sz="2000" dirty="0"/>
              <a:t>#define MFP_BASE    DT_INST_REG_ADDR_BY_NAME(0, </a:t>
            </a:r>
            <a:r>
              <a:rPr lang="en-US" sz="2000" dirty="0" err="1"/>
              <a:t>mfp</a:t>
            </a:r>
            <a:r>
              <a:rPr lang="en-US" sz="2000" dirty="0"/>
              <a:t>)</a:t>
            </a:r>
          </a:p>
          <a:p>
            <a:r>
              <a:rPr lang="en-US" sz="2000" dirty="0"/>
              <a:t>#define MFOS_BASE   DT_INST_REG_ADDR_BY_NAME(0, </a:t>
            </a:r>
            <a:r>
              <a:rPr lang="en-US" sz="2000" dirty="0" err="1"/>
              <a:t>mfos</a:t>
            </a:r>
            <a:r>
              <a:rPr lang="en-US" sz="2000" dirty="0"/>
              <a:t>)</a:t>
            </a:r>
          </a:p>
          <a:p>
            <a:r>
              <a:rPr lang="en-US" sz="2000" dirty="0"/>
              <a:t>#define GPA_BASE    DT_REG_ADDR(DT_NODELABEL(</a:t>
            </a:r>
            <a:r>
              <a:rPr lang="en-US" sz="2000" dirty="0" err="1"/>
              <a:t>gpioa</a:t>
            </a:r>
            <a:r>
              <a:rPr lang="en-US" sz="2000" dirty="0"/>
              <a:t>))</a:t>
            </a:r>
          </a:p>
          <a:p>
            <a:r>
              <a:rPr lang="en-US" sz="2000" dirty="0"/>
              <a:t>#define GPIO_SIZE   DT_REG_SIZE(DT_NODELABEL(</a:t>
            </a:r>
            <a:r>
              <a:rPr lang="en-US" sz="2000" dirty="0" err="1"/>
              <a:t>gpioa</a:t>
            </a:r>
            <a:r>
              <a:rPr lang="en-US" sz="2000" dirty="0"/>
              <a:t>))</a:t>
            </a:r>
          </a:p>
          <a:p>
            <a:r>
              <a:rPr lang="en-US" sz="2400" b="1" dirty="0"/>
              <a:t>Pin Controller Driver API</a:t>
            </a:r>
          </a:p>
          <a:p>
            <a:r>
              <a:rPr lang="en-US" sz="2000" dirty="0"/>
              <a:t>int </a:t>
            </a:r>
            <a:r>
              <a:rPr lang="en-US" sz="2000" dirty="0" err="1"/>
              <a:t>pinctrl_configure_pins</a:t>
            </a:r>
            <a:r>
              <a:rPr lang="en-US" sz="2000" dirty="0"/>
              <a:t>(const </a:t>
            </a:r>
            <a:r>
              <a:rPr lang="en-US" sz="2000" dirty="0" err="1"/>
              <a:t>pinctrl_soc_pin_t</a:t>
            </a:r>
            <a:r>
              <a:rPr lang="en-US" sz="2000" dirty="0"/>
              <a:t> *pins, uint8_t </a:t>
            </a:r>
            <a:r>
              <a:rPr lang="en-US" sz="2000" dirty="0" err="1"/>
              <a:t>pin_cnt</a:t>
            </a:r>
            <a:r>
              <a:rPr lang="en-US" sz="2000" dirty="0"/>
              <a:t>, </a:t>
            </a:r>
            <a:r>
              <a:rPr lang="en-US" sz="2000" dirty="0" err="1"/>
              <a:t>uintptr_t</a:t>
            </a:r>
            <a:r>
              <a:rPr lang="en-US" sz="2000" dirty="0"/>
              <a:t> reg)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	/* Configure all peripheral devices' properties here. */</a:t>
            </a:r>
          </a:p>
          <a:p>
            <a:r>
              <a:rPr lang="en-US" sz="2000" dirty="0"/>
              <a:t>	for (uint8_t </a:t>
            </a:r>
            <a:r>
              <a:rPr lang="en-US" sz="2000" dirty="0" err="1"/>
              <a:t>i</a:t>
            </a:r>
            <a:r>
              <a:rPr lang="en-US" sz="2000" dirty="0"/>
              <a:t> = 0U;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 err="1"/>
              <a:t>pin_cnt</a:t>
            </a:r>
            <a:r>
              <a:rPr lang="en-US" sz="2000" dirty="0"/>
              <a:t>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configure_pin</a:t>
            </a:r>
            <a:r>
              <a:rPr lang="en-US" sz="2000" dirty="0"/>
              <a:t>(&amp;pins[</a:t>
            </a:r>
            <a:r>
              <a:rPr lang="en-US" sz="2000" dirty="0" err="1"/>
              <a:t>i</a:t>
            </a:r>
            <a:r>
              <a:rPr lang="en-US" sz="2000" dirty="0"/>
              <a:t>]);</a:t>
            </a:r>
          </a:p>
          <a:p>
            <a:r>
              <a:rPr lang="en-US" sz="2000" dirty="0"/>
              <a:t>	}</a:t>
            </a:r>
          </a:p>
          <a:p>
            <a:endParaRPr lang="en-US" sz="2000" dirty="0"/>
          </a:p>
          <a:p>
            <a:r>
              <a:rPr lang="en-US" sz="2000" dirty="0"/>
              <a:t>	return 0;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70107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CB0FC-D0B2-043B-01B4-78CB6325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19F225-3DB1-B22D-D0B9-FDD44450A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50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E5CE1F-CC9C-DC44-5FE4-32B9D2A4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(8/9)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0789D-B916-94A1-FA7F-076A98D53B9D}"/>
              </a:ext>
            </a:extLst>
          </p:cNvPr>
          <p:cNvSpPr txBox="1"/>
          <p:nvPr/>
        </p:nvSpPr>
        <p:spPr>
          <a:xfrm>
            <a:off x="462675" y="1380767"/>
            <a:ext cx="9667644" cy="4770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zephyr/drivers/pinctrl/pinctrl_numaker.c</a:t>
            </a:r>
          </a:p>
          <a:p>
            <a:r>
              <a:rPr lang="en-US" sz="2000" dirty="0"/>
              <a:t>static void </a:t>
            </a:r>
            <a:r>
              <a:rPr lang="en-US" sz="2000" dirty="0" err="1"/>
              <a:t>configure_pin</a:t>
            </a:r>
            <a:r>
              <a:rPr lang="en-US" sz="2000" dirty="0"/>
              <a:t>(const </a:t>
            </a:r>
            <a:r>
              <a:rPr lang="en-US" sz="2000" dirty="0" err="1"/>
              <a:t>pinctrl_soc_pin_t</a:t>
            </a:r>
            <a:r>
              <a:rPr lang="en-US" sz="2000" dirty="0"/>
              <a:t> *pin)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	uint32_t *</a:t>
            </a:r>
            <a:r>
              <a:rPr lang="en-US" sz="2000" dirty="0" err="1"/>
              <a:t>GPx_MFPx</a:t>
            </a:r>
            <a:r>
              <a:rPr lang="en-US" sz="2000" dirty="0"/>
              <a:t> = ((uint32_t *)MFP_BASE) + </a:t>
            </a:r>
            <a:r>
              <a:rPr lang="en-US" sz="2000" dirty="0" err="1"/>
              <a:t>port_index</a:t>
            </a:r>
            <a:r>
              <a:rPr lang="en-US" sz="2000" dirty="0"/>
              <a:t> * 4 + (</a:t>
            </a:r>
            <a:r>
              <a:rPr lang="en-US" sz="2000" dirty="0" err="1"/>
              <a:t>pin_index</a:t>
            </a:r>
            <a:r>
              <a:rPr lang="en-US" sz="2000" dirty="0"/>
              <a:t> / 4);</a:t>
            </a:r>
          </a:p>
          <a:p>
            <a:r>
              <a:rPr lang="en-US" sz="2000" dirty="0"/>
              <a:t>	uint32_t *</a:t>
            </a:r>
            <a:r>
              <a:rPr lang="en-US" sz="2000" dirty="0" err="1"/>
              <a:t>GPx_MFOSx</a:t>
            </a:r>
            <a:r>
              <a:rPr lang="en-US" sz="2000" dirty="0"/>
              <a:t> = ((uint32_t *)MFOS_BASE) + </a:t>
            </a:r>
            <a:r>
              <a:rPr lang="en-US" sz="2000" dirty="0" err="1"/>
              <a:t>port_index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r>
              <a:rPr lang="en-US" sz="2000" dirty="0"/>
              <a:t>	*</a:t>
            </a:r>
            <a:r>
              <a:rPr lang="en-US" sz="2000" dirty="0" err="1"/>
              <a:t>GPx_MFPx</a:t>
            </a:r>
            <a:r>
              <a:rPr lang="en-US" sz="2000" dirty="0"/>
              <a:t> = (*</a:t>
            </a:r>
            <a:r>
              <a:rPr lang="en-US" sz="2000" dirty="0" err="1"/>
              <a:t>GPx_MFPx</a:t>
            </a:r>
            <a:r>
              <a:rPr lang="en-US" sz="2000" dirty="0"/>
              <a:t> &amp; (~</a:t>
            </a:r>
            <a:r>
              <a:rPr lang="en-US" sz="2000" dirty="0" err="1"/>
              <a:t>pinMask</a:t>
            </a:r>
            <a:r>
              <a:rPr lang="en-US" sz="2000" dirty="0"/>
              <a:t>)) | </a:t>
            </a:r>
            <a:r>
              <a:rPr lang="en-US" sz="2000" dirty="0" err="1"/>
              <a:t>mfp_cfg</a:t>
            </a:r>
            <a:r>
              <a:rPr lang="en-US" sz="2000" dirty="0"/>
              <a:t>;</a:t>
            </a:r>
          </a:p>
          <a:p>
            <a:r>
              <a:rPr lang="en-US" sz="2000" dirty="0"/>
              <a:t>	if (pin-&gt;</a:t>
            </a:r>
            <a:r>
              <a:rPr lang="en-US" sz="2000" dirty="0" err="1"/>
              <a:t>open_drain</a:t>
            </a:r>
            <a:r>
              <a:rPr lang="en-US" sz="2000" dirty="0"/>
              <a:t> != 0) {</a:t>
            </a:r>
          </a:p>
          <a:p>
            <a:r>
              <a:rPr lang="en-US" sz="2000" dirty="0"/>
              <a:t>		*</a:t>
            </a:r>
            <a:r>
              <a:rPr lang="en-US" sz="2000" dirty="0" err="1"/>
              <a:t>GPx_MFOSx</a:t>
            </a:r>
            <a:r>
              <a:rPr lang="en-US" sz="2000" dirty="0"/>
              <a:t> |= BIT(</a:t>
            </a:r>
            <a:r>
              <a:rPr lang="en-US" sz="2000" dirty="0" err="1"/>
              <a:t>pin_index</a:t>
            </a:r>
            <a:r>
              <a:rPr lang="en-US" sz="2000" dirty="0"/>
              <a:t>);</a:t>
            </a:r>
          </a:p>
          <a:p>
            <a:r>
              <a:rPr lang="en-US" sz="2000" dirty="0"/>
              <a:t>	} else {</a:t>
            </a:r>
          </a:p>
          <a:p>
            <a:r>
              <a:rPr lang="en-US" sz="2000" dirty="0"/>
              <a:t>		*</a:t>
            </a:r>
            <a:r>
              <a:rPr lang="en-US" sz="2000" dirty="0" err="1"/>
              <a:t>GPx_MFOSx</a:t>
            </a:r>
            <a:r>
              <a:rPr lang="en-US" sz="2000" dirty="0"/>
              <a:t> &amp;= ~BIT(</a:t>
            </a:r>
            <a:r>
              <a:rPr lang="en-US" sz="2000" dirty="0" err="1"/>
              <a:t>pin_index</a:t>
            </a:r>
            <a:r>
              <a:rPr lang="en-US" sz="2000" dirty="0"/>
              <a:t>);</a:t>
            </a:r>
          </a:p>
          <a:p>
            <a:r>
              <a:rPr lang="en-US" sz="2000" dirty="0"/>
              <a:t>	}</a:t>
            </a:r>
          </a:p>
          <a:p>
            <a:endParaRPr lang="en-US" sz="2000" dirty="0"/>
          </a:p>
          <a:p>
            <a:r>
              <a:rPr lang="en-US" sz="2000" dirty="0"/>
              <a:t>	</a:t>
            </a:r>
            <a:r>
              <a:rPr lang="en-US" sz="2000" dirty="0" err="1"/>
              <a:t>gpio_configure</a:t>
            </a:r>
            <a:r>
              <a:rPr lang="en-US" sz="2000" dirty="0"/>
              <a:t>(pin, </a:t>
            </a:r>
            <a:r>
              <a:rPr lang="en-US" sz="2000" dirty="0" err="1"/>
              <a:t>port_index</a:t>
            </a:r>
            <a:r>
              <a:rPr lang="en-US" sz="2000" dirty="0"/>
              <a:t>, </a:t>
            </a:r>
            <a:r>
              <a:rPr lang="en-US" sz="2000" dirty="0" err="1"/>
              <a:t>pin_index</a:t>
            </a:r>
            <a:r>
              <a:rPr lang="en-US" sz="2000" dirty="0"/>
              <a:t>);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38007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67F7-91BC-7AE1-DF75-BF9DAB67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29A5A-4AE5-BF22-E01F-A60C386A1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51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41465E-7F87-A1D3-B374-283948C7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Pin Controller (9/9)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6A6F8-0289-894A-43BE-23D3AA7FC02F}"/>
              </a:ext>
            </a:extLst>
          </p:cNvPr>
          <p:cNvSpPr txBox="1"/>
          <p:nvPr/>
        </p:nvSpPr>
        <p:spPr>
          <a:xfrm>
            <a:off x="462675" y="1380767"/>
            <a:ext cx="9667644" cy="3847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zephyr/drivers/pinctrl/pinctrl_numaker.c</a:t>
            </a:r>
          </a:p>
          <a:p>
            <a:r>
              <a:rPr lang="en-US" sz="2000" dirty="0"/>
              <a:t>static void </a:t>
            </a:r>
            <a:r>
              <a:rPr lang="en-US" sz="2000" dirty="0" err="1"/>
              <a:t>gpio_configure</a:t>
            </a:r>
            <a:r>
              <a:rPr lang="en-US" sz="2000" dirty="0"/>
              <a:t>(const </a:t>
            </a:r>
            <a:r>
              <a:rPr lang="en-US" sz="2000" dirty="0" err="1"/>
              <a:t>pinctrl_soc_pin_t</a:t>
            </a:r>
            <a:r>
              <a:rPr lang="en-US" sz="2000" dirty="0"/>
              <a:t> *pin, uint8_t </a:t>
            </a:r>
            <a:r>
              <a:rPr lang="en-US" sz="2000" dirty="0" err="1"/>
              <a:t>port_idx</a:t>
            </a:r>
            <a:r>
              <a:rPr lang="en-US" sz="2000" dirty="0"/>
              <a:t>, uint8_t </a:t>
            </a:r>
            <a:r>
              <a:rPr lang="en-US" sz="2000" dirty="0" err="1"/>
              <a:t>pin_idx</a:t>
            </a:r>
            <a:r>
              <a:rPr lang="en-US" sz="2000" dirty="0"/>
              <a:t>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	port = (GPIO_T *)(GPA_BASE + </a:t>
            </a:r>
            <a:r>
              <a:rPr lang="en-US" sz="2000" dirty="0" err="1"/>
              <a:t>port_idx</a:t>
            </a:r>
            <a:r>
              <a:rPr lang="en-US" sz="2000" dirty="0"/>
              <a:t> * GPIO_SIZE);</a:t>
            </a:r>
          </a:p>
          <a:p>
            <a:endParaRPr lang="en-US" sz="2000" dirty="0"/>
          </a:p>
          <a:p>
            <a:r>
              <a:rPr lang="en-US" sz="2000" dirty="0"/>
              <a:t>	port-&gt;SMTEN = (port-&gt;SMTEN &amp; ~BIT(</a:t>
            </a:r>
            <a:r>
              <a:rPr lang="en-US" sz="2000" dirty="0" err="1"/>
              <a:t>pin_idx</a:t>
            </a:r>
            <a:r>
              <a:rPr lang="en-US" sz="2000" dirty="0"/>
              <a:t>)) |</a:t>
            </a:r>
          </a:p>
          <a:p>
            <a:r>
              <a:rPr lang="en-US" sz="2000" dirty="0"/>
              <a:t>		      ((pin-&gt;</a:t>
            </a:r>
            <a:r>
              <a:rPr lang="en-US" sz="2000" dirty="0" err="1"/>
              <a:t>s</a:t>
            </a:r>
            <a:r>
              <a:rPr lang="en-US" sz="2000" dirty="0" err="1">
                <a:highlight>
                  <a:srgbClr val="FFFF00"/>
                </a:highlight>
              </a:rPr>
              <a:t>chmitt_enable</a:t>
            </a:r>
            <a:r>
              <a:rPr lang="en-US" sz="2000" dirty="0"/>
              <a:t> ? 1 : 0) &lt;&lt; </a:t>
            </a:r>
            <a:r>
              <a:rPr lang="en-US" sz="2000" dirty="0" err="1"/>
              <a:t>pin_idx</a:t>
            </a:r>
            <a:r>
              <a:rPr lang="en-US" sz="2000" dirty="0"/>
              <a:t>);</a:t>
            </a:r>
          </a:p>
          <a:p>
            <a:r>
              <a:rPr lang="en-US" sz="2000" dirty="0"/>
              <a:t>	port-&gt;SLEWCTL = (port-&gt;SLEWCTL &amp; ~SLEWCTL_MASK(</a:t>
            </a:r>
            <a:r>
              <a:rPr lang="en-US" sz="2000" dirty="0" err="1"/>
              <a:t>pin_idx</a:t>
            </a:r>
            <a:r>
              <a:rPr lang="en-US" sz="2000" dirty="0"/>
              <a:t>)) |</a:t>
            </a:r>
          </a:p>
          <a:p>
            <a:r>
              <a:rPr lang="en-US" sz="2000" dirty="0"/>
              <a:t>			(pin-&gt;</a:t>
            </a:r>
            <a:r>
              <a:rPr lang="en-US" sz="2000" dirty="0" err="1">
                <a:highlight>
                  <a:srgbClr val="FFFF00"/>
                </a:highlight>
              </a:rPr>
              <a:t>slew_rate</a:t>
            </a:r>
            <a:r>
              <a:rPr lang="en-US" sz="2000" dirty="0"/>
              <a:t> &lt;&lt; SLEWCTL_PIN_SHIFT(</a:t>
            </a:r>
            <a:r>
              <a:rPr lang="en-US" sz="2000" dirty="0" err="1"/>
              <a:t>pin_idx</a:t>
            </a:r>
            <a:r>
              <a:rPr lang="en-US" sz="2000" dirty="0"/>
              <a:t>));</a:t>
            </a:r>
          </a:p>
          <a:p>
            <a:r>
              <a:rPr lang="en-US" sz="2000" dirty="0"/>
              <a:t>	port-&gt;DINOFF = (port-&gt;DINOFF &amp; ~DINOFF_MASK(</a:t>
            </a:r>
            <a:r>
              <a:rPr lang="en-US" sz="2000" dirty="0" err="1"/>
              <a:t>pin_idx</a:t>
            </a:r>
            <a:r>
              <a:rPr lang="en-US" sz="2000" dirty="0"/>
              <a:t>)) |</a:t>
            </a:r>
          </a:p>
          <a:p>
            <a:r>
              <a:rPr lang="en-US" sz="2000" dirty="0"/>
              <a:t>		       ((pin-&gt;</a:t>
            </a:r>
            <a:r>
              <a:rPr lang="en-US" sz="2000" dirty="0" err="1">
                <a:highlight>
                  <a:srgbClr val="FFFF00"/>
                </a:highlight>
              </a:rPr>
              <a:t>digital_disable</a:t>
            </a:r>
            <a:r>
              <a:rPr lang="en-US" sz="2000" dirty="0"/>
              <a:t> ? 1 : 0) &lt;&lt; DINOFF_PIN_SHIFT(</a:t>
            </a:r>
            <a:r>
              <a:rPr lang="en-US" sz="2000" dirty="0" err="1"/>
              <a:t>pin_idx</a:t>
            </a:r>
            <a:r>
              <a:rPr lang="en-US" sz="2000" dirty="0"/>
              <a:t>));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75988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0ED9-9278-5B25-EA9E-7972FD711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FB5F17-9AF8-2FBC-EB56-5D1E12439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52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E9FDB9-C2CE-EB97-98DB-B460A80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GPIO (1/3)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1A897-5EAC-59EF-CECF-4F4B02761089}"/>
              </a:ext>
            </a:extLst>
          </p:cNvPr>
          <p:cNvSpPr txBox="1"/>
          <p:nvPr/>
        </p:nvSpPr>
        <p:spPr>
          <a:xfrm>
            <a:off x="111007" y="2983533"/>
            <a:ext cx="6125409" cy="3231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zephyr/dts/arm/nuvoton/m2l31x.dtsi</a:t>
            </a:r>
          </a:p>
          <a:p>
            <a:r>
              <a:rPr lang="en-US" sz="2000" dirty="0" err="1">
                <a:highlight>
                  <a:srgbClr val="FFFF00"/>
                </a:highlight>
              </a:rPr>
              <a:t>gpioa</a:t>
            </a:r>
            <a:r>
              <a:rPr lang="en-US" sz="2000" dirty="0"/>
              <a:t>: gpio@40004000 {</a:t>
            </a:r>
          </a:p>
          <a:p>
            <a:r>
              <a:rPr lang="en-US" sz="2000" dirty="0"/>
              <a:t>	compatible = "</a:t>
            </a:r>
            <a:r>
              <a:rPr lang="en-US" sz="2000" dirty="0" err="1"/>
              <a:t>nuvoton,numaker-gpio</a:t>
            </a:r>
            <a:r>
              <a:rPr lang="en-US" sz="2000" dirty="0"/>
              <a:t>";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gpio</a:t>
            </a:r>
            <a:r>
              <a:rPr lang="en-US" sz="2000" dirty="0"/>
              <a:t>-controller;</a:t>
            </a:r>
          </a:p>
          <a:p>
            <a:r>
              <a:rPr lang="en-US" sz="2000" dirty="0"/>
              <a:t>	#gpio-cells = &lt;2&gt;;</a:t>
            </a:r>
          </a:p>
          <a:p>
            <a:r>
              <a:rPr lang="en-US" sz="2000" dirty="0"/>
              <a:t>	reg = &lt;0x40004000 0x40&gt;;</a:t>
            </a:r>
          </a:p>
          <a:p>
            <a:r>
              <a:rPr lang="en-US" sz="2000" dirty="0"/>
              <a:t>	clocks = &lt;&amp;</a:t>
            </a:r>
            <a:r>
              <a:rPr lang="en-US" sz="2000" dirty="0" err="1"/>
              <a:t>pcc</a:t>
            </a:r>
            <a:r>
              <a:rPr lang="en-US" sz="2000" dirty="0"/>
              <a:t> NUMAKER_GPA_MODULE 0 0&gt;;</a:t>
            </a:r>
          </a:p>
          <a:p>
            <a:r>
              <a:rPr lang="en-US" sz="2000" dirty="0"/>
              <a:t>	status = "disabled";</a:t>
            </a:r>
          </a:p>
          <a:p>
            <a:r>
              <a:rPr lang="en-US" sz="2000" dirty="0"/>
              <a:t>	interrupts = &lt;16 2&gt;;</a:t>
            </a:r>
          </a:p>
          <a:p>
            <a:r>
              <a:rPr lang="en-US" sz="2000" dirty="0"/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A7803-BE3A-9F04-2B17-5E21734131D1}"/>
              </a:ext>
            </a:extLst>
          </p:cNvPr>
          <p:cNvSpPr txBox="1"/>
          <p:nvPr/>
        </p:nvSpPr>
        <p:spPr>
          <a:xfrm>
            <a:off x="5188453" y="1204388"/>
            <a:ext cx="7006974" cy="32932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zephyr/samples/subsys/usb_c/sink/boards/numaker_m2l31ki.overlay</a:t>
            </a:r>
          </a:p>
          <a:p>
            <a:r>
              <a:rPr lang="en-US" sz="2000" dirty="0"/>
              <a:t>&amp;tcpc0 {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gpios</a:t>
            </a:r>
            <a:r>
              <a:rPr lang="en-US" sz="2000" dirty="0"/>
              <a:t> = &lt;&amp;</a:t>
            </a:r>
            <a:r>
              <a:rPr lang="en-US" sz="2000" dirty="0" err="1">
                <a:highlight>
                  <a:srgbClr val="FFFF00"/>
                </a:highlight>
              </a:rPr>
              <a:t>gpioa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12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0</a:t>
            </a:r>
            <a:r>
              <a:rPr lang="en-US" sz="2000" dirty="0"/>
              <a:t>&gt;, &lt;&amp;</a:t>
            </a:r>
            <a:r>
              <a:rPr lang="en-US" sz="2000" dirty="0" err="1">
                <a:highlight>
                  <a:srgbClr val="FFFF00"/>
                </a:highlight>
              </a:rPr>
              <a:t>gpioa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1</a:t>
            </a:r>
            <a:r>
              <a:rPr lang="en-US" sz="2000" dirty="0"/>
              <a:t> </a:t>
            </a:r>
            <a:r>
              <a:rPr lang="en-US" sz="2000" dirty="0">
                <a:highlight>
                  <a:srgbClr val="FFFF00"/>
                </a:highlight>
              </a:rPr>
              <a:t>GPIO_ACTIVE_HIGH</a:t>
            </a:r>
            <a:r>
              <a:rPr lang="en-US" sz="2000" dirty="0"/>
              <a:t>&gt;;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gpio</a:t>
            </a:r>
            <a:r>
              <a:rPr lang="en-US" sz="2000" dirty="0"/>
              <a:t>-names = "</a:t>
            </a:r>
            <a:r>
              <a:rPr lang="en-US" sz="2000" dirty="0" err="1">
                <a:highlight>
                  <a:srgbClr val="FFFF00"/>
                </a:highlight>
              </a:rPr>
              <a:t>vbus</a:t>
            </a:r>
            <a:r>
              <a:rPr lang="en-US" sz="2000" dirty="0">
                <a:highlight>
                  <a:srgbClr val="FFFF00"/>
                </a:highlight>
              </a:rPr>
              <a:t>-detect</a:t>
            </a:r>
            <a:r>
              <a:rPr lang="en-US" sz="2000" dirty="0"/>
              <a:t>", "</a:t>
            </a:r>
            <a:r>
              <a:rPr lang="en-US" sz="2000" dirty="0" err="1">
                <a:highlight>
                  <a:srgbClr val="FFFF00"/>
                </a:highlight>
              </a:rPr>
              <a:t>vbus</a:t>
            </a:r>
            <a:r>
              <a:rPr lang="en-US" sz="2000" dirty="0">
                <a:highlight>
                  <a:srgbClr val="FFFF00"/>
                </a:highlight>
              </a:rPr>
              <a:t>-discharge</a:t>
            </a:r>
            <a:r>
              <a:rPr lang="en-US" sz="2000" dirty="0"/>
              <a:t>";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/>
              <a:t>&amp;</a:t>
            </a:r>
            <a:r>
              <a:rPr lang="en-US" sz="2000" dirty="0" err="1"/>
              <a:t>gpioa</a:t>
            </a:r>
            <a:r>
              <a:rPr lang="en-US" sz="2000" dirty="0"/>
              <a:t> {</a:t>
            </a:r>
          </a:p>
          <a:p>
            <a:r>
              <a:rPr lang="en-US" sz="2000" dirty="0"/>
              <a:t>	status = "okay";</a:t>
            </a:r>
          </a:p>
          <a:p>
            <a:r>
              <a:rPr lang="en-US" sz="20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661574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C358-9D94-865A-311E-39E46B79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9D5384-E075-FCFA-4469-19700843C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53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D46ECA-6D9B-2E52-63E4-0D6180D4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GPIO (2/3)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8B7C5-640D-78BC-A7D4-791A4A0D1C00}"/>
              </a:ext>
            </a:extLst>
          </p:cNvPr>
          <p:cNvSpPr txBox="1"/>
          <p:nvPr/>
        </p:nvSpPr>
        <p:spPr>
          <a:xfrm>
            <a:off x="429504" y="1873924"/>
            <a:ext cx="7943934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400" b="1" dirty="0"/>
              <a:t>zephyr/dts/bindings/gpio/nuvoton,numaker-gpio.yaml</a:t>
            </a:r>
          </a:p>
          <a:p>
            <a:r>
              <a:rPr lang="en-US" sz="2000" dirty="0"/>
              <a:t>compatible: "</a:t>
            </a:r>
            <a:r>
              <a:rPr lang="en-US" sz="2000" dirty="0" err="1"/>
              <a:t>nuvoton,numaker-gpio</a:t>
            </a:r>
            <a:r>
              <a:rPr lang="en-US" sz="2000" dirty="0"/>
              <a:t>"</a:t>
            </a:r>
          </a:p>
          <a:p>
            <a:r>
              <a:rPr lang="en-US" sz="2000" dirty="0"/>
              <a:t>include: [</a:t>
            </a:r>
            <a:r>
              <a:rPr lang="en-US" sz="2000" dirty="0" err="1"/>
              <a:t>gpio-controller.yaml</a:t>
            </a:r>
            <a:r>
              <a:rPr lang="en-US" sz="2000" dirty="0"/>
              <a:t>, </a:t>
            </a:r>
            <a:r>
              <a:rPr lang="en-US" sz="2000" dirty="0" err="1"/>
              <a:t>base.yaml</a:t>
            </a:r>
            <a:r>
              <a:rPr lang="en-US" sz="2000" dirty="0"/>
              <a:t>]</a:t>
            </a:r>
          </a:p>
          <a:p>
            <a:r>
              <a:rPr lang="en-US" sz="2000" dirty="0"/>
              <a:t>properties:</a:t>
            </a:r>
          </a:p>
          <a:p>
            <a:r>
              <a:rPr lang="en-US" sz="2000" dirty="0"/>
              <a:t>  reg:</a:t>
            </a:r>
          </a:p>
          <a:p>
            <a:r>
              <a:rPr lang="en-US" sz="2000" dirty="0"/>
              <a:t>    required: true</a:t>
            </a:r>
          </a:p>
          <a:p>
            <a:r>
              <a:rPr lang="en-US" sz="2000" dirty="0"/>
              <a:t>  "#</a:t>
            </a:r>
            <a:r>
              <a:rPr lang="en-US" sz="2000" dirty="0" err="1"/>
              <a:t>gpio</a:t>
            </a:r>
            <a:r>
              <a:rPr lang="en-US" sz="2000" dirty="0"/>
              <a:t>-cells":</a:t>
            </a:r>
          </a:p>
          <a:p>
            <a:r>
              <a:rPr lang="en-US" sz="2000" dirty="0"/>
              <a:t>    const: 2</a:t>
            </a:r>
          </a:p>
          <a:p>
            <a:r>
              <a:rPr lang="en-US" sz="2000" dirty="0" err="1"/>
              <a:t>gpio</a:t>
            </a:r>
            <a:r>
              <a:rPr lang="en-US" sz="2000" dirty="0"/>
              <a:t>-cells:</a:t>
            </a:r>
          </a:p>
          <a:p>
            <a:r>
              <a:rPr lang="en-US" sz="2000" dirty="0"/>
              <a:t>  - </a:t>
            </a:r>
            <a:r>
              <a:rPr lang="en-US" sz="2000" dirty="0">
                <a:highlight>
                  <a:srgbClr val="FFFF00"/>
                </a:highlight>
              </a:rPr>
              <a:t>pin</a:t>
            </a:r>
          </a:p>
          <a:p>
            <a:r>
              <a:rPr lang="en-US" sz="2000" dirty="0"/>
              <a:t>  - </a:t>
            </a:r>
            <a:r>
              <a:rPr lang="en-US" sz="2000" dirty="0">
                <a:highlight>
                  <a:srgbClr val="FFFF00"/>
                </a:highlight>
              </a:rPr>
              <a:t>flags</a:t>
            </a:r>
          </a:p>
        </p:txBody>
      </p:sp>
    </p:spTree>
    <p:extLst>
      <p:ext uri="{BB962C8B-B14F-4D97-AF65-F5344CB8AC3E}">
        <p14:creationId xmlns:p14="http://schemas.microsoft.com/office/powerpoint/2010/main" val="937709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3225E-F325-8554-1F0C-675DEF57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6620EB-CE63-2741-28AB-4CAA07C09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C9BD60-7D2E-4E28-BFCB-15797064C7F4}" type="slidenum">
              <a:rPr lang="zh-TW" altLang="en-US" smtClean="0"/>
              <a:pPr/>
              <a:t>54</a:t>
            </a:fld>
            <a:endParaRPr lang="zh-TW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AD56D8-882B-ADD2-98B1-CB05EF0D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Devicetree</a:t>
            </a:r>
            <a:r>
              <a:rPr lang="en-US" dirty="0"/>
              <a:t>: GPIO (3/3)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9E452-1D3C-D7C3-7FED-A95A3FD7F8D8}"/>
              </a:ext>
            </a:extLst>
          </p:cNvPr>
          <p:cNvSpPr txBox="1"/>
          <p:nvPr/>
        </p:nvSpPr>
        <p:spPr>
          <a:xfrm>
            <a:off x="429504" y="1771184"/>
            <a:ext cx="10646038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zephyr/drivers/</a:t>
            </a:r>
            <a:r>
              <a:rPr lang="en-US" sz="2400" b="1" dirty="0" err="1"/>
              <a:t>usb_c</a:t>
            </a:r>
            <a:r>
              <a:rPr lang="en-US" sz="2400" b="1" dirty="0"/>
              <a:t>/</a:t>
            </a:r>
            <a:r>
              <a:rPr lang="en-US" sz="2400" b="1" dirty="0" err="1"/>
              <a:t>tcpc</a:t>
            </a:r>
            <a:r>
              <a:rPr lang="en-US" sz="2400" b="1" dirty="0"/>
              <a:t>/</a:t>
            </a:r>
            <a:r>
              <a:rPr lang="en-US" sz="2400" b="1" dirty="0" err="1"/>
              <a:t>ucpd_numaker.c</a:t>
            </a:r>
            <a:endParaRPr lang="en-US" sz="2400" b="1" dirty="0"/>
          </a:p>
          <a:p>
            <a:r>
              <a:rPr lang="en-US" sz="2400" b="1" dirty="0" err="1"/>
              <a:t>Devicetree</a:t>
            </a:r>
            <a:r>
              <a:rPr lang="en-US" sz="2400" b="1" dirty="0"/>
              <a:t> API</a:t>
            </a:r>
            <a:endParaRPr lang="sv-SE" sz="2400" b="1" dirty="0"/>
          </a:p>
          <a:p>
            <a:r>
              <a:rPr lang="en-US" sz="2000" dirty="0"/>
              <a:t>.port = DEVICE_DT_GET(DT_PHANDLE_BY_NAME(</a:t>
            </a:r>
            <a:r>
              <a:rPr lang="en-US" sz="2000" dirty="0" err="1"/>
              <a:t>node_id</a:t>
            </a:r>
            <a:r>
              <a:rPr lang="en-US" sz="2000" dirty="0"/>
              <a:t>, </a:t>
            </a:r>
            <a:r>
              <a:rPr lang="en-US" sz="2000" dirty="0" err="1"/>
              <a:t>gpios</a:t>
            </a:r>
            <a:r>
              <a:rPr lang="en-US" sz="2000" dirty="0"/>
              <a:t>, </a:t>
            </a:r>
            <a:r>
              <a:rPr lang="en-US" sz="2000" dirty="0" err="1">
                <a:highlight>
                  <a:srgbClr val="FFFF00"/>
                </a:highlight>
              </a:rPr>
              <a:t>vbus_detect</a:t>
            </a:r>
            <a:r>
              <a:rPr lang="en-US" sz="2000" dirty="0">
                <a:highlight>
                  <a:srgbClr val="FFFF00"/>
                </a:highlight>
              </a:rPr>
              <a:t>)</a:t>
            </a:r>
            <a:r>
              <a:rPr lang="en-US" sz="2000" dirty="0"/>
              <a:t>)</a:t>
            </a:r>
          </a:p>
          <a:p>
            <a:r>
              <a:rPr lang="en-US" sz="2000" dirty="0"/>
              <a:t>.pin = DT_PHA_BY_NAME(</a:t>
            </a:r>
            <a:r>
              <a:rPr lang="en-US" sz="2000" dirty="0" err="1"/>
              <a:t>node_id</a:t>
            </a:r>
            <a:r>
              <a:rPr lang="en-US" sz="2000" dirty="0"/>
              <a:t>, </a:t>
            </a:r>
            <a:r>
              <a:rPr lang="en-US" sz="2000" dirty="0" err="1"/>
              <a:t>gpios</a:t>
            </a:r>
            <a:r>
              <a:rPr lang="en-US" sz="2000" dirty="0"/>
              <a:t>, </a:t>
            </a:r>
            <a:r>
              <a:rPr lang="en-US" sz="2000" dirty="0" err="1">
                <a:highlight>
                  <a:srgbClr val="FFFF00"/>
                </a:highlight>
              </a:rPr>
              <a:t>vbus_detect</a:t>
            </a:r>
            <a:r>
              <a:rPr lang="en-US" sz="2000" dirty="0"/>
              <a:t>, </a:t>
            </a:r>
            <a:r>
              <a:rPr lang="en-US" sz="2000" dirty="0">
                <a:highlight>
                  <a:srgbClr val="FFFF00"/>
                </a:highlight>
              </a:rPr>
              <a:t>pin</a:t>
            </a:r>
            <a:r>
              <a:rPr lang="en-US" sz="2000" dirty="0"/>
              <a:t>)</a:t>
            </a:r>
          </a:p>
          <a:p>
            <a:r>
              <a:rPr lang="en-US" sz="2000" dirty="0"/>
              <a:t>.</a:t>
            </a:r>
            <a:r>
              <a:rPr lang="en-US" sz="2000" dirty="0" err="1"/>
              <a:t>dt_flags</a:t>
            </a:r>
            <a:r>
              <a:rPr lang="en-US" sz="2000" dirty="0"/>
              <a:t> = DT_PHA_BY_NAME(</a:t>
            </a:r>
            <a:r>
              <a:rPr lang="en-US" sz="2000" dirty="0" err="1"/>
              <a:t>node_id</a:t>
            </a:r>
            <a:r>
              <a:rPr lang="en-US" sz="2000" dirty="0"/>
              <a:t>, </a:t>
            </a:r>
            <a:r>
              <a:rPr lang="en-US" sz="2000" dirty="0" err="1"/>
              <a:t>gpios</a:t>
            </a:r>
            <a:r>
              <a:rPr lang="en-US" sz="2000" dirty="0"/>
              <a:t>, </a:t>
            </a:r>
            <a:r>
              <a:rPr lang="en-US" sz="2000" dirty="0" err="1">
                <a:highlight>
                  <a:srgbClr val="FFFF00"/>
                </a:highlight>
              </a:rPr>
              <a:t>vbus_detect</a:t>
            </a:r>
            <a:r>
              <a:rPr lang="en-US" sz="2000" dirty="0"/>
              <a:t>, </a:t>
            </a:r>
            <a:r>
              <a:rPr lang="en-US" sz="2000" dirty="0">
                <a:highlight>
                  <a:srgbClr val="FFFF00"/>
                </a:highlight>
              </a:rPr>
              <a:t>flags</a:t>
            </a:r>
            <a:r>
              <a:rPr lang="en-US" sz="2000" dirty="0"/>
              <a:t>)</a:t>
            </a:r>
          </a:p>
          <a:p>
            <a:r>
              <a:rPr lang="en-US" sz="2400" b="1" dirty="0"/>
              <a:t>GPIO API</a:t>
            </a:r>
          </a:p>
          <a:p>
            <a:r>
              <a:rPr lang="en-US" sz="2000" dirty="0" err="1"/>
              <a:t>gpio_is_ready</a:t>
            </a:r>
            <a:r>
              <a:rPr lang="en-US" sz="2000" dirty="0"/>
              <a:t>*</a:t>
            </a:r>
          </a:p>
          <a:p>
            <a:r>
              <a:rPr lang="en-US" sz="2000" dirty="0" err="1"/>
              <a:t>gpio_pin_configure</a:t>
            </a:r>
            <a:r>
              <a:rPr lang="en-US" sz="2000" dirty="0"/>
              <a:t>*</a:t>
            </a:r>
          </a:p>
          <a:p>
            <a:r>
              <a:rPr lang="en-US" sz="2000" dirty="0" err="1"/>
              <a:t>Gpio_pin_set</a:t>
            </a:r>
            <a:r>
              <a:rPr lang="en-US" sz="20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0486192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81345"/>
      </p:ext>
    </p:extLst>
  </p:cSld>
  <p:clrMapOvr>
    <a:masterClrMapping/>
  </p:clrMapOvr>
</p:sld>
</file>

<file path=ppt/theme/theme1.xml><?xml version="1.0" encoding="utf-8"?>
<a:theme xmlns:a="http://schemas.openxmlformats.org/drawingml/2006/main" name="A001 PPT 佈景主題_202501">
  <a:themeElements>
    <a:clrScheme name="自訂1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D00600"/>
      </a:accent1>
      <a:accent2>
        <a:srgbClr val="284696"/>
      </a:accent2>
      <a:accent3>
        <a:srgbClr val="537344"/>
      </a:accent3>
      <a:accent4>
        <a:srgbClr val="FFA100"/>
      </a:accent4>
      <a:accent5>
        <a:srgbClr val="A66844"/>
      </a:accent5>
      <a:accent6>
        <a:srgbClr val="A0B3BF"/>
      </a:accent6>
      <a:hlink>
        <a:srgbClr val="E84F30"/>
      </a:hlink>
      <a:folHlink>
        <a:srgbClr val="16749F"/>
      </a:folHlink>
    </a:clrScheme>
    <a:fontScheme name="Nuvoton 2020">
      <a:majorFont>
        <a:latin typeface="Segoe U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001 PPT 佈景主題_202501" id="{46A8BD96-5903-45A6-A9D9-500AD3774B1C}" vid="{B5AF5F53-3EA3-4F9E-80A7-D02C0E4B1CC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3B4ACE6937F4995CB7C1A87442A3E" ma:contentTypeVersion="16" ma:contentTypeDescription="Create a new document." ma:contentTypeScope="" ma:versionID="d62a89e2b1aaf89497932f6df240802d">
  <xsd:schema xmlns:xsd="http://www.w3.org/2001/XMLSchema" xmlns:xs="http://www.w3.org/2001/XMLSchema" xmlns:p="http://schemas.microsoft.com/office/2006/metadata/properties" xmlns:ns2="a5482511-e9fe-4cb3-9ef7-aefecb10923f" xmlns:ns3="f5fd215c-a211-49bf-b28a-283d712b929e" targetNamespace="http://schemas.microsoft.com/office/2006/metadata/properties" ma:root="true" ma:fieldsID="d335957dfabf6fe462ea6db3ba618fbc" ns2:_="" ns3:_="">
    <xsd:import namespace="a5482511-e9fe-4cb3-9ef7-aefecb10923f"/>
    <xsd:import namespace="f5fd215c-a211-49bf-b28a-283d712b92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482511-e9fe-4cb3-9ef7-aefecb1092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fd215c-a211-49bf-b28a-283d712b929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02847bd-7afd-439d-b4ae-465a214bc4f7}" ma:internalName="TaxCatchAll" ma:showField="CatchAllData" ma:web="f5fd215c-a211-49bf-b28a-283d712b92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482511-e9fe-4cb3-9ef7-aefecb10923f">
      <Terms xmlns="http://schemas.microsoft.com/office/infopath/2007/PartnerControls"/>
    </lcf76f155ced4ddcb4097134ff3c332f>
    <TaxCatchAll xmlns="f5fd215c-a211-49bf-b28a-283d712b929e" xsi:nil="true"/>
  </documentManagement>
</p:properties>
</file>

<file path=customXml/itemProps1.xml><?xml version="1.0" encoding="utf-8"?>
<ds:datastoreItem xmlns:ds="http://schemas.openxmlformats.org/officeDocument/2006/customXml" ds:itemID="{7CB268B4-40E5-49C2-91AC-9512CE5474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482511-e9fe-4cb3-9ef7-aefecb10923f"/>
    <ds:schemaRef ds:uri="f5fd215c-a211-49bf-b28a-283d712b92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7AE8DC-EF05-4AD4-9E89-7525E0107C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FA9603-E736-4D94-84AE-D273E97560BB}">
  <ds:schemaRefs>
    <ds:schemaRef ds:uri="http://schemas.microsoft.com/office/2006/metadata/properties"/>
    <ds:schemaRef ds:uri="http://schemas.microsoft.com/office/infopath/2007/PartnerControls"/>
    <ds:schemaRef ds:uri="a5482511-e9fe-4cb3-9ef7-aefecb10923f"/>
    <ds:schemaRef ds:uri="f5fd215c-a211-49bf-b28a-283d712b929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A001 PPT 佈景主題_202501</Template>
  <TotalTime>12962</TotalTime>
  <Words>5360</Words>
  <Application>Microsoft Office PowerPoint</Application>
  <PresentationFormat>Widescreen</PresentationFormat>
  <Paragraphs>730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新細明體</vt:lpstr>
      <vt:lpstr>Arial</vt:lpstr>
      <vt:lpstr>Calibri</vt:lpstr>
      <vt:lpstr>Segoe UI</vt:lpstr>
      <vt:lpstr>Wingdings</vt:lpstr>
      <vt:lpstr>A001 PPT 佈景主題_202501</vt:lpstr>
      <vt:lpstr>Introduce Zephyr</vt:lpstr>
      <vt:lpstr>Overview</vt:lpstr>
      <vt:lpstr>Introduction (1/3)</vt:lpstr>
      <vt:lpstr>Introduction (2/3)</vt:lpstr>
      <vt:lpstr>Introduction (3/3)</vt:lpstr>
      <vt:lpstr>Our ports: Support boards</vt:lpstr>
      <vt:lpstr>Our ports: Support peripherals (1/2) </vt:lpstr>
      <vt:lpstr>Our ports: Support peripherals (2/2)</vt:lpstr>
      <vt:lpstr>Install development environment</vt:lpstr>
      <vt:lpstr>Install development environment</vt:lpstr>
      <vt:lpstr>Install development environment</vt:lpstr>
      <vt:lpstr>Install development environment</vt:lpstr>
      <vt:lpstr>Install development environment</vt:lpstr>
      <vt:lpstr>Install development environment</vt:lpstr>
      <vt:lpstr>Build example code</vt:lpstr>
      <vt:lpstr>Kernal configuration system (Kconfig)</vt:lpstr>
      <vt:lpstr>Kconfig: Define configuration options (1/3)</vt:lpstr>
      <vt:lpstr>Kconfig: Define configuration options (2/3)</vt:lpstr>
      <vt:lpstr>Kconfig: Define configuration options (3/3)</vt:lpstr>
      <vt:lpstr>Kconfig: Set configuration values (1/3)</vt:lpstr>
      <vt:lpstr>Kconfig: Set configuration values (2/3)</vt:lpstr>
      <vt:lpstr>Kconfig: Set configuration values (3/3)</vt:lpstr>
      <vt:lpstr>Kconfig: Generated merged files</vt:lpstr>
      <vt:lpstr>Common Kconfig options (1/3)</vt:lpstr>
      <vt:lpstr>Common Kconfig options (2/3)</vt:lpstr>
      <vt:lpstr>Common Kconfig options (3/3)</vt:lpstr>
      <vt:lpstr>Devicetree (1/4)</vt:lpstr>
      <vt:lpstr>Devicetree (2/4)</vt:lpstr>
      <vt:lpstr>Devicetree (3/4)</vt:lpstr>
      <vt:lpstr>Devicetree (4/4)</vt:lpstr>
      <vt:lpstr>Devicetree: System Clock Controller (1/3)</vt:lpstr>
      <vt:lpstr>Devicetree: System Clock Controller (2/3)</vt:lpstr>
      <vt:lpstr>Devicetree: System Clock Controller (3/3)</vt:lpstr>
      <vt:lpstr>Devicetree: Peripheral Clock Controller (1/4)</vt:lpstr>
      <vt:lpstr>Devicetree: Peripheral Clock Controller (2/4)</vt:lpstr>
      <vt:lpstr>Devicetree: Peripheral Clock Controller (3/4)</vt:lpstr>
      <vt:lpstr>Devicetree: Peripheral Clock Controller (4/4)</vt:lpstr>
      <vt:lpstr>Devicetree: Reset Controller (1/5)</vt:lpstr>
      <vt:lpstr>Devicetree: Reset Controller (2/5)</vt:lpstr>
      <vt:lpstr>Devicetree: Reset Controller (3/5)</vt:lpstr>
      <vt:lpstr>Devicetree: Reset Controller (4/5)</vt:lpstr>
      <vt:lpstr>Devicetree: Reset Controller (5/5)</vt:lpstr>
      <vt:lpstr>Devicetree: Pin Controller (1/9)</vt:lpstr>
      <vt:lpstr>Devicetree: Pin Controller (2/9)</vt:lpstr>
      <vt:lpstr>Devicetree: Pin Controller (3/9)</vt:lpstr>
      <vt:lpstr>Devicetree: Pin Controller (4/9)</vt:lpstr>
      <vt:lpstr>Devicetree: Pin Controller (5/9)</vt:lpstr>
      <vt:lpstr>Devicetree: Pin Controller (6/9)</vt:lpstr>
      <vt:lpstr>Devicetree: Pin Controller (7/9)</vt:lpstr>
      <vt:lpstr>Devicetree: Pin Controller (8/9)</vt:lpstr>
      <vt:lpstr>Devicetree: Pin Controller (9/9)</vt:lpstr>
      <vt:lpstr>Devicetree: GPIO (1/3)</vt:lpstr>
      <vt:lpstr>Devicetree: GPIO (2/3)</vt:lpstr>
      <vt:lpstr>Devicetree: GPIO (3/3)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MM10 THHsu0</dc:creator>
  <cp:lastModifiedBy>MS30 CCLi8</cp:lastModifiedBy>
  <cp:revision>157</cp:revision>
  <dcterms:created xsi:type="dcterms:W3CDTF">2022-09-21T08:01:25Z</dcterms:created>
  <dcterms:modified xsi:type="dcterms:W3CDTF">2026-03-04T05:47:06Z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0x0101000773B4ACE6937F4995CB7C1A87442A3E</vt:lpwstr>
  </property>
</Properties>
</file>